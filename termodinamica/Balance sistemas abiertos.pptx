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8" r:id="rId5"/>
    <p:sldId id="331" r:id="rId6"/>
    <p:sldId id="332" r:id="rId7"/>
    <p:sldId id="356" r:id="rId8"/>
    <p:sldId id="357" r:id="rId9"/>
    <p:sldId id="358" r:id="rId10"/>
    <p:sldId id="359" r:id="rId11"/>
    <p:sldId id="360" r:id="rId12"/>
    <p:sldId id="361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110" autoAdjust="0"/>
  </p:normalViewPr>
  <p:slideViewPr>
    <p:cSldViewPr snapToGrid="0">
      <p:cViewPr varScale="1">
        <p:scale>
          <a:sx n="50" d="100"/>
          <a:sy n="50" d="100"/>
        </p:scale>
        <p:origin x="12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8AFCF-E03D-4A93-A37D-68805BA4DAD7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3E21-90F9-4E3B-8DD6-3033CFBD684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55021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2D1A9-E8B5-4573-8F79-85E0EE9126C3}" type="datetimeFigureOut">
              <a:rPr lang="es-ES" smtClean="0"/>
              <a:t>04/10/2026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1A5A2-2CF2-4DF6-A1F8-C747B2D63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466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A5A2-2CF2-4DF6-A1F8-C747B2D63EF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1202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A5A2-2CF2-4DF6-A1F8-C747B2D63EF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0391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Boquilla, incremento de la velocidad a expensas de la presión, difusor incrementa presión y disminuye la velocidad.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A5A2-2CF2-4DF6-A1F8-C747B2D63EF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888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Generalmente los cambios de energía cinética y potencial son despreciables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1A5A2-2CF2-4DF6-A1F8-C747B2D63EF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3924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556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931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493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9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836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211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279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801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963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85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D29D20-CDA2-4B53-95E4-080A996034E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6E0693-1E4B-4E7C-AB49-4CFAD458703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4147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2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99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yAd-gLO9CE&amp;ab_channel=RTECHlear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554261" y="2414380"/>
            <a:ext cx="708347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3600" dirty="0"/>
              <a:t>MASA Y ENERGÍA</a:t>
            </a:r>
          </a:p>
          <a:p>
            <a:r>
              <a:rPr lang="es-CO" sz="3600" dirty="0"/>
              <a:t>ANÁLISIS DE VOLUMEN DE CONTROL</a:t>
            </a:r>
            <a:endParaRPr lang="es-419" sz="2800" dirty="0"/>
          </a:p>
        </p:txBody>
      </p:sp>
    </p:spTree>
    <p:extLst>
      <p:ext uri="{BB962C8B-B14F-4D97-AF65-F5344CB8AC3E}">
        <p14:creationId xmlns:p14="http://schemas.microsoft.com/office/powerpoint/2010/main" val="1140555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F4AFD-9CC5-4726-A4A0-DF2A9A534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289" y="273949"/>
            <a:ext cx="10515600" cy="1325563"/>
          </a:xfrm>
        </p:spPr>
        <p:txBody>
          <a:bodyPr/>
          <a:lstStyle/>
          <a:p>
            <a:pPr algn="ctr"/>
            <a:r>
              <a:rPr lang="es-CO" sz="3600" dirty="0"/>
              <a:t>CONSERVACIÓN DE LA MASA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3B8013-7003-40AC-A3ED-2A38E6D5B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algn="just"/>
            <a:r>
              <a:rPr lang="es-CO" dirty="0"/>
              <a:t>La masa al igual que la energía es una propiedad conservada.</a:t>
            </a:r>
          </a:p>
          <a:p>
            <a:pPr algn="just"/>
            <a:r>
              <a:rPr lang="es-CO" dirty="0"/>
              <a:t>En volúmenes de control la masa cruza las fronteras del sistema. </a:t>
            </a:r>
          </a:p>
          <a:p>
            <a:pPr algn="just"/>
            <a:r>
              <a:rPr lang="es-CO" dirty="0"/>
              <a:t>E=mc</a:t>
            </a:r>
            <a:r>
              <a:rPr lang="es-CO" baseline="30000" dirty="0"/>
              <a:t>2 </a:t>
            </a:r>
          </a:p>
          <a:p>
            <a:pPr marL="0" indent="0" algn="just">
              <a:buNone/>
            </a:pPr>
            <a:r>
              <a:rPr lang="es-CO" sz="3200" baseline="30000" dirty="0"/>
              <a:t>Donde c es la velocidad de la luz en el vacío.</a:t>
            </a:r>
          </a:p>
          <a:p>
            <a:pPr marL="0" indent="0" algn="just">
              <a:buNone/>
            </a:pPr>
            <a:endParaRPr lang="es-CO" sz="3200" baseline="30000" dirty="0"/>
          </a:p>
          <a:p>
            <a:pPr marL="0" indent="0" algn="just">
              <a:buNone/>
            </a:pP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D916A7-FE48-415E-98B2-E8556A185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800" y="3250015"/>
            <a:ext cx="3718400" cy="3167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769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DF653-71C9-4140-9733-3333866EA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969" y="745136"/>
            <a:ext cx="10515600" cy="1325563"/>
          </a:xfrm>
        </p:spPr>
        <p:txBody>
          <a:bodyPr/>
          <a:lstStyle/>
          <a:p>
            <a:pPr algn="ctr"/>
            <a:r>
              <a:rPr lang="es-CO" sz="3600" b="1" dirty="0"/>
              <a:t>Balance de masa para sistemas de flujo estable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C7924A-52DB-43F8-8476-1DE2BF8D1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512"/>
            <a:ext cx="10515600" cy="4351338"/>
          </a:xfrm>
        </p:spPr>
        <p:txBody>
          <a:bodyPr/>
          <a:lstStyle/>
          <a:p>
            <a:pPr algn="just"/>
            <a:endParaRPr lang="es-CO" sz="2400" dirty="0"/>
          </a:p>
          <a:p>
            <a:pPr marL="0" indent="0" algn="just">
              <a:buNone/>
            </a:pPr>
            <a:endParaRPr lang="es-CO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7EA7937-0D41-44F6-ACE4-001382FCFA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179"/>
          <a:stretch/>
        </p:blipFill>
        <p:spPr>
          <a:xfrm>
            <a:off x="1258784" y="1840119"/>
            <a:ext cx="2374199" cy="3629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9693BFF5-55E2-427A-A398-68B69D1FA651}"/>
                  </a:ext>
                </a:extLst>
              </p:cNvPr>
              <p:cNvSpPr txBox="1"/>
              <p:nvPr/>
            </p:nvSpPr>
            <p:spPr>
              <a:xfrm>
                <a:off x="5498274" y="1840119"/>
                <a:ext cx="3384468" cy="11950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s-CO" sz="3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CO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acc>
                            <m:accPr>
                              <m:chr m:val="̇"/>
                              <m:ctrlPr>
                                <a:rPr lang="es-CO" sz="3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3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</m:nary>
                      <m:r>
                        <a:rPr lang="es-CO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CO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  <m:sup/>
                        <m:e>
                          <m:acc>
                            <m:accPr>
                              <m:chr m:val="̇"/>
                              <m:ctrlPr>
                                <a:rPr lang="es-CO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3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s-CO" sz="3200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9693BFF5-55E2-427A-A398-68B69D1FA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274" y="1840119"/>
                <a:ext cx="3384468" cy="11950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9D314D78-B016-4C85-A316-3400EE435C39}"/>
              </a:ext>
            </a:extLst>
          </p:cNvPr>
          <p:cNvSpPr txBox="1"/>
          <p:nvPr/>
        </p:nvSpPr>
        <p:spPr>
          <a:xfrm>
            <a:off x="4321752" y="4239491"/>
            <a:ext cx="6924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dirty="0"/>
              <a:t>Aplica para boquillas, difusores, turbinas, compresores y bombas</a:t>
            </a:r>
          </a:p>
        </p:txBody>
      </p:sp>
    </p:spTree>
    <p:extLst>
      <p:ext uri="{BB962C8B-B14F-4D97-AF65-F5344CB8AC3E}">
        <p14:creationId xmlns:p14="http://schemas.microsoft.com/office/powerpoint/2010/main" val="568082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DF653-71C9-4140-9733-3333866EA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6969" y="745136"/>
            <a:ext cx="10515600" cy="1325563"/>
          </a:xfrm>
        </p:spPr>
        <p:txBody>
          <a:bodyPr/>
          <a:lstStyle/>
          <a:p>
            <a:pPr algn="ctr"/>
            <a:r>
              <a:rPr lang="es-CO" sz="3600" b="1" dirty="0"/>
              <a:t>Transporte de energía por la masa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5C7924A-52DB-43F8-8476-1DE2BF8D14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68512"/>
                <a:ext cx="10515600" cy="4351338"/>
              </a:xfrm>
            </p:spPr>
            <p:txBody>
              <a:bodyPr/>
              <a:lstStyle/>
              <a:p>
                <a:pPr algn="just"/>
                <a:endParaRPr lang="es-CO" sz="24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                          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2400" b="0" i="1" smtClean="0">
                          <a:latin typeface="Cambria Math" panose="02040503050406030204" pitchFamily="18" charset="0"/>
                        </a:rPr>
                        <m:t>𝑚h</m:t>
                      </m:r>
                    </m:oMath>
                  </m:oMathPara>
                </a14:m>
                <a:endParaRPr lang="es-CO" sz="2400" b="0" dirty="0"/>
              </a:p>
              <a:p>
                <a:pPr marL="0" indent="0" algn="just">
                  <a:buNone/>
                </a:pPr>
                <a:endParaRPr lang="es-CO" sz="240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A5C7924A-52DB-43F8-8476-1DE2BF8D14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68512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9EB42C00-226B-41C7-A81E-44607A4011B4}"/>
              </a:ext>
            </a:extLst>
          </p:cNvPr>
          <p:cNvSpPr txBox="1"/>
          <p:nvPr/>
        </p:nvSpPr>
        <p:spPr>
          <a:xfrm>
            <a:off x="6353299" y="2582932"/>
            <a:ext cx="46670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Donde,</a:t>
            </a:r>
          </a:p>
          <a:p>
            <a:r>
              <a:rPr lang="es-CO" dirty="0"/>
              <a:t>E es energía</a:t>
            </a:r>
          </a:p>
          <a:p>
            <a:r>
              <a:rPr lang="es-CO" dirty="0"/>
              <a:t>m es la masa </a:t>
            </a:r>
          </a:p>
          <a:p>
            <a:r>
              <a:rPr lang="es-CO" dirty="0"/>
              <a:t>h entalpía específica</a:t>
            </a:r>
          </a:p>
        </p:txBody>
      </p:sp>
      <p:pic>
        <p:nvPicPr>
          <p:cNvPr id="9" name="Picture 15" descr="cen84959_05019">
            <a:extLst>
              <a:ext uri="{FF2B5EF4-FFF2-40B4-BE49-F238E27FC236}">
                <a16:creationId xmlns:a16="http://schemas.microsoft.com/office/drawing/2014/main" id="{547E999F-D78A-4388-9B62-54C170918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58" y="2070699"/>
            <a:ext cx="4343400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9221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CBF83-A2FF-4061-A9B7-226844E1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Boquillas y difusores</a:t>
            </a:r>
          </a:p>
        </p:txBody>
      </p:sp>
      <p:pic>
        <p:nvPicPr>
          <p:cNvPr id="5" name="Picture 3" descr="cen84959_05025">
            <a:extLst>
              <a:ext uri="{FF2B5EF4-FFF2-40B4-BE49-F238E27FC236}">
                <a16:creationId xmlns:a16="http://schemas.microsoft.com/office/drawing/2014/main" id="{17C98024-723C-49A4-839F-C9804F6A7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270" y="1537710"/>
            <a:ext cx="359568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>
            <a:extLst>
              <a:ext uri="{FF2B5EF4-FFF2-40B4-BE49-F238E27FC236}">
                <a16:creationId xmlns:a16="http://schemas.microsoft.com/office/drawing/2014/main" id="{66A5B17C-2835-43A8-9FF6-C01E83312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150" y="2130743"/>
            <a:ext cx="6507580" cy="2350139"/>
          </a:xfrm>
          <a:prstGeom prst="rect">
            <a:avLst/>
          </a:prstGeom>
          <a:noFill/>
          <a:ln w="1905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1CC8358-4855-4519-B805-90DF6DD772AB}"/>
              </a:ext>
            </a:extLst>
          </p:cNvPr>
          <p:cNvSpPr txBox="1"/>
          <p:nvPr/>
        </p:nvSpPr>
        <p:spPr>
          <a:xfrm>
            <a:off x="4916384" y="4940135"/>
            <a:ext cx="682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No transferencia de calor, no trabajo, y cambios en energía potencial insignificantes.</a:t>
            </a:r>
          </a:p>
        </p:txBody>
      </p:sp>
    </p:spTree>
    <p:extLst>
      <p:ext uri="{BB962C8B-B14F-4D97-AF65-F5344CB8AC3E}">
        <p14:creationId xmlns:p14="http://schemas.microsoft.com/office/powerpoint/2010/main" val="146322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EA2E34-A644-4A12-B5C1-F55E71D6F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Turbinas y compresores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6BECA3-9EB8-441C-ADE9-9BA09C65A388}"/>
              </a:ext>
            </a:extLst>
          </p:cNvPr>
          <p:cNvSpPr/>
          <p:nvPr/>
        </p:nvSpPr>
        <p:spPr>
          <a:xfrm>
            <a:off x="376052" y="5846544"/>
            <a:ext cx="111667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>
                <a:hlinkClick r:id="rId3"/>
              </a:rPr>
              <a:t>https://www.youtube.com/watch?v=AyAd-gLO9CE&amp;ab_channel=RTECHlearn</a:t>
            </a:r>
            <a:endParaRPr lang="es-CO" dirty="0"/>
          </a:p>
          <a:p>
            <a:r>
              <a:rPr lang="es-CO" dirty="0"/>
              <a:t>https://www.youtube.com/watch?v=jrWHi77oAWI&amp;ab_channel=SolarTurbines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B8DC0D8-24F4-4B71-85DA-1F6A31CAF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241" y="2092049"/>
            <a:ext cx="7861784" cy="134135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46ED849-5F10-48E8-B56D-1C060B876B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871" y="1990353"/>
            <a:ext cx="3144180" cy="398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93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F9465A-8DBC-4917-A817-E7439618B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Válvulas</a:t>
            </a:r>
          </a:p>
        </p:txBody>
      </p:sp>
      <p:pic>
        <p:nvPicPr>
          <p:cNvPr id="4" name="Picture 8" descr="cen84959_05029">
            <a:extLst>
              <a:ext uri="{FF2B5EF4-FFF2-40B4-BE49-F238E27FC236}">
                <a16:creationId xmlns:a16="http://schemas.microsoft.com/office/drawing/2014/main" id="{9ED9E3D1-D169-4A6D-825C-CA11295FC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31" y="1690688"/>
            <a:ext cx="273685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4">
            <a:extLst>
              <a:ext uri="{FF2B5EF4-FFF2-40B4-BE49-F238E27FC236}">
                <a16:creationId xmlns:a16="http://schemas.microsoft.com/office/drawing/2014/main" id="{61386E13-8577-4429-9A66-EB6CAE1AF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209" y="2279752"/>
            <a:ext cx="1280421" cy="417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5">
            <a:extLst>
              <a:ext uri="{FF2B5EF4-FFF2-40B4-BE49-F238E27FC236}">
                <a16:creationId xmlns:a16="http://schemas.microsoft.com/office/drawing/2014/main" id="{4F857B91-B323-4F83-97AD-A14BAEE09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199" y="2992438"/>
            <a:ext cx="3707125" cy="43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E1ED301-0B74-4EE6-A1A3-77D2A298A93F}"/>
              </a:ext>
            </a:extLst>
          </p:cNvPr>
          <p:cNvSpPr txBox="1"/>
          <p:nvPr/>
        </p:nvSpPr>
        <p:spPr>
          <a:xfrm>
            <a:off x="5237018" y="1690688"/>
            <a:ext cx="3443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Balance de energía</a:t>
            </a:r>
          </a:p>
        </p:txBody>
      </p:sp>
    </p:spTree>
    <p:extLst>
      <p:ext uri="{BB962C8B-B14F-4D97-AF65-F5344CB8AC3E}">
        <p14:creationId xmlns:p14="http://schemas.microsoft.com/office/powerpoint/2010/main" val="232112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4F153-870B-4A36-8134-A4686F7B9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Cámara de mezclado</a:t>
            </a:r>
          </a:p>
        </p:txBody>
      </p:sp>
      <p:grpSp>
        <p:nvGrpSpPr>
          <p:cNvPr id="4" name="Group 20">
            <a:extLst>
              <a:ext uri="{FF2B5EF4-FFF2-40B4-BE49-F238E27FC236}">
                <a16:creationId xmlns:a16="http://schemas.microsoft.com/office/drawing/2014/main" id="{B49A933E-4DC0-43A9-A12C-263981BADF64}"/>
              </a:ext>
            </a:extLst>
          </p:cNvPr>
          <p:cNvGrpSpPr>
            <a:grpSpLocks/>
          </p:cNvGrpSpPr>
          <p:nvPr/>
        </p:nvGrpSpPr>
        <p:grpSpPr bwMode="auto">
          <a:xfrm>
            <a:off x="1012372" y="1525979"/>
            <a:ext cx="3733800" cy="3276600"/>
            <a:chOff x="3024" y="288"/>
            <a:chExt cx="2352" cy="2064"/>
          </a:xfrm>
        </p:grpSpPr>
        <p:pic>
          <p:nvPicPr>
            <p:cNvPr id="5" name="Picture 10" descr="cen84959_05033">
              <a:extLst>
                <a:ext uri="{FF2B5EF4-FFF2-40B4-BE49-F238E27FC236}">
                  <a16:creationId xmlns:a16="http://schemas.microsoft.com/office/drawing/2014/main" id="{1CF9BB8C-643D-442E-AFB1-3860740FF5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94"/>
              <a:ext cx="2352" cy="20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15">
              <a:extLst>
                <a:ext uri="{FF2B5EF4-FFF2-40B4-BE49-F238E27FC236}">
                  <a16:creationId xmlns:a16="http://schemas.microsoft.com/office/drawing/2014/main" id="{C4560E4F-E5C6-4BF4-8726-4AE5216548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968"/>
              <a:ext cx="38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s-CO"/>
                <a:t>10</a:t>
              </a:r>
              <a:r>
                <a:rPr lang="en-US" altLang="es-CO">
                  <a:sym typeface="Symbol" panose="05050102010706020507" pitchFamily="18" charset="2"/>
                </a:rPr>
                <a:t></a:t>
              </a:r>
              <a:r>
                <a:rPr lang="en-US" altLang="es-CO"/>
                <a:t>C</a:t>
              </a:r>
            </a:p>
          </p:txBody>
        </p:sp>
        <p:sp>
          <p:nvSpPr>
            <p:cNvPr id="7" name="Text Box 17">
              <a:extLst>
                <a:ext uri="{FF2B5EF4-FFF2-40B4-BE49-F238E27FC236}">
                  <a16:creationId xmlns:a16="http://schemas.microsoft.com/office/drawing/2014/main" id="{7DF91910-3B23-442C-B70E-8044788295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88"/>
              <a:ext cx="384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s-CO"/>
                <a:t>60</a:t>
              </a:r>
              <a:r>
                <a:rPr lang="en-US" altLang="es-CO">
                  <a:sym typeface="Symbol" panose="05050102010706020507" pitchFamily="18" charset="2"/>
                </a:rPr>
                <a:t></a:t>
              </a:r>
              <a:r>
                <a:rPr lang="en-US" altLang="es-CO"/>
                <a:t>C</a:t>
              </a:r>
            </a:p>
          </p:txBody>
        </p:sp>
        <p:sp>
          <p:nvSpPr>
            <p:cNvPr id="8" name="Text Box 18">
              <a:extLst>
                <a:ext uri="{FF2B5EF4-FFF2-40B4-BE49-F238E27FC236}">
                  <a16:creationId xmlns:a16="http://schemas.microsoft.com/office/drawing/2014/main" id="{ACDDCD01-3394-43CF-878F-CD966D55D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1968"/>
              <a:ext cx="336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s-CO"/>
                <a:t>43</a:t>
              </a:r>
              <a:r>
                <a:rPr lang="en-US" altLang="es-CO">
                  <a:sym typeface="Symbol" panose="05050102010706020507" pitchFamily="18" charset="2"/>
                </a:rPr>
                <a:t></a:t>
              </a:r>
              <a:r>
                <a:rPr lang="en-US" altLang="es-CO"/>
                <a:t>C</a:t>
              </a:r>
            </a:p>
          </p:txBody>
        </p:sp>
        <p:sp>
          <p:nvSpPr>
            <p:cNvPr id="9" name="Text Box 19">
              <a:extLst>
                <a:ext uri="{FF2B5EF4-FFF2-40B4-BE49-F238E27FC236}">
                  <a16:creationId xmlns:a16="http://schemas.microsoft.com/office/drawing/2014/main" id="{54EB3809-AF6C-43DE-BADB-A35951F83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459"/>
              <a:ext cx="576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s-CO"/>
                <a:t>14</a:t>
              </a:r>
              <a:r>
                <a:rPr lang="en-US" altLang="es-CO">
                  <a:sym typeface="Symbol" panose="05050102010706020507" pitchFamily="18" charset="2"/>
                </a:rPr>
                <a:t>0 kPa</a:t>
              </a:r>
              <a:endParaRPr lang="en-US" altLang="es-CO"/>
            </a:p>
          </p:txBody>
        </p:sp>
      </p:grpSp>
      <p:pic>
        <p:nvPicPr>
          <p:cNvPr id="10" name="Picture 12">
            <a:extLst>
              <a:ext uri="{FF2B5EF4-FFF2-40B4-BE49-F238E27FC236}">
                <a16:creationId xmlns:a16="http://schemas.microsoft.com/office/drawing/2014/main" id="{1C6F73FF-D9F8-4D22-9315-0024CC7C1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12737"/>
            <a:ext cx="3697287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4">
            <a:extLst>
              <a:ext uri="{FF2B5EF4-FFF2-40B4-BE49-F238E27FC236}">
                <a16:creationId xmlns:a16="http://schemas.microsoft.com/office/drawing/2014/main" id="{7210CF6B-E44C-43F3-BFA6-1FA8F1893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7" y="2544350"/>
            <a:ext cx="2560638" cy="957262"/>
          </a:xfrm>
          <a:prstGeom prst="rect">
            <a:avLst/>
          </a:prstGeom>
          <a:noFill/>
          <a:ln w="1587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8965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53BB2-3DB6-4B98-B588-96C601241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085" y="565747"/>
            <a:ext cx="10515600" cy="1325563"/>
          </a:xfrm>
        </p:spPr>
        <p:txBody>
          <a:bodyPr/>
          <a:lstStyle/>
          <a:p>
            <a:pPr algn="ctr"/>
            <a:r>
              <a:rPr lang="es-CO" dirty="0"/>
              <a:t>Intercambiadores de calor</a:t>
            </a:r>
          </a:p>
        </p:txBody>
      </p:sp>
      <p:pic>
        <p:nvPicPr>
          <p:cNvPr id="5" name="Picture 12" descr="cen84959_05037">
            <a:extLst>
              <a:ext uri="{FF2B5EF4-FFF2-40B4-BE49-F238E27FC236}">
                <a16:creationId xmlns:a16="http://schemas.microsoft.com/office/drawing/2014/main" id="{02B3D5D1-C114-4B32-83AC-31DA1CF1C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268" y="1690687"/>
            <a:ext cx="3187472" cy="3692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4">
            <a:extLst>
              <a:ext uri="{FF2B5EF4-FFF2-40B4-BE49-F238E27FC236}">
                <a16:creationId xmlns:a16="http://schemas.microsoft.com/office/drawing/2014/main" id="{7D80D2BB-21DE-4D41-9242-AEB21F70A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884" y="1971871"/>
            <a:ext cx="2507815" cy="1206901"/>
          </a:xfrm>
          <a:prstGeom prst="rect">
            <a:avLst/>
          </a:prstGeom>
          <a:noFill/>
          <a:ln w="1587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5">
            <a:extLst>
              <a:ext uri="{FF2B5EF4-FFF2-40B4-BE49-F238E27FC236}">
                <a16:creationId xmlns:a16="http://schemas.microsoft.com/office/drawing/2014/main" id="{EF9AC6FA-A2B3-4731-B889-37C995B8E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275" y="4423372"/>
            <a:ext cx="5715004" cy="543319"/>
          </a:xfrm>
          <a:prstGeom prst="rect">
            <a:avLst/>
          </a:prstGeom>
          <a:noFill/>
          <a:ln w="1587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6">
            <a:extLst>
              <a:ext uri="{FF2B5EF4-FFF2-40B4-BE49-F238E27FC236}">
                <a16:creationId xmlns:a16="http://schemas.microsoft.com/office/drawing/2014/main" id="{C9E35BE3-6AF5-410A-B8DD-8E47F18BE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884" y="3463329"/>
            <a:ext cx="2096080" cy="707428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193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8ED6E75D3B4A4FBBC3A5648F888170" ma:contentTypeVersion="3" ma:contentTypeDescription="Create a new document." ma:contentTypeScope="" ma:versionID="75817f4eb2d8aeb5ecef6fc9a1fe28ca">
  <xsd:schema xmlns:xsd="http://www.w3.org/2001/XMLSchema" xmlns:xs="http://www.w3.org/2001/XMLSchema" xmlns:p="http://schemas.microsoft.com/office/2006/metadata/properties" xmlns:ns2="630cf6ae-bad7-4d46-9e60-2de4026c69cf" targetNamespace="http://schemas.microsoft.com/office/2006/metadata/properties" ma:root="true" ma:fieldsID="214d54b897f8221def51b671f5b1b576" ns2:_="">
    <xsd:import namespace="630cf6ae-bad7-4d46-9e60-2de4026c69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0cf6ae-bad7-4d46-9e60-2de4026c69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2D8B60-2222-44E8-9E5B-C890378F3D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13204F-AB4F-4C63-BFC7-BF519A30367D}">
  <ds:schemaRefs>
    <ds:schemaRef ds:uri="http://purl.org/dc/elements/1.1/"/>
    <ds:schemaRef ds:uri="http://schemas.openxmlformats.org/package/2006/metadata/core-properties"/>
    <ds:schemaRef ds:uri="4a89a87a-00e0-4ed6-a892-48c4f8b4e80a"/>
    <ds:schemaRef ds:uri="http://schemas.microsoft.com/office/infopath/2007/PartnerControls"/>
    <ds:schemaRef ds:uri="http://purl.org/dc/terms/"/>
    <ds:schemaRef ds:uri="a454126d-7578-4b34-95f7-a9cb21d30b42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74D0099-2F00-4C9B-A301-EF4A34CF3514}"/>
</file>

<file path=docProps/app.xml><?xml version="1.0" encoding="utf-8"?>
<Properties xmlns="http://schemas.openxmlformats.org/officeDocument/2006/extended-properties" xmlns:vt="http://schemas.openxmlformats.org/officeDocument/2006/docPropsVTypes">
  <TotalTime>2785</TotalTime>
  <Words>210</Words>
  <Application>Microsoft Office PowerPoint</Application>
  <PresentationFormat>Panorámica</PresentationFormat>
  <Paragraphs>36</Paragraphs>
  <Slides>9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CONSERVACIÓN DE LA MASA</vt:lpstr>
      <vt:lpstr>Balance de masa para sistemas de flujo estable</vt:lpstr>
      <vt:lpstr>Transporte de energía por la masa</vt:lpstr>
      <vt:lpstr>Boquillas y difusores</vt:lpstr>
      <vt:lpstr>Turbinas y compresores</vt:lpstr>
      <vt:lpstr>Válvulas</vt:lpstr>
      <vt:lpstr>Cámara de mezclado</vt:lpstr>
      <vt:lpstr>Intercambiadores de calor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Andres Rodriguez Andrade</dc:creator>
  <cp:lastModifiedBy>Karen Paola Cacua Madero</cp:lastModifiedBy>
  <cp:revision>77</cp:revision>
  <dcterms:created xsi:type="dcterms:W3CDTF">2017-07-31T19:21:32Z</dcterms:created>
  <dcterms:modified xsi:type="dcterms:W3CDTF">2026-10-04T16:08:32Z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0x010100218ED6E75D3B4A4FBBC3A5648F888170</vt:lpwstr>
  </property>
</Properties>
</file>