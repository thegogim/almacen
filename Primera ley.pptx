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wav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4"/>
  </p:notesMasterIdLst>
  <p:sldIdLst>
    <p:sldId id="256" r:id="rId5"/>
    <p:sldId id="259" r:id="rId6"/>
    <p:sldId id="262" r:id="rId7"/>
    <p:sldId id="272" r:id="rId8"/>
    <p:sldId id="260" r:id="rId9"/>
    <p:sldId id="273" r:id="rId10"/>
    <p:sldId id="271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83" r:id="rId21"/>
    <p:sldId id="284" r:id="rId22"/>
    <p:sldId id="285" r:id="rId23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E883D1-F93E-D555-241B-5FBEAD13DF15}" v="2" dt="2026-09-28T15:59:37.7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94" autoAdjust="0"/>
    <p:restoredTop sz="93134" autoAdjust="0"/>
  </p:normalViewPr>
  <p:slideViewPr>
    <p:cSldViewPr>
      <p:cViewPr varScale="1">
        <p:scale>
          <a:sx n="82" d="100"/>
          <a:sy n="82" d="100"/>
        </p:scale>
        <p:origin x="1068" y="114"/>
      </p:cViewPr>
      <p:guideLst>
        <p:guide orient="horz" pos="2160"/>
        <p:guide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LLY GISSELLA MARIN GOMEZ" userId="S::kellymarin1146684@correo.itm.edu.co::09a22591-e4e8-4cc7-a9b4-7405de12cfa2" providerId="AD" clId="Web-{B3E883D1-F93E-D555-241B-5FBEAD13DF15}"/>
    <pc:docChg chg="addSld delSld">
      <pc:chgData name="KELLY GISSELLA MARIN GOMEZ" userId="S::kellymarin1146684@correo.itm.edu.co::09a22591-e4e8-4cc7-a9b4-7405de12cfa2" providerId="AD" clId="Web-{B3E883D1-F93E-D555-241B-5FBEAD13DF15}" dt="2026-09-28T15:59:37.685" v="1"/>
      <pc:docMkLst>
        <pc:docMk/>
      </pc:docMkLst>
      <pc:sldChg chg="add del">
        <pc:chgData name="KELLY GISSELLA MARIN GOMEZ" userId="S::kellymarin1146684@correo.itm.edu.co::09a22591-e4e8-4cc7-a9b4-7405de12cfa2" providerId="AD" clId="Web-{B3E883D1-F93E-D555-241B-5FBEAD13DF15}" dt="2026-09-28T15:59:37.685" v="1"/>
        <pc:sldMkLst>
          <pc:docMk/>
          <pc:sldMk cId="2281709804" sldId="28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39DD09-94EC-4C5D-9C2E-6F25F3C0F5D0}" type="datetimeFigureOut">
              <a:rPr lang="es-CO" smtClean="0"/>
              <a:pPr/>
              <a:t>28/09/2026</a:t>
            </a:fld>
            <a:endParaRPr lang="es-CO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D44171-43B8-4CBD-AD22-75FCE5CB9677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1626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5" name="Rectangle 2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wrap="none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47202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E79F4-0E01-4A04-9AFB-E8326F478AB3}" type="datetimeFigureOut">
              <a:rPr lang="es-CO" smtClean="0"/>
              <a:pPr/>
              <a:t>28/09/2026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9ABDD-37F3-42FB-8418-677F5424EA33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E79F4-0E01-4A04-9AFB-E8326F478AB3}" type="datetimeFigureOut">
              <a:rPr lang="es-CO" smtClean="0"/>
              <a:pPr/>
              <a:t>28/09/2026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9ABDD-37F3-42FB-8418-677F5424EA33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E79F4-0E01-4A04-9AFB-E8326F478AB3}" type="datetimeFigureOut">
              <a:rPr lang="es-CO" smtClean="0"/>
              <a:pPr/>
              <a:t>28/09/2026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9ABDD-37F3-42FB-8418-677F5424EA33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E79F4-0E01-4A04-9AFB-E8326F478AB3}" type="datetimeFigureOut">
              <a:rPr lang="es-CO" smtClean="0"/>
              <a:pPr/>
              <a:t>28/09/2026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9ABDD-37F3-42FB-8418-677F5424EA33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E79F4-0E01-4A04-9AFB-E8326F478AB3}" type="datetimeFigureOut">
              <a:rPr lang="es-CO" smtClean="0"/>
              <a:pPr/>
              <a:t>28/09/2026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9ABDD-37F3-42FB-8418-677F5424EA33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E79F4-0E01-4A04-9AFB-E8326F478AB3}" type="datetimeFigureOut">
              <a:rPr lang="es-CO" smtClean="0"/>
              <a:pPr/>
              <a:t>28/09/2026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9ABDD-37F3-42FB-8418-677F5424EA33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E79F4-0E01-4A04-9AFB-E8326F478AB3}" type="datetimeFigureOut">
              <a:rPr lang="es-CO" smtClean="0"/>
              <a:pPr/>
              <a:t>28/09/2026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9ABDD-37F3-42FB-8418-677F5424EA33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E79F4-0E01-4A04-9AFB-E8326F478AB3}" type="datetimeFigureOut">
              <a:rPr lang="es-CO" smtClean="0"/>
              <a:pPr/>
              <a:t>28/09/2026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9ABDD-37F3-42FB-8418-677F5424EA33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E79F4-0E01-4A04-9AFB-E8326F478AB3}" type="datetimeFigureOut">
              <a:rPr lang="es-CO" smtClean="0"/>
              <a:pPr/>
              <a:t>28/09/2026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9ABDD-37F3-42FB-8418-677F5424EA33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E79F4-0E01-4A04-9AFB-E8326F478AB3}" type="datetimeFigureOut">
              <a:rPr lang="es-CO" smtClean="0"/>
              <a:pPr/>
              <a:t>28/09/2026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9ABDD-37F3-42FB-8418-677F5424EA33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E79F4-0E01-4A04-9AFB-E8326F478AB3}" type="datetimeFigureOut">
              <a:rPr lang="es-CO" smtClean="0"/>
              <a:pPr/>
              <a:t>28/09/2026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9ABDD-37F3-42FB-8418-677F5424EA33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EE79F4-0E01-4A04-9AFB-E8326F478AB3}" type="datetimeFigureOut">
              <a:rPr lang="es-CO" smtClean="0"/>
              <a:pPr/>
              <a:t>28/09/2026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F9ABDD-37F3-42FB-8418-677F5424EA33}" type="slidenum">
              <a:rPr lang="es-CO" smtClean="0"/>
              <a:pPr/>
              <a:t>‹Nº›</a:t>
            </a:fld>
            <a:endParaRPr lang="es-C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O" dirty="0"/>
              <a:t>Termodinámica</a:t>
            </a:r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6416675" y="0"/>
            <a:ext cx="1584325" cy="7052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s-CO" sz="1400" dirty="0">
                <a:solidFill>
                  <a:schemeClr val="bg1"/>
                </a:solidFill>
              </a:rPr>
              <a:t>Pedro Alvarado</a:t>
            </a:r>
          </a:p>
          <a:p>
            <a:pPr>
              <a:lnSpc>
                <a:spcPct val="150000"/>
              </a:lnSpc>
            </a:pPr>
            <a:endParaRPr lang="es-ES" sz="1400" dirty="0">
              <a:solidFill>
                <a:schemeClr val="bg1"/>
              </a:solidFill>
            </a:endParaRPr>
          </a:p>
        </p:txBody>
      </p:sp>
      <p:pic>
        <p:nvPicPr>
          <p:cNvPr id="10" name="9 Imagen" descr="http://biblioteca.itm.edu.co/Documentos/ovas/OVA-funcion-lineal/objeto6/docs/img_creditos/LogoITM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524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8" name="AutoShape 4" descr="Resultado de imagen para turbin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1030" name="AutoShape 6" descr="Resultado de imagen para turbin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1032" name="AutoShape 8" descr="Resultado de imagen para turbin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1034" name="AutoShape 10" descr="data:image/jpeg;base64,/9j/4AAQSkZJRgABAQAAAQABAAD/2wCEAAkGBxMTEhMUEhMVFBUUFxcYGBgYFxUZGBoZHhgYGhcfGxobHiggHholHxccITEkJSkrMC4uHB8zODMsNygtLisBCgoKDg0OGhAQGywkHCY0LCwsLC8sLCwsNCwsLCwsLCwsLCwsLCwsLCwsLCwsLCwsNSwvLCwsLCwsLCwsLCwsLP/AABEIAK0BIwMBIgACEQEDEQH/xAAbAAEAAwEBAQEAAAAAAAAAAAAABAUGAwIBB//EAEMQAAEDAgQDBQYEAwUIAwEAAAEAAhEDIQQSMUEFUWETInGBkQYyQqGxwVJy0fAjM2IUQ4Lh8RUkU3OSorLCY3TSB//EABkBAQEAAwEAAAAAAAAAAAAAAAABAgMEBf/EACgRAQEAAgEDAwIHAQAAAAAAAAABAhEDEiExBEFREyIyUmFxgZGhM//aAAwDAQACEQMRAD8A+oiICIiAiIgIiICIiAiL6QRqg+IiICKXheF1qhhlMnvAG+k3kxMCOasX+y2KbBFLOTPdD2gdCXHTwAPkro2o0Wsw3DMMaooupVgYMuLXZJiYzEiT+WV74n7Isa0Op1mtnTORlJmwBkEct/BNJtkEXH+1s7TsxcjN3gWFpgbQTZdlFEREBERAREQEXptMkEgWbqdh58+Q1OykNw7SCQ7ugd5/wjoPxHUdCggYquGNLjoI+Zj7rzhcSHmBHS9yNoGvrCrfabEACm1pDg7M42IIiWtkG4vPoo3BMU6SKRu1pcAY192OehmxmyitEi9VBBPiV5VQREQEREBERAREQEREBERAXcUmiMx1E225KFij3Y52289dV1LJABmJFySDbX18ELZPKQcgOhItrM/ay+Meb5Wg/wCGYXGiWNMw0mIvPXp4fPmrvhvEQYDmMIJhsCCdtdCZ2stefXJuTZhycdurdINLC1jpmA8f0UjCcCfeXS07HY82nadwtE7E02iYnpofOVxp8SL3EUoMC+51tfSNdlzTLnz8TTq1w4++0WhwBu4lSDwfDgw5rJMmLT1t5rjxCpXawksq1AZnswHHwgEGNtNlhsf7cOL8lKlJBh3aOgi4nuDfxPJWcGe95Z/0xvLhZqY/22xo4YEmmYLSRLJBBGtxdd6ftWcPZ7zVbcNDrvBH9Q1t+K/VZzAPmnEz2meYAEVMxfoNJn5qv4w8EF3Msqevdf8ANdctk15cv0sZl1Tt+nssOKf/ANDr1YbTaGNcSJ0I8IMh285lSYSu55rmq5zywUsrnEucJcZ7xkz3RvdVTB32jk8qbgnkVK4G9IHzDx+pUbYk8D9+sPE+n+qsFX8E/m1esj7/AGVgrEyERFWIiKThsG5xbYjN7oALnu/K3UjqYbrdBHY0kgAEk6AXJ8lNoYGxc8gNb7xLstNv56nP+lkuPQrhj+K0MMC3+Y/QsY6Widq1Zuv5GQLXMrOcdxtWo/JWe0lshrG92m0SRDGgDlrHjMq9oaW2N9qabTlwuVzhpVeGgM/5VMnu/mMuPRVmCxuQu97+IH5xm99zjLnwY70/ENL3UHD03OJBJs0kD3eQEzBi/wCEg81bYDAhjgKhdRc6Cx8NyE696BpfbS3nPK+A8PpVWlzGucBEvDpjxuXR1iIm6Yn2YcB2jA2qw5C0h2jhVYSJdGUkBwm243hXlKmXvLQBQx1IZmkWZXb9LgfKdiGyMFjwAa7GQ2cmKoR7p0zhp22+R0MXSbQK2Hptux73EkyCZb8/suasOL4AUyHMvSqXYddpifpOxG8qvUBERAREQEREBERAREQEReqbJMc0LdPbKM6+nX9F6qM9VMbTUd95PP6bfvqt/Fh1V53Ny3y4HDktJFgLE/vdSMF3MOI5mOev6qPgKhitOhykfMH7Ke2hNGmB8Ux5uP6qc2Vt06PT4THHfussJQigCdSJ9b/RSuEYTsmF29QyfD4fufNTMRQBcymNPt/oFG49i8oDWjvGAAPQLQ7EjB44vqZBtcnkFS+1/AXVWZ2htSowgtdHfiYcOZEHTmAYsrvhWE7FkTL3XeeZ5eA/eq+Y/iTR3Rd50j96oj8/pYo+DiYPSo27fUWUbH1g4GNDMfleMzfR7SFo/afB9yo57C2oGlwcNSWiRfR0fLosOKdWsYaCOgEm5DvSZjxTQ80bvBkXLTqOX6qZRaO1q/8AJP8A5tXGvgxQGapVaHN73Z5ml7oMwGjTXddH5hUig6dWue0NjX3czgRMi4EwdVBI4fmbUqP2YS53MCCJI1HpsrDgT6mIa57KcUxo99mn8u7vK3VV+F4i3Dtq1nmXCo+m8d6MwdmpgXAgAmI0k7lccf7Xvrdm1pLWCZB7zokRpAIgn3gDYXMrDLHbbhn0d5O/z5XIdL8pqMIMwdBbW/qu7KAIs9s/mb577fPa5hUOGJGUuq9lUJMkyBsPeE6AxEGLabdKfEnsJaHB1Rxzsc54DTtLSQBeIvCyxkxmpGGdyzvVbutM3DNptzuDiBuKbqjieTKQH/dUgcmyqTi3GKzmPDab6DHatJirUM27Wo+CR/SLdBquOP4jiXspPbVfTLpY4ZzJewgENMgNkEW+UKJVFc5XuqEESJqOc33hBymJ0OtiOlis7WGnAQQAHsZYmJOWefzHXrdesPg21peZc6AJ3gaXd4/vVXXCOHuqsJZRotcGAuqODnFzQ4tIbIsRlBta8wVWU8VUa2swsyvphzmzBzAjuutbLYjyItECK68OpU2OINIOa0kEdJykg7GRr9Fb1KbGAMec+Gre486sdexOxF/n/UD+ct4jiaeJa9jg6wzBxsdZknQ9dL8l+i8PqU6rMv8AdYiw/wDjqjSPP7LKMa5ilUdNAn/eMP36Dxq9o+G/ONDoRf3TPf8A2i0dljmjuP8A4WKZtexJH6/0j4iold7+zFT+/wAG/K6/vMmPEiPkHndTsJSY7EVKM/weIUjUZ/TUiXRyOrvHLqqi+weDGWphCZaRnoOPLVpnoTB6OPNZlzSCQRBFiOR3UvhONcMNTe7+Zgqxo1B/QDl57Alo1+LfSV7T4fLWLhpUAf56O9SJ81iqpREQEREBERAREQEREBS8AySTyURWXDm90nr9grGrmusXWsIafT1soGJqhsZvdkA+CsMToOp+xP2VRxRsiBuuzhn2WvMz3c5E2nSu8Dl91bYWl/Dw52Dmz5PUHhQGdk/GzL5wD9QrZgDQaLrF0lnU7jx3XO9TFaYW9d07NJHqB91HNEGsajvgs3xO/kPquvD3l4J0rMEPHOdCOhj1BVNU4kezrTZ1N1/Ajun5H0Wqt3skcQ4g4uFKiM1R2gG3MnkOqs+DcCbT7zznqHVx0HRo2HXU/JReB4cUaQe7+ZUAc8nUA3DfAfWeig8T4/fKHa2AGp9FP2E3jLGjNTfD2nUa/wChWH4h7PdpA7eqWXloIaOksYGtPpstIMJiHDM6mabT+Ox/6dfUKPiqBZBmWkxmGx6jY8ucJCsNxHg5wlFzqbGOY735BdlEkTqI8QLSZhaLG0yGnugFl4Glth0VsJvP+LcdD4beEFRMVSh0jeZ8d0sJWY9oKLGsuwtz1XHNL3SS0RDQ2IcGTrHeVNheH5KjCzOQ6SZHuQNpIcTOkDkVr8bh2PNJhpsuASYILjL6YzQRmAa0e9P0RuEaxuXLNOQYicpI+uV3zhNG2dbgWF1TvFxIeGOhoYSNJuSNbEi8LjJewNHaONId0iTI/DOWMoOhnUla4UGzoDyPP9D1CkUcMCdLfQn7HcfsXpTbJkva2HBlJgyuhx77zmDX5R7pcA1zi0SYIiSuLX0ZFUuqOOQZWmWDNlvfcEiwvrFlucRwllVmVwHiQHQdJ8RpOseCtuDeyOGLO0LG5ySHWl2YG8k3Pir0ptkvZ6s6IJkWiHSBYb+R3sZI0gzONcLLqXcJDgZYZiHwbGPxCR0cOi0fEOCNa4OYAAbO8OflEqM6lIe0m5ZmF9wYPnIafMq9h+UN4NUcC2mABMWa0E3PIxpFp3C03srgHszUDIztLmdHsvbrbRXb+J0acSACdb84Fzt3iFUN9pGHFUnNAgVWm3Iw0+pJUGgcwOr0XkHJi6Rp1B/UBvblLdOflU0y9mFpuN6mAxYHxXaXwQLfE4gRuArLiNYCkDP8nFAieU5ieW/+iiYkjPxJkCHsbUiLS1od4ayoLarhAMbjaQ93FUBUbrGZum0a5jryTHVBVwWFqTJb3CbHYjYn/h891wZiv4vDas97szTOl4pkH5umy90z/ulVl/4dQgTOzmxr0d0RVUiIiCIiAiIgIiICIiArXAjuDxP1VUrXBHuDz+qyx8tHqPwmKd7vn9FWVa8PAOjreB2/RT8Y73fH7H9FS8QvELs4/wDm87v9WVeYYBzI0LTbnzBXV/EmGKWMBaHWZW0aDtP4TMd7TwXOAabXssSNtjuPVZTj3tRVYHUKtNlWW92e65p2JixHS3iua+dvSxrbn2hZhXsOKqBtSk4Mc7/i0XWzADVwgEgbtH4lS4rjeHr1anYVJFVtQZdHd05mkt27s6r8zr4eu/vvJMAASZho0A5AclywjqjCS1zmm4OVxBM63Gyxs34bJlp+01cY/FGlTpHKXsa5zvwNyguMecRzIVthaNDCD+GJedXuu8+ew6CAvz72U4xlJc1r2sp0W08zzmzGW/EAJPck+KtW1cTiO/TaAw6Oe7KD4WJI6wtVns2ytHiuNl2qq6mK13BsRsQuWF4U7+9qt8GyfmY+imuwtIQDpuTJ+46qzSXbnSAc23eyiRzy7gwNRYza3oqvi9V1MEtgzYTABOrLkgAkWkk6WBJVycK2mZGkg3i7SNQD4mDB0XGrRbMPmAY5Hm03vaSNDYlVGH4lxp5awspuFRrBYwWyXuzCRckEkaC4Vth8ZnpseQQKgNiJIM94Abum88ssK4xXGMHTZEMJIIMGZPoL67BZXBccD8zWtblFW0gm5aJ0IOwtPkg0OEoE5LENqAwYcIPmOk+EBTcPYAkRaDpqDymxiR4DqqTDcTJaLt7rjlNpAyiwLu8BtEjlfRfTjWzr8UCLDQ/qmzTUms0bzqN9QfDlGnJTOFcYDS8SAO6Z8o+3zWMHFQOWxnxdA+iz2M4hUe+GVGw7KMlpy5c0yJkwG2tbMpsb7j3tA1zXU2Ol52Gov00UAY2QCT8TvTuFZ+pToBhb/Z3ZzoS4hsxEkSAR0i/nK9UWue3JT7z2WgToZ8hAt5DSbhW8ToueXEOENPmG9JFjccrQbzCo8KGDFUmBvfL2mziZ5kzO08tFqGYXsnPNZwlwEtJZYaFpDSTEGLleqPCKFN7KjDdpOUnaYIvrz1nXxQW3FHTSrdagb5wBpovmKdNbF/8A13g6/hBGvQqM+uHdkwb1M7vIfWPoF4q4kZcVU/ERTbG+xj/DBVFhhXSeHC9y92/Jp+k6/qrfhLWOo187srTVeZ8Cw262Pz11VRTIZWpDbCYcuP5i3LG2tjt8rSsO3LhKYJ94yfE3Hn3vkoqNUiTlmNp1jr1Xld6zGNbTg5nPGaNMrOfOTsuCSpYIiKoIiICIiAiIgKzwTu55n9fuqxTsAe64eB+v6K4+Wnnn2OPEKmnQ/wCX3VW+tBkiQrDHjX19Lqvqs1Xbxd8bHnZXWUpjMc6jTe9riGgFx0INtptJWGp4wvqF1Qy5xknnyHkNlrcVgnYii7DB7aZqQGPcSAHZgWtJ5OIy+e+iwdHDvpveyoIcxzmm9g5riDcdQVzcl1dPS4pubX1fEF1vkmH4ZUfo0rvw7EURGYhavC+0+FpNgZZWP1Phn9NT4PgtVog1DSYbm9ifDSYm/gtCOJ1H92k0OA5OZAHroqTiftjSqd3KXDk0kHyIULhftTQacrKRcXHVwYT6yfstdu+7OTTXYRlaoR3qYn+omPQK5xPAsQwTmpvGUOs4gxf8QA258lm+HcVZ2ga2kGvdoGtbOkn3dFoXcULgWyQcsRf5gornhq5bNGq1zHOb3Zm4uYESDqYjc9VFxdSR+ZrOm46DmveKaCBIbF/dEcvQ6X/RQcQ+zeeVp25tPTkiMvwbDVHua+q7uEimBAInMRm7xdMGPQ2XbiOBLh2jAM7CQ9oHvcnRubX/AMlY8XexlMUphwETrHM2AVFxStVD6jKdQ1Gnsw0huUPIaYs74vevAMtEaBXweXVsgNLiQZLHDUkmTqN+ZPjyXLE4ltOm0ukycoJMghrjBIAjWLAyZjaV84bUo1I7V1SGS45IaItOaxNhPLddKeEL89IU+7TqOGUHQQ03M5vLobSFFcW12SwvaHNc4h7HEkNpmSTe06Ni2ql8RFWllAcMknK7u3A7wJy3jW0WsvL8EwUy0kEMc0ZZa2xGUm4IMRfwJFzCl8HfUa5rS60QyZtM92Y93aD1veFBT4rGw4gy3KQRlHeuZnOG6i/O3Iq64RhS1jmS0udBcO0yv2MguBB1mLKyxuM7MF76VENbEuNKmYG5s0lZvH4ik+qQQ99Rzsw2p3Etc4Ag2bAjYeJRXdvCzAtUeQTLC1rTBIklpJLpEjuk6aLlUrOe+HAgMIETckXIg7g92SYG6kcP9mWnLinve2XQxlv4gaIcSdm2AtqZiIU9/DaZ2j99dfNPJvStbSaZAFsoMMzHMdvX4dzlzGzlIw2EcXQ0yAZ2ylwnM4chn0PIPOy7u4cTPfHoR4yROulgOsqdSowP5hBtdoiIjSRrYeGwCmqu4nngbKNI1cS/vPguEnM4xZsTc9NlT0w97SHd1uYuDdbmxtsAAB1ud11ZRg5nOc934nmT5bDyXVWY/LG5fDxTZE3JJ1JuT4r2iLJiIiICIiAiIgIiIClcPd3o5iPv9lFXuk/KQeSRjnN42J2Joyqp9OPKyvyJUHE0bnqJ8xY/ZdnBfu08nl/Dtn8Uym9jmPsCCDNpB5FY1zxSmmQC24a6IBGxW44nh1QcVwzWsLnAHYDm46emvksefjdnpea2d2extFpu1Vb2wrV2CPZvqZoDSBcak7DyXJ/CKuvd/lCtqZDTl1tr3guWT5dnVvxHPhbj2jSHikQZD3TDSASJgG0wNN1t8BicRSd/vGR++em4T5gtDSPRZ/BcM7Ke1LS0ODajSxrgGuEsc1xuIidBpCv8NLCKDxZtmOGwGx/p5cvoI2HAcW2o7Mas7NkRffw8k4xLDDrg+67xN46gKPgKTcgay1odB96d/HkVX4bijg5+FxV8tw7T8rgfhN9dNQd1FT2Yn4HGMwF5FnatJ6deRK5NxAY4l3vAEMETcWuN9Y2idtVBxgLXNzmBBEgWPVpGkzMbGYOhMOtUpmMxqPgRqKYPjGZx/wCoJtdPld2asXywNhvaNzS6SYHZt5k6Alu/gpHHHCmzQEOAbrGUgy10jkZH+IrxhcTSpCWUaTTNiQXuJ096oXGVL4fgKVQZnsa46EXgHUy2YnfrM7rLG77McppmsTh6j4yMc5rhYNlzRAObSwgj0hS6AxQbmMMaIHetUaOcn4TvJ8gtjQw9MuaKgOSRIaALDQADZZvF8Rbi8Q0BgZSbOVm4guAzEXzHuyJ6KWeyy+6qa11RjmUW5yQy41Fy46C2nz8lY1MBWyw6bNHxCZ21M7yrajSawQxoaOQAA+S9rHS9Spw2DqZ3CpLmVWlryXTEix1mxMeqlO4VSzF0HMdb2/X5qYiuk6q91KhdE7ANA2AGgA2C8IiqCIiAiIgIiICIiAiIgIiICIiAiIgtcDUlscvpsvuIbaeV/wBfkoGDrZXX0NlaFbcMtd3n8+GsrPaqrG0QRz3WS40C86QG6D6nxW2qsiR5jw/y/RUfFMHuu7KTPHqjk4srhl0VkcbSJZSpDcl5/M45W+gaFYYmDiMXHu06HZjwz0x/6qLjO7WJ2aW/KF0w4nE4wfjbUaOpBD/o0+q8/LHVevhlKkUWZnU2H++w1MDq9rGkf+LvVSuHYnP/AAn2qMEA/iaP/YfMX5qrpPL8M1zTD8M+J3AnMw+sj/CrKowVQzEMEH4gPhcNf1HQhYti64S2oyYaXAAugamLmOqmcbw7MVhW4mh3nsbmkfFSNzY3lvveGZfeCcQGZsQH6x4RPlf5qiqcWfgsfVJMUBTD2s+EtLnEiOhzNjkAsVQ8FxQ1GOou+IA0idnwXNb4Ou3xcvnCKTapAc9wzaRH4Q4ag9fRRuOUGU67ux/l/wAOpTj8BJiPC7fFqjYfFFpzbgz5teT9CU0ba5/BmsEgl1tXHb6LzhqhYZFy0abvZ/8Apv71UjAY9tRkE6GPJ3un1so1ek8nuAlwJIgEw8agx8Lh9+ayxSrpjw5oc0yCJBVVU4YG1jVaBDpJ6O09DJPipnCMDiM3dov7OoC4tMTTfvbWD03vuVb0eFPe7IcjZmzniY3sJNlnlqxjFEi742iGPcwHMWmCR7s7gb2t6rgtbIREQEREBERAREQEREBERAREQEREBERAREQFZ4StmbG4+myrF7pVC0yFZdNXLx9eP6rGsJ8RoodZuYfvVSg8ESFwrDcef75rs4eTXa+HlcmFveeYyPEuHkEnWd1Wh+Svm/qBPgQM3ylbHFsDgstjsKczjG/0ssuXi23cHL27o3DTkrVWH3HEsPndp8jHkSu3DMf2DnNd7pdB6HY+W/QlQcQDmM7wflH2Xfh/DnYquGSRmguIEmBY+ZtHUhcdxsehOSXys+LYk08r2GC11j5GfJevaar/AG2hQfSY5z3ZmPa0FxBsdtrTfYrQYz2aoUKLQQ/EfxMozugWa6LNibjLBKmYZtYDJh8OKbRMBrIHmXQ2fGIWn6uHy3TDKqHh/shXq029uRSDWltu87JOYT8IgufudRZWjPZnA0iDUcXmZvUJju8qcWgK1ZwSq8TWrZZMlo7x0AvByzbXb6SqXCMOy5DnnXvO3392Foz9Zxzx3bsfS53yquFdixxZTpNcb9/IGwwe6HakkSG6idYFwp7OLFhc4Q4saYaYgmLTyAhfOKcSpMp5KYa2TctEAHkIu5yzTQSc2cOzgjKwyG7y4nbKNtyY1W/HO3HdndzdO8+17T/W9f7SNDGnUkDaBJA5rO/7ec42zCO80Fvdklw96DMXm+hEahUn9vLu72YvlAnZ0Hqfly6qZTYGtDRtcnmTEn0AA6AKzu2W6ffn+5PzREWTAREQEREBERAREQEREBERAREQEREBERAREQEREHSlVI8OX73XZzpuFFX1roWWOWmnl4Zn3nl4rqvrAFWboPTwXB2DB1J/7f16rpw55I4r6fPfhnMVw0veMvIADeZJ+62HstwXsRcAudcnkQRl8hfXU9AuNCkxu21419dvJSnY8xDRlH18Vyep5s8508c/l3+m4JL1ct/hoDjGsEAwodfi45yqJ1QnUryvOx9D+avSy9Z+WJOJ4+c+QNJcRPIageMSRcAxfkqriXEaxgAZpMQ2YBgHUjvWM6RZdcXhG1BDh4EWI8CvNLAtGrnuMzcgA2AJMRJOUfPmunD02GF3I58+fLOaqEwVSD3b9HGY3EkQL8vJc6OFr3AAY0m8ukkXtIkxdXIEL6t+o1bR8Nhct3HM6ImI9ApCIqgiIgIiICIiAiIgIiICIiAiIgIiICIiAiIgIiICIiAiIgIiICIiAiIgIiICIiAiIgIiICIiAiIgIiICIiAiIgIiICIiD/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1524000" y="71439"/>
            <a:ext cx="2819399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s-CO" sz="2000" dirty="0">
                <a:solidFill>
                  <a:schemeClr val="bg1"/>
                </a:solidFill>
              </a:rPr>
              <a:t>Termodinámica</a:t>
            </a:r>
          </a:p>
          <a:p>
            <a:r>
              <a:rPr lang="es-ES" sz="2000" dirty="0">
                <a:solidFill>
                  <a:schemeClr val="bg1"/>
                </a:solidFill>
              </a:rPr>
              <a:t>Definiciones Básicas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6416675" y="0"/>
            <a:ext cx="1584325" cy="7052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s-CO" sz="1400" dirty="0">
                <a:solidFill>
                  <a:schemeClr val="bg1"/>
                </a:solidFill>
              </a:rPr>
              <a:t>Pedro Alvarado</a:t>
            </a:r>
          </a:p>
          <a:p>
            <a:pPr>
              <a:lnSpc>
                <a:spcPct val="150000"/>
              </a:lnSpc>
            </a:pPr>
            <a:endParaRPr lang="es-ES" sz="1400" dirty="0">
              <a:solidFill>
                <a:schemeClr val="bg1"/>
              </a:solidFill>
            </a:endParaRPr>
          </a:p>
        </p:txBody>
      </p:sp>
      <p:sp>
        <p:nvSpPr>
          <p:cNvPr id="9" name="AutoShape 4" descr="Resultado de imagen para turbin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10" name="AutoShape 6" descr="Resultado de imagen para turbin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11" name="AutoShape 8" descr="Resultado de imagen para turbin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12" name="AutoShape 10" descr="data:image/jpeg;base64,/9j/4AAQSkZJRgABAQAAAQABAAD/2wCEAAkGBxMTEhMUEhMVFBUUFxcYGBgYFxUZGBoZHhgYGhcfGxobHiggHholHxccITEkJSkrMC4uHB8zODMsNygtLisBCgoKDg0OGhAQGywkHCY0LCwsLC8sLCwsNCwsLCwsLCwsLCwsLCwsLCwsLCwsLCwsNSwvLCwsLCwsLCwsLCwsLP/AABEIAK0BIwMBIgACEQEDEQH/xAAbAAEAAwEBAQEAAAAAAAAAAAAABAUGAwIBB//EAEMQAAEDAgQDBQYEAwUIAwEAAAEAAhEDIQQSMUEFUWETInGBkQYyQqGxwVJy0fAjM2IUQ4Lh8RUkU3OSorLCY3TSB//EABkBAQEAAwEAAAAAAAAAAAAAAAABAgMEBf/EACgRAQEAAgEDAwIHAQAAAAAAAAABAhEDEiExBEFREyIyUmFxgZGhM//aAAwDAQACEQMRAD8A+oiICIiAiIgIiICIiAiL6QRqg+IiICKXheF1qhhlMnvAG+k3kxMCOasX+y2KbBFLOTPdD2gdCXHTwAPkro2o0Wsw3DMMaooupVgYMuLXZJiYzEiT+WV74n7Isa0Op1mtnTORlJmwBkEct/BNJtkEXH+1s7TsxcjN3gWFpgbQTZdlFEREBERAREQEXptMkEgWbqdh58+Q1OykNw7SCQ7ugd5/wjoPxHUdCggYquGNLjoI+Zj7rzhcSHmBHS9yNoGvrCrfabEACm1pDg7M42IIiWtkG4vPoo3BMU6SKRu1pcAY192OehmxmyitEi9VBBPiV5VQREQEREBERAREQEREBERAXcUmiMx1E225KFij3Y52289dV1LJABmJFySDbX18ELZPKQcgOhItrM/ay+Meb5Wg/wCGYXGiWNMw0mIvPXp4fPmrvhvEQYDmMIJhsCCdtdCZ2stefXJuTZhycdurdINLC1jpmA8f0UjCcCfeXS07HY82nadwtE7E02iYnpofOVxp8SL3EUoMC+51tfSNdlzTLnz8TTq1w4++0WhwBu4lSDwfDgw5rJMmLT1t5rjxCpXawksq1AZnswHHwgEGNtNlhsf7cOL8lKlJBh3aOgi4nuDfxPJWcGe95Z/0xvLhZqY/22xo4YEmmYLSRLJBBGtxdd6ftWcPZ7zVbcNDrvBH9Q1t+K/VZzAPmnEz2meYAEVMxfoNJn5qv4w8EF3Msqevdf8ANdctk15cv0sZl1Tt+nssOKf/ANDr1YbTaGNcSJ0I8IMh285lSYSu55rmq5zywUsrnEucJcZ7xkz3RvdVTB32jk8qbgnkVK4G9IHzDx+pUbYk8D9+sPE+n+qsFX8E/m1esj7/AGVgrEyERFWIiKThsG5xbYjN7oALnu/K3UjqYbrdBHY0kgAEk6AXJ8lNoYGxc8gNb7xLstNv56nP+lkuPQrhj+K0MMC3+Y/QsY6Widq1Zuv5GQLXMrOcdxtWo/JWe0lshrG92m0SRDGgDlrHjMq9oaW2N9qabTlwuVzhpVeGgM/5VMnu/mMuPRVmCxuQu97+IH5xm99zjLnwY70/ENL3UHD03OJBJs0kD3eQEzBi/wCEg81bYDAhjgKhdRc6Cx8NyE696BpfbS3nPK+A8PpVWlzGucBEvDpjxuXR1iIm6Yn2YcB2jA2qw5C0h2jhVYSJdGUkBwm243hXlKmXvLQBQx1IZmkWZXb9LgfKdiGyMFjwAa7GQ2cmKoR7p0zhp22+R0MXSbQK2Hptux73EkyCZb8/suasOL4AUyHMvSqXYddpifpOxG8qvUBERAREQEREBERAREQEReqbJMc0LdPbKM6+nX9F6qM9VMbTUd95PP6bfvqt/Fh1V53Ny3y4HDktJFgLE/vdSMF3MOI5mOev6qPgKhitOhykfMH7Ke2hNGmB8Ux5uP6qc2Vt06PT4THHfussJQigCdSJ9b/RSuEYTsmF29QyfD4fufNTMRQBcymNPt/oFG49i8oDWjvGAAPQLQ7EjB44vqZBtcnkFS+1/AXVWZ2htSowgtdHfiYcOZEHTmAYsrvhWE7FkTL3XeeZ5eA/eq+Y/iTR3Rd50j96oj8/pYo+DiYPSo27fUWUbH1g4GNDMfleMzfR7SFo/afB9yo57C2oGlwcNSWiRfR0fLosOKdWsYaCOgEm5DvSZjxTQ80bvBkXLTqOX6qZRaO1q/8AJP8A5tXGvgxQGapVaHN73Z5ml7oMwGjTXddH5hUig6dWue0NjX3czgRMi4EwdVBI4fmbUqP2YS53MCCJI1HpsrDgT6mIa57KcUxo99mn8u7vK3VV+F4i3Dtq1nmXCo+m8d6MwdmpgXAgAmI0k7lccf7Xvrdm1pLWCZB7zokRpAIgn3gDYXMrDLHbbhn0d5O/z5XIdL8pqMIMwdBbW/qu7KAIs9s/mb577fPa5hUOGJGUuq9lUJMkyBsPeE6AxEGLabdKfEnsJaHB1Rxzsc54DTtLSQBeIvCyxkxmpGGdyzvVbutM3DNptzuDiBuKbqjieTKQH/dUgcmyqTi3GKzmPDab6DHatJirUM27Wo+CR/SLdBquOP4jiXspPbVfTLpY4ZzJewgENMgNkEW+UKJVFc5XuqEESJqOc33hBymJ0OtiOlis7WGnAQQAHsZYmJOWefzHXrdesPg21peZc6AJ3gaXd4/vVXXCOHuqsJZRotcGAuqODnFzQ4tIbIsRlBta8wVWU8VUa2swsyvphzmzBzAjuutbLYjyItECK68OpU2OINIOa0kEdJykg7GRr9Fb1KbGAMec+Gre486sdexOxF/n/UD+ct4jiaeJa9jg6wzBxsdZknQ9dL8l+i8PqU6rMv8AdYiw/wDjqjSPP7LKMa5ilUdNAn/eMP36Dxq9o+G/ONDoRf3TPf8A2i0dljmjuP8A4WKZtexJH6/0j4iold7+zFT+/wAG/K6/vMmPEiPkHndTsJSY7EVKM/weIUjUZ/TUiXRyOrvHLqqi+weDGWphCZaRnoOPLVpnoTB6OPNZlzSCQRBFiOR3UvhONcMNTe7+Zgqxo1B/QDl57Alo1+LfSV7T4fLWLhpUAf56O9SJ81iqpREQEREBERAREQEREBS8AySTyURWXDm90nr9grGrmusXWsIafT1soGJqhsZvdkA+CsMToOp+xP2VRxRsiBuuzhn2WvMz3c5E2nSu8Dl91bYWl/Dw52Dmz5PUHhQGdk/GzL5wD9QrZgDQaLrF0lnU7jx3XO9TFaYW9d07NJHqB91HNEGsajvgs3xO/kPquvD3l4J0rMEPHOdCOhj1BVNU4kezrTZ1N1/Ajun5H0Wqt3skcQ4g4uFKiM1R2gG3MnkOqs+DcCbT7zznqHVx0HRo2HXU/JReB4cUaQe7+ZUAc8nUA3DfAfWeig8T4/fKHa2AGp9FP2E3jLGjNTfD2nUa/wChWH4h7PdpA7eqWXloIaOksYGtPpstIMJiHDM6mabT+Ox/6dfUKPiqBZBmWkxmGx6jY8ucJCsNxHg5wlFzqbGOY735BdlEkTqI8QLSZhaLG0yGnugFl4Glth0VsJvP+LcdD4beEFRMVSh0jeZ8d0sJWY9oKLGsuwtz1XHNL3SS0RDQ2IcGTrHeVNheH5KjCzOQ6SZHuQNpIcTOkDkVr8bh2PNJhpsuASYILjL6YzQRmAa0e9P0RuEaxuXLNOQYicpI+uV3zhNG2dbgWF1TvFxIeGOhoYSNJuSNbEi8LjJewNHaONId0iTI/DOWMoOhnUla4UGzoDyPP9D1CkUcMCdLfQn7HcfsXpTbJkva2HBlJgyuhx77zmDX5R7pcA1zi0SYIiSuLX0ZFUuqOOQZWmWDNlvfcEiwvrFlucRwllVmVwHiQHQdJ8RpOseCtuDeyOGLO0LG5ySHWl2YG8k3Pir0ptkvZ6s6IJkWiHSBYb+R3sZI0gzONcLLqXcJDgZYZiHwbGPxCR0cOi0fEOCNa4OYAAbO8OflEqM6lIe0m5ZmF9wYPnIafMq9h+UN4NUcC2mABMWa0E3PIxpFp3C03srgHszUDIztLmdHsvbrbRXb+J0acSACdb84Fzt3iFUN9pGHFUnNAgVWm3Iw0+pJUGgcwOr0XkHJi6Rp1B/UBvblLdOflU0y9mFpuN6mAxYHxXaXwQLfE4gRuArLiNYCkDP8nFAieU5ieW/+iiYkjPxJkCHsbUiLS1od4ayoLarhAMbjaQ93FUBUbrGZum0a5jryTHVBVwWFqTJb3CbHYjYn/h891wZiv4vDas97szTOl4pkH5umy90z/ulVl/4dQgTOzmxr0d0RVUiIiCIiAiIgIiICIiArXAjuDxP1VUrXBHuDz+qyx8tHqPwmKd7vn9FWVa8PAOjreB2/RT8Y73fH7H9FS8QvELs4/wDm87v9WVeYYBzI0LTbnzBXV/EmGKWMBaHWZW0aDtP4TMd7TwXOAabXssSNtjuPVZTj3tRVYHUKtNlWW92e65p2JixHS3iua+dvSxrbn2hZhXsOKqBtSk4Mc7/i0XWzADVwgEgbtH4lS4rjeHr1anYVJFVtQZdHd05mkt27s6r8zr4eu/vvJMAASZho0A5AclywjqjCS1zmm4OVxBM63Gyxs34bJlp+01cY/FGlTpHKXsa5zvwNyguMecRzIVthaNDCD+GJedXuu8+ew6CAvz72U4xlJc1r2sp0W08zzmzGW/EAJPck+KtW1cTiO/TaAw6Oe7KD4WJI6wtVns2ytHiuNl2qq6mK13BsRsQuWF4U7+9qt8GyfmY+imuwtIQDpuTJ+46qzSXbnSAc23eyiRzy7gwNRYza3oqvi9V1MEtgzYTABOrLkgAkWkk6WBJVycK2mZGkg3i7SNQD4mDB0XGrRbMPmAY5Hm03vaSNDYlVGH4lxp5awspuFRrBYwWyXuzCRckEkaC4Vth8ZnpseQQKgNiJIM94Abum88ssK4xXGMHTZEMJIIMGZPoL67BZXBccD8zWtblFW0gm5aJ0IOwtPkg0OEoE5LENqAwYcIPmOk+EBTcPYAkRaDpqDymxiR4DqqTDcTJaLt7rjlNpAyiwLu8BtEjlfRfTjWzr8UCLDQ/qmzTUms0bzqN9QfDlGnJTOFcYDS8SAO6Z8o+3zWMHFQOWxnxdA+iz2M4hUe+GVGw7KMlpy5c0yJkwG2tbMpsb7j3tA1zXU2Ol52Gov00UAY2QCT8TvTuFZ+pToBhb/Z3ZzoS4hsxEkSAR0i/nK9UWue3JT7z2WgToZ8hAt5DSbhW8ToueXEOENPmG9JFjccrQbzCo8KGDFUmBvfL2mziZ5kzO08tFqGYXsnPNZwlwEtJZYaFpDSTEGLleqPCKFN7KjDdpOUnaYIvrz1nXxQW3FHTSrdagb5wBpovmKdNbF/8A13g6/hBGvQqM+uHdkwb1M7vIfWPoF4q4kZcVU/ERTbG+xj/DBVFhhXSeHC9y92/Jp+k6/qrfhLWOo187srTVeZ8Cw262Pz11VRTIZWpDbCYcuP5i3LG2tjt8rSsO3LhKYJ94yfE3Hn3vkoqNUiTlmNp1jr1Xld6zGNbTg5nPGaNMrOfOTsuCSpYIiKoIiICIiAiIgKzwTu55n9fuqxTsAe64eB+v6K4+Wnnn2OPEKmnQ/wCX3VW+tBkiQrDHjX19Lqvqs1Xbxd8bHnZXWUpjMc6jTe9riGgFx0INtptJWGp4wvqF1Qy5xknnyHkNlrcVgnYii7DB7aZqQGPcSAHZgWtJ5OIy+e+iwdHDvpveyoIcxzmm9g5riDcdQVzcl1dPS4pubX1fEF1vkmH4ZUfo0rvw7EURGYhavC+0+FpNgZZWP1Phn9NT4PgtVog1DSYbm9ifDSYm/gtCOJ1H92k0OA5OZAHroqTiftjSqd3KXDk0kHyIULhftTQacrKRcXHVwYT6yfstdu+7OTTXYRlaoR3qYn+omPQK5xPAsQwTmpvGUOs4gxf8QA258lm+HcVZ2ga2kGvdoGtbOkn3dFoXcULgWyQcsRf5gornhq5bNGq1zHOb3Zm4uYESDqYjc9VFxdSR+ZrOm46DmveKaCBIbF/dEcvQ6X/RQcQ+zeeVp25tPTkiMvwbDVHua+q7uEimBAInMRm7xdMGPQ2XbiOBLh2jAM7CQ9oHvcnRubX/AMlY8XexlMUphwETrHM2AVFxStVD6jKdQ1Gnsw0huUPIaYs74vevAMtEaBXweXVsgNLiQZLHDUkmTqN+ZPjyXLE4ltOm0ukycoJMghrjBIAjWLAyZjaV84bUo1I7V1SGS45IaItOaxNhPLddKeEL89IU+7TqOGUHQQ03M5vLobSFFcW12SwvaHNc4h7HEkNpmSTe06Ni2ql8RFWllAcMknK7u3A7wJy3jW0WsvL8EwUy0kEMc0ZZa2xGUm4IMRfwJFzCl8HfUa5rS60QyZtM92Y93aD1veFBT4rGw4gy3KQRlHeuZnOG6i/O3Iq64RhS1jmS0udBcO0yv2MguBB1mLKyxuM7MF76VENbEuNKmYG5s0lZvH4ik+qQQ99Rzsw2p3Etc4Ag2bAjYeJRXdvCzAtUeQTLC1rTBIklpJLpEjuk6aLlUrOe+HAgMIETckXIg7g92SYG6kcP9mWnLinve2XQxlv4gaIcSdm2AtqZiIU9/DaZ2j99dfNPJvStbSaZAFsoMMzHMdvX4dzlzGzlIw2EcXQ0yAZ2ylwnM4chn0PIPOy7u4cTPfHoR4yROulgOsqdSowP5hBtdoiIjSRrYeGwCmqu4nngbKNI1cS/vPguEnM4xZsTc9NlT0w97SHd1uYuDdbmxtsAAB1ud11ZRg5nOc934nmT5bDyXVWY/LG5fDxTZE3JJ1JuT4r2iLJiIiICIiAiIgIiIClcPd3o5iPv9lFXuk/KQeSRjnN42J2Joyqp9OPKyvyJUHE0bnqJ8xY/ZdnBfu08nl/Dtn8Uym9jmPsCCDNpB5FY1zxSmmQC24a6IBGxW44nh1QcVwzWsLnAHYDm46emvksefjdnpea2d2extFpu1Vb2wrV2CPZvqZoDSBcak7DyXJ/CKuvd/lCtqZDTl1tr3guWT5dnVvxHPhbj2jSHikQZD3TDSASJgG0wNN1t8BicRSd/vGR++em4T5gtDSPRZ/BcM7Ke1LS0ODajSxrgGuEsc1xuIidBpCv8NLCKDxZtmOGwGx/p5cvoI2HAcW2o7Mas7NkRffw8k4xLDDrg+67xN46gKPgKTcgay1odB96d/HkVX4bijg5+FxV8tw7T8rgfhN9dNQd1FT2Yn4HGMwF5FnatJ6deRK5NxAY4l3vAEMETcWuN9Y2idtVBxgLXNzmBBEgWPVpGkzMbGYOhMOtUpmMxqPgRqKYPjGZx/wCoJtdPld2asXywNhvaNzS6SYHZt5k6Alu/gpHHHCmzQEOAbrGUgy10jkZH+IrxhcTSpCWUaTTNiQXuJ096oXGVL4fgKVQZnsa46EXgHUy2YnfrM7rLG77McppmsTh6j4yMc5rhYNlzRAObSwgj0hS6AxQbmMMaIHetUaOcn4TvJ8gtjQw9MuaKgOSRIaALDQADZZvF8Rbi8Q0BgZSbOVm4guAzEXzHuyJ6KWeyy+6qa11RjmUW5yQy41Fy46C2nz8lY1MBWyw6bNHxCZ21M7yrajSawQxoaOQAA+S9rHS9Spw2DqZ3CpLmVWlryXTEix1mxMeqlO4VSzF0HMdb2/X5qYiuk6q91KhdE7ANA2AGgA2C8IiqCIiAiIgIiICIiAiIgIiICIiAiIgtcDUlscvpsvuIbaeV/wBfkoGDrZXX0NlaFbcMtd3n8+GsrPaqrG0QRz3WS40C86QG6D6nxW2qsiR5jw/y/RUfFMHuu7KTPHqjk4srhl0VkcbSJZSpDcl5/M45W+gaFYYmDiMXHu06HZjwz0x/6qLjO7WJ2aW/KF0w4nE4wfjbUaOpBD/o0+q8/LHVevhlKkUWZnU2H++w1MDq9rGkf+LvVSuHYnP/AAn2qMEA/iaP/YfMX5qrpPL8M1zTD8M+J3AnMw+sj/CrKowVQzEMEH4gPhcNf1HQhYti64S2oyYaXAAugamLmOqmcbw7MVhW4mh3nsbmkfFSNzY3lvveGZfeCcQGZsQH6x4RPlf5qiqcWfgsfVJMUBTD2s+EtLnEiOhzNjkAsVQ8FxQ1GOou+IA0idnwXNb4Ou3xcvnCKTapAc9wzaRH4Q4ag9fRRuOUGU67ux/l/wAOpTj8BJiPC7fFqjYfFFpzbgz5teT9CU0ba5/BmsEgl1tXHb6LzhqhYZFy0abvZ/8Apv71UjAY9tRkE6GPJ3un1so1ek8nuAlwJIgEw8agx8Lh9+ayxSrpjw5oc0yCJBVVU4YG1jVaBDpJ6O09DJPipnCMDiM3dov7OoC4tMTTfvbWD03vuVb0eFPe7IcjZmzniY3sJNlnlqxjFEi742iGPcwHMWmCR7s7gb2t6rgtbIREQEREBERAREQEREBERAREQEREBERAREQFZ4StmbG4+myrF7pVC0yFZdNXLx9eP6rGsJ8RoodZuYfvVSg8ESFwrDcef75rs4eTXa+HlcmFveeYyPEuHkEnWd1Wh+Svm/qBPgQM3ylbHFsDgstjsKczjG/0ssuXi23cHL27o3DTkrVWH3HEsPndp8jHkSu3DMf2DnNd7pdB6HY+W/QlQcQDmM7wflH2Xfh/DnYquGSRmguIEmBY+ZtHUhcdxsehOSXys+LYk08r2GC11j5GfJevaar/AG2hQfSY5z3ZmPa0FxBsdtrTfYrQYz2aoUKLQQ/EfxMozugWa6LNibjLBKmYZtYDJh8OKbRMBrIHmXQ2fGIWn6uHy3TDKqHh/shXq029uRSDWltu87JOYT8IgufudRZWjPZnA0iDUcXmZvUJju8qcWgK1ZwSq8TWrZZMlo7x0AvByzbXb6SqXCMOy5DnnXvO3392Foz9Zxzx3bsfS53yquFdixxZTpNcb9/IGwwe6HakkSG6idYFwp7OLFhc4Q4saYaYgmLTyAhfOKcSpMp5KYa2TctEAHkIu5yzTQSc2cOzgjKwyG7y4nbKNtyY1W/HO3HdndzdO8+17T/W9f7SNDGnUkDaBJA5rO/7ec42zCO80Fvdklw96DMXm+hEahUn9vLu72YvlAnZ0Hqfly6qZTYGtDRtcnmTEn0AA6AKzu2W6ffn+5PzREWTAREQEREBERAREQEREBERAREQEREBERAREQEREHSlVI8OX73XZzpuFFX1roWWOWmnl4Zn3nl4rqvrAFWboPTwXB2DB1J/7f16rpw55I4r6fPfhnMVw0veMvIADeZJ+62HstwXsRcAudcnkQRl8hfXU9AuNCkxu21419dvJSnY8xDRlH18Vyep5s8508c/l3+m4JL1ct/hoDjGsEAwodfi45yqJ1QnUryvOx9D+avSy9Z+WJOJ4+c+QNJcRPIageMSRcAxfkqriXEaxgAZpMQ2YBgHUjvWM6RZdcXhG1BDh4EWI8CvNLAtGrnuMzcgA2AJMRJOUfPmunD02GF3I58+fLOaqEwVSD3b9HGY3EkQL8vJc6OFr3AAY0m8ukkXtIkxdXIEL6t+o1bR8Nhct3HM6ImI9ApCIqgiIgIiICIiAiIgIiICIiAiIgIiICIiAiIgIiICIiAiIgIiICIiAiIgIiICIiAiIgIiICIiAiIgIiICIiAiIgIiICIiD/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14" name="AutoShape 2" descr="Resultado de imagen para sistema termodinamic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15" name="14 Rectángulo"/>
          <p:cNvSpPr/>
          <p:nvPr/>
        </p:nvSpPr>
        <p:spPr>
          <a:xfrm>
            <a:off x="533400" y="1676400"/>
            <a:ext cx="8077200" cy="22006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3200" b="1" i="1" dirty="0">
                <a:solidFill>
                  <a:srgbClr val="C00000"/>
                </a:solidFill>
              </a:rPr>
              <a:t>Calor y trabajo</a:t>
            </a:r>
          </a:p>
          <a:p>
            <a:endParaRPr lang="es-CO" dirty="0"/>
          </a:p>
          <a:p>
            <a:r>
              <a:rPr lang="es-CO" sz="2200" dirty="0"/>
              <a:t>Son formas de transferencia de la energía entre el sistema y los alrededores que modifican la energía interna del sistema.</a:t>
            </a:r>
          </a:p>
          <a:p>
            <a:endParaRPr lang="es-CO" dirty="0"/>
          </a:p>
          <a:p>
            <a:pPr algn="ctr"/>
            <a:r>
              <a:rPr lang="es-CO" sz="2500" dirty="0"/>
              <a:t>Calor y trabajo NO son funciones de estado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image04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699250" y="3322637"/>
            <a:ext cx="2368550" cy="3230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179388" y="506790"/>
            <a:ext cx="6553200" cy="2677656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/>
            <a:r>
              <a:rPr lang="es-ES" sz="2400" dirty="0"/>
              <a:t>Joule comprobó en un experimento célebre que se podía obtener el mismo incremento de temperatura de una masa de agua calentando (aportando calor al sistema), o bien agitando dicha masa de agua mediante unas paletas, pero sin calentar (es decir realizando trabajo sin aportar calor).</a:t>
            </a:r>
          </a:p>
        </p:txBody>
      </p:sp>
      <p:pic>
        <p:nvPicPr>
          <p:cNvPr id="6" name="Picture 7" descr="Joule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88162" y="679450"/>
            <a:ext cx="1874838" cy="252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250825" y="4754940"/>
            <a:ext cx="6481763" cy="156966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anchor="t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s-ES" sz="2400" dirty="0"/>
              <a:t>Ello demuestra que se puede modificar la energía interna de un sistema, (pasar de un estado E1 a un estado E2), mediante intercambios de calor o intercambios de trabajo. </a:t>
            </a:r>
            <a:endParaRPr lang="es-ES" sz="2400" dirty="0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1143000"/>
            <a:ext cx="7924800" cy="1285875"/>
          </a:xfrm>
          <a:prstGeom prst="rect">
            <a:avLst/>
          </a:prstGeom>
          <a:ln/>
        </p:spPr>
        <p:txBody>
          <a:bodyPr anchor="ctr"/>
          <a:lstStyle/>
          <a:p>
            <a:pPr marL="0" indent="0" algn="ctr">
              <a:lnSpc>
                <a:spcPct val="85000"/>
              </a:lnSpc>
              <a:spcBef>
                <a:spcPct val="0"/>
              </a:spcBef>
              <a:buClr>
                <a:srgbClr val="CC9900"/>
              </a:buClr>
              <a:buFont typeface="Tahoma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MX" sz="3500" b="1" i="1">
                <a:solidFill>
                  <a:srgbClr val="C00000"/>
                </a:solidFill>
              </a:rPr>
              <a:t>LA PRIMERA LEY DE LA TERMODINÁMICA:</a:t>
            </a:r>
          </a:p>
        </p:txBody>
      </p:sp>
      <p:sp>
        <p:nvSpPr>
          <p:cNvPr id="6" name="Text Box 15"/>
          <p:cNvSpPr txBox="1">
            <a:spLocks noChangeArrowheads="1"/>
          </p:cNvSpPr>
          <p:nvPr/>
        </p:nvSpPr>
        <p:spPr bwMode="auto">
          <a:xfrm>
            <a:off x="685801" y="2743200"/>
            <a:ext cx="7924800" cy="646331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39725" indent="-339725">
              <a:spcBef>
                <a:spcPts val="2100"/>
              </a:spcBef>
              <a:buClr>
                <a:srgbClr val="FFFFFF"/>
              </a:buClr>
              <a:buSzPts val="2800"/>
              <a:buFont typeface="Tahoma" pitchFamily="34" charset="0"/>
              <a:buChar char="•"/>
            </a:pPr>
            <a:r>
              <a:rPr lang="es-MX">
                <a:solidFill>
                  <a:schemeClr val="tx1"/>
                </a:solidFill>
              </a:rPr>
              <a:t>La entrada neta de calor en un sistema es igual al cambio en energía interna del sistema más el trabajo realizado POR el sistema.</a:t>
            </a:r>
          </a:p>
        </p:txBody>
      </p:sp>
      <p:grpSp>
        <p:nvGrpSpPr>
          <p:cNvPr id="7" name="Group 16"/>
          <p:cNvGrpSpPr>
            <a:grpSpLocks/>
          </p:cNvGrpSpPr>
          <p:nvPr/>
        </p:nvGrpSpPr>
        <p:grpSpPr bwMode="auto">
          <a:xfrm>
            <a:off x="838200" y="3810000"/>
            <a:ext cx="7507705" cy="587375"/>
            <a:chOff x="720" y="2208"/>
            <a:chExt cx="4320" cy="370"/>
          </a:xfrm>
        </p:grpSpPr>
        <p:sp>
          <p:nvSpPr>
            <p:cNvPr id="8" name="AutoShape 17"/>
            <p:cNvSpPr>
              <a:spLocks noChangeArrowheads="1"/>
            </p:cNvSpPr>
            <p:nvPr/>
          </p:nvSpPr>
          <p:spPr bwMode="auto">
            <a:xfrm>
              <a:off x="720" y="2208"/>
              <a:ext cx="4320" cy="370"/>
            </a:xfrm>
            <a:prstGeom prst="roundRect">
              <a:avLst>
                <a:gd name="adj" fmla="val 269"/>
              </a:avLst>
            </a:prstGeom>
            <a:ln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s-CO"/>
            </a:p>
          </p:txBody>
        </p:sp>
        <p:sp>
          <p:nvSpPr>
            <p:cNvPr id="9" name="Text Box 18"/>
            <p:cNvSpPr txBox="1">
              <a:spLocks noChangeArrowheads="1"/>
            </p:cNvSpPr>
            <p:nvPr/>
          </p:nvSpPr>
          <p:spPr bwMode="auto">
            <a:xfrm>
              <a:off x="720" y="2208"/>
              <a:ext cx="4320" cy="366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lIns="90000" tIns="46800" rIns="90000" bIns="46800">
              <a:spAutoFit/>
            </a:bodyPr>
            <a:lstStyle/>
            <a:p>
              <a:pPr algn="ctr">
                <a:spcBef>
                  <a:spcPts val="1875"/>
                </a:spcBef>
              </a:pPr>
              <a:r>
                <a:rPr lang="es-MX" sz="3000">
                  <a:solidFill>
                    <a:srgbClr val="000000"/>
                  </a:solidFill>
                  <a:latin typeface="Symbol" pitchFamily="18" charset="2"/>
                </a:rPr>
                <a:t></a:t>
              </a:r>
              <a:r>
                <a:rPr lang="es-MX" sz="3000">
                  <a:solidFill>
                    <a:srgbClr val="000000"/>
                  </a:solidFill>
                </a:rPr>
                <a:t>Q = </a:t>
              </a:r>
              <a:r>
                <a:rPr lang="es-MX" sz="3000">
                  <a:solidFill>
                    <a:srgbClr val="000000"/>
                  </a:solidFill>
                  <a:latin typeface="Symbol" pitchFamily="18" charset="2"/>
                </a:rPr>
                <a:t></a:t>
              </a:r>
              <a:r>
                <a:rPr lang="es-MX" sz="3000">
                  <a:solidFill>
                    <a:srgbClr val="000000"/>
                  </a:solidFill>
                </a:rPr>
                <a:t>U + </a:t>
              </a:r>
              <a:r>
                <a:rPr lang="es-MX" sz="3000">
                  <a:solidFill>
                    <a:srgbClr val="000000"/>
                  </a:solidFill>
                  <a:latin typeface="Symbol" pitchFamily="18" charset="2"/>
                </a:rPr>
                <a:t></a:t>
              </a:r>
              <a:r>
                <a:rPr lang="es-MX" sz="3000">
                  <a:solidFill>
                    <a:srgbClr val="000000"/>
                  </a:solidFill>
                </a:rPr>
                <a:t>W      </a:t>
              </a:r>
              <a:r>
                <a:rPr lang="es-MX" sz="3000">
                  <a:solidFill>
                    <a:srgbClr val="000000"/>
                  </a:solidFill>
                  <a:latin typeface="Symbol" pitchFamily="18" charset="2"/>
                </a:rPr>
                <a:t></a:t>
              </a:r>
              <a:r>
                <a:rPr lang="es-MX" sz="3000">
                  <a:solidFill>
                    <a:srgbClr val="000000"/>
                  </a:solidFill>
                </a:rPr>
                <a:t>final - inicial)</a:t>
              </a:r>
              <a:endParaRPr lang="es-MX"/>
            </a:p>
          </p:txBody>
        </p:sp>
      </p:grpSp>
      <p:sp>
        <p:nvSpPr>
          <p:cNvPr id="10" name="Text Box 19"/>
          <p:cNvSpPr txBox="1">
            <a:spLocks noChangeArrowheads="1"/>
          </p:cNvSpPr>
          <p:nvPr/>
        </p:nvSpPr>
        <p:spPr bwMode="auto">
          <a:xfrm>
            <a:off x="762000" y="4876800"/>
            <a:ext cx="7924799" cy="64851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0000" tIns="46800" rIns="90000" bIns="46800">
            <a:spAutoFit/>
          </a:bodyPr>
          <a:lstStyle/>
          <a:p>
            <a:pPr marL="339725" indent="-339725">
              <a:spcBef>
                <a:spcPts val="2100"/>
              </a:spcBef>
              <a:buClr>
                <a:srgbClr val="FFFFFF"/>
              </a:buClr>
              <a:buSzPts val="2800"/>
              <a:buFont typeface="Tahoma" pitchFamily="34" charset="0"/>
              <a:buChar char="•"/>
            </a:pPr>
            <a:r>
              <a:rPr lang="es-MX" dirty="0"/>
              <a:t>Por el contrario, el trabajo realizado </a:t>
            </a:r>
            <a:r>
              <a:rPr lang="es-MX" dirty="0">
                <a:solidFill>
                  <a:srgbClr val="C00000"/>
                </a:solidFill>
              </a:rPr>
              <a:t>SOBRE</a:t>
            </a:r>
            <a:r>
              <a:rPr lang="es-MX" dirty="0"/>
              <a:t> un sistema es igual al cambio en energía interna más la pérdida de calor en el proceso.</a:t>
            </a:r>
          </a:p>
        </p:txBody>
      </p:sp>
      <p:sp>
        <p:nvSpPr>
          <p:cNvPr id="14" name="Text Box 8"/>
          <p:cNvSpPr txBox="1">
            <a:spLocks noChangeArrowheads="1"/>
          </p:cNvSpPr>
          <p:nvPr/>
        </p:nvSpPr>
        <p:spPr bwMode="auto">
          <a:xfrm>
            <a:off x="6416675" y="0"/>
            <a:ext cx="1584325" cy="7052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s-CO" sz="1400" dirty="0">
                <a:solidFill>
                  <a:schemeClr val="bg1"/>
                </a:solidFill>
              </a:rPr>
              <a:t>Pedro Alvarado</a:t>
            </a:r>
          </a:p>
          <a:p>
            <a:pPr>
              <a:lnSpc>
                <a:spcPct val="150000"/>
              </a:lnSpc>
            </a:pPr>
            <a:endParaRPr lang="es-ES" sz="1400" dirty="0">
              <a:solidFill>
                <a:schemeClr val="bg1"/>
              </a:solidFill>
            </a:endParaRPr>
          </a:p>
        </p:txBody>
      </p:sp>
      <p:pic>
        <p:nvPicPr>
          <p:cNvPr id="15" name="14 Imagen" descr="http://biblioteca.itm.edu.co/Documentos/ovas/OVA-funcion-lineal/objeto6/docs/img_creditos/LogoITM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524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AutoShape 4" descr="Resultado de imagen para turbin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17" name="AutoShape 6" descr="Resultado de imagen para turbin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18" name="AutoShape 8" descr="Resultado de imagen para turbin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19" name="AutoShape 10" descr="data:image/jpeg;base64,/9j/4AAQSkZJRgABAQAAAQABAAD/2wCEAAkGBxMTEhMUEhMVFBUUFxcYGBgYFxUZGBoZHhgYGhcfGxobHiggHholHxccITEkJSkrMC4uHB8zODMsNygtLisBCgoKDg0OGhAQGywkHCY0LCwsLC8sLCwsNCwsLCwsLCwsLCwsLCwsLCwsLCwsLCwsNSwvLCwsLCwsLCwsLCwsLP/AABEIAK0BIwMBIgACEQEDEQH/xAAbAAEAAwEBAQEAAAAAAAAAAAAABAUGAwIBB//EAEMQAAEDAgQDBQYEAwUIAwEAAAEAAhEDIQQSMUEFUWETInGBkQYyQqGxwVJy0fAjM2IUQ4Lh8RUkU3OSorLCY3TSB//EABkBAQEAAwEAAAAAAAAAAAAAAAABAgMEBf/EACgRAQEAAgEDAwIHAQAAAAAAAAABAhEDEiExBEFREyIyUmFxgZGhM//aAAwDAQACEQMRAD8A+oiICIiAiIgIiICIiAiL6QRqg+IiICKXheF1qhhlMnvAG+k3kxMCOasX+y2KbBFLOTPdD2gdCXHTwAPkro2o0Wsw3DMMaooupVgYMuLXZJiYzEiT+WV74n7Isa0Op1mtnTORlJmwBkEct/BNJtkEXH+1s7TsxcjN3gWFpgbQTZdlFEREBERAREQEXptMkEgWbqdh58+Q1OykNw7SCQ7ugd5/wjoPxHUdCggYquGNLjoI+Zj7rzhcSHmBHS9yNoGvrCrfabEACm1pDg7M42IIiWtkG4vPoo3BMU6SKRu1pcAY192OehmxmyitEi9VBBPiV5VQREQEREBERAREQEREBERAXcUmiMx1E225KFij3Y52289dV1LJABmJFySDbX18ELZPKQcgOhItrM/ay+Meb5Wg/wCGYXGiWNMw0mIvPXp4fPmrvhvEQYDmMIJhsCCdtdCZ2stefXJuTZhycdurdINLC1jpmA8f0UjCcCfeXS07HY82nadwtE7E02iYnpofOVxp8SL3EUoMC+51tfSNdlzTLnz8TTq1w4++0WhwBu4lSDwfDgw5rJMmLT1t5rjxCpXawksq1AZnswHHwgEGNtNlhsf7cOL8lKlJBh3aOgi4nuDfxPJWcGe95Z/0xvLhZqY/22xo4YEmmYLSRLJBBGtxdd6ftWcPZ7zVbcNDrvBH9Q1t+K/VZzAPmnEz2meYAEVMxfoNJn5qv4w8EF3Msqevdf8ANdctk15cv0sZl1Tt+nssOKf/ANDr1YbTaGNcSJ0I8IMh285lSYSu55rmq5zywUsrnEucJcZ7xkz3RvdVTB32jk8qbgnkVK4G9IHzDx+pUbYk8D9+sPE+n+qsFX8E/m1esj7/AGVgrEyERFWIiKThsG5xbYjN7oALnu/K3UjqYbrdBHY0kgAEk6AXJ8lNoYGxc8gNb7xLstNv56nP+lkuPQrhj+K0MMC3+Y/QsY6Widq1Zuv5GQLXMrOcdxtWo/JWe0lshrG92m0SRDGgDlrHjMq9oaW2N9qabTlwuVzhpVeGgM/5VMnu/mMuPRVmCxuQu97+IH5xm99zjLnwY70/ENL3UHD03OJBJs0kD3eQEzBi/wCEg81bYDAhjgKhdRc6Cx8NyE696BpfbS3nPK+A8PpVWlzGucBEvDpjxuXR1iIm6Yn2YcB2jA2qw5C0h2jhVYSJdGUkBwm243hXlKmXvLQBQx1IZmkWZXb9LgfKdiGyMFjwAa7GQ2cmKoR7p0zhp22+R0MXSbQK2Hptux73EkyCZb8/suasOL4AUyHMvSqXYddpifpOxG8qvUBERAREQEREBERAREQEReqbJMc0LdPbKM6+nX9F6qM9VMbTUd95PP6bfvqt/Fh1V53Ny3y4HDktJFgLE/vdSMF3MOI5mOev6qPgKhitOhykfMH7Ke2hNGmB8Ux5uP6qc2Vt06PT4THHfussJQigCdSJ9b/RSuEYTsmF29QyfD4fufNTMRQBcymNPt/oFG49i8oDWjvGAAPQLQ7EjB44vqZBtcnkFS+1/AXVWZ2htSowgtdHfiYcOZEHTmAYsrvhWE7FkTL3XeeZ5eA/eq+Y/iTR3Rd50j96oj8/pYo+DiYPSo27fUWUbH1g4GNDMfleMzfR7SFo/afB9yo57C2oGlwcNSWiRfR0fLosOKdWsYaCOgEm5DvSZjxTQ80bvBkXLTqOX6qZRaO1q/8AJP8A5tXGvgxQGapVaHN73Z5ml7oMwGjTXddH5hUig6dWue0NjX3czgRMi4EwdVBI4fmbUqP2YS53MCCJI1HpsrDgT6mIa57KcUxo99mn8u7vK3VV+F4i3Dtq1nmXCo+m8d6MwdmpgXAgAmI0k7lccf7Xvrdm1pLWCZB7zokRpAIgn3gDYXMrDLHbbhn0d5O/z5XIdL8pqMIMwdBbW/qu7KAIs9s/mb577fPa5hUOGJGUuq9lUJMkyBsPeE6AxEGLabdKfEnsJaHB1Rxzsc54DTtLSQBeIvCyxkxmpGGdyzvVbutM3DNptzuDiBuKbqjieTKQH/dUgcmyqTi3GKzmPDab6DHatJirUM27Wo+CR/SLdBquOP4jiXspPbVfTLpY4ZzJewgENMgNkEW+UKJVFc5XuqEESJqOc33hBymJ0OtiOlis7WGnAQQAHsZYmJOWefzHXrdesPg21peZc6AJ3gaXd4/vVXXCOHuqsJZRotcGAuqODnFzQ4tIbIsRlBta8wVWU8VUa2swsyvphzmzBzAjuutbLYjyItECK68OpU2OINIOa0kEdJykg7GRr9Fb1KbGAMec+Gre486sdexOxF/n/UD+ct4jiaeJa9jg6wzBxsdZknQ9dL8l+i8PqU6rMv8AdYiw/wDjqjSPP7LKMa5ilUdNAn/eMP36Dxq9o+G/ONDoRf3TPf8A2i0dljmjuP8A4WKZtexJH6/0j4iold7+zFT+/wAG/K6/vMmPEiPkHndTsJSY7EVKM/weIUjUZ/TUiXRyOrvHLqqi+weDGWphCZaRnoOPLVpnoTB6OPNZlzSCQRBFiOR3UvhONcMNTe7+Zgqxo1B/QDl57Alo1+LfSV7T4fLWLhpUAf56O9SJ81iqpREQEREBERAREQEREBS8AySTyURWXDm90nr9grGrmusXWsIafT1soGJqhsZvdkA+CsMToOp+xP2VRxRsiBuuzhn2WvMz3c5E2nSu8Dl91bYWl/Dw52Dmz5PUHhQGdk/GzL5wD9QrZgDQaLrF0lnU7jx3XO9TFaYW9d07NJHqB91HNEGsajvgs3xO/kPquvD3l4J0rMEPHOdCOhj1BVNU4kezrTZ1N1/Ajun5H0Wqt3skcQ4g4uFKiM1R2gG3MnkOqs+DcCbT7zznqHVx0HRo2HXU/JReB4cUaQe7+ZUAc8nUA3DfAfWeig8T4/fKHa2AGp9FP2E3jLGjNTfD2nUa/wChWH4h7PdpA7eqWXloIaOksYGtPpstIMJiHDM6mabT+Ox/6dfUKPiqBZBmWkxmGx6jY8ucJCsNxHg5wlFzqbGOY735BdlEkTqI8QLSZhaLG0yGnugFl4Glth0VsJvP+LcdD4beEFRMVSh0jeZ8d0sJWY9oKLGsuwtz1XHNL3SS0RDQ2IcGTrHeVNheH5KjCzOQ6SZHuQNpIcTOkDkVr8bh2PNJhpsuASYILjL6YzQRmAa0e9P0RuEaxuXLNOQYicpI+uV3zhNG2dbgWF1TvFxIeGOhoYSNJuSNbEi8LjJewNHaONId0iTI/DOWMoOhnUla4UGzoDyPP9D1CkUcMCdLfQn7HcfsXpTbJkva2HBlJgyuhx77zmDX5R7pcA1zi0SYIiSuLX0ZFUuqOOQZWmWDNlvfcEiwvrFlucRwllVmVwHiQHQdJ8RpOseCtuDeyOGLO0LG5ySHWl2YG8k3Pir0ptkvZ6s6IJkWiHSBYb+R3sZI0gzONcLLqXcJDgZYZiHwbGPxCR0cOi0fEOCNa4OYAAbO8OflEqM6lIe0m5ZmF9wYPnIafMq9h+UN4NUcC2mABMWa0E3PIxpFp3C03srgHszUDIztLmdHsvbrbRXb+J0acSACdb84Fzt3iFUN9pGHFUnNAgVWm3Iw0+pJUGgcwOr0XkHJi6Rp1B/UBvblLdOflU0y9mFpuN6mAxYHxXaXwQLfE4gRuArLiNYCkDP8nFAieU5ieW/+iiYkjPxJkCHsbUiLS1od4ayoLarhAMbjaQ93FUBUbrGZum0a5jryTHVBVwWFqTJb3CbHYjYn/h891wZiv4vDas97szTOl4pkH5umy90z/ulVl/4dQgTOzmxr0d0RVUiIiCIiAiIgIiICIiArXAjuDxP1VUrXBHuDz+qyx8tHqPwmKd7vn9FWVa8PAOjreB2/RT8Y73fH7H9FS8QvELs4/wDm87v9WVeYYBzI0LTbnzBXV/EmGKWMBaHWZW0aDtP4TMd7TwXOAabXssSNtjuPVZTj3tRVYHUKtNlWW92e65p2JixHS3iua+dvSxrbn2hZhXsOKqBtSk4Mc7/i0XWzADVwgEgbtH4lS4rjeHr1anYVJFVtQZdHd05mkt27s6r8zr4eu/vvJMAASZho0A5AclywjqjCS1zmm4OVxBM63Gyxs34bJlp+01cY/FGlTpHKXsa5zvwNyguMecRzIVthaNDCD+GJedXuu8+ew6CAvz72U4xlJc1r2sp0W08zzmzGW/EAJPck+KtW1cTiO/TaAw6Oe7KD4WJI6wtVns2ytHiuNl2qq6mK13BsRsQuWF4U7+9qt8GyfmY+imuwtIQDpuTJ+46qzSXbnSAc23eyiRzy7gwNRYza3oqvi9V1MEtgzYTABOrLkgAkWkk6WBJVycK2mZGkg3i7SNQD4mDB0XGrRbMPmAY5Hm03vaSNDYlVGH4lxp5awspuFRrBYwWyXuzCRckEkaC4Vth8ZnpseQQKgNiJIM94Abum88ssK4xXGMHTZEMJIIMGZPoL67BZXBccD8zWtblFW0gm5aJ0IOwtPkg0OEoE5LENqAwYcIPmOk+EBTcPYAkRaDpqDymxiR4DqqTDcTJaLt7rjlNpAyiwLu8BtEjlfRfTjWzr8UCLDQ/qmzTUms0bzqN9QfDlGnJTOFcYDS8SAO6Z8o+3zWMHFQOWxnxdA+iz2M4hUe+GVGw7KMlpy5c0yJkwG2tbMpsb7j3tA1zXU2Ol52Gov00UAY2QCT8TvTuFZ+pToBhb/Z3ZzoS4hsxEkSAR0i/nK9UWue3JT7z2WgToZ8hAt5DSbhW8ToueXEOENPmG9JFjccrQbzCo8KGDFUmBvfL2mziZ5kzO08tFqGYXsnPNZwlwEtJZYaFpDSTEGLleqPCKFN7KjDdpOUnaYIvrz1nXxQW3FHTSrdagb5wBpovmKdNbF/8A13g6/hBGvQqM+uHdkwb1M7vIfWPoF4q4kZcVU/ERTbG+xj/DBVFhhXSeHC9y92/Jp+k6/qrfhLWOo187srTVeZ8Cw262Pz11VRTIZWpDbCYcuP5i3LG2tjt8rSsO3LhKYJ94yfE3Hn3vkoqNUiTlmNp1jr1Xld6zGNbTg5nPGaNMrOfOTsuCSpYIiKoIiICIiAiIgKzwTu55n9fuqxTsAe64eB+v6K4+Wnnn2OPEKmnQ/wCX3VW+tBkiQrDHjX19Lqvqs1Xbxd8bHnZXWUpjMc6jTe9riGgFx0INtptJWGp4wvqF1Qy5xknnyHkNlrcVgnYii7DB7aZqQGPcSAHZgWtJ5OIy+e+iwdHDvpveyoIcxzmm9g5riDcdQVzcl1dPS4pubX1fEF1vkmH4ZUfo0rvw7EURGYhavC+0+FpNgZZWP1Phn9NT4PgtVog1DSYbm9ifDSYm/gtCOJ1H92k0OA5OZAHroqTiftjSqd3KXDk0kHyIULhftTQacrKRcXHVwYT6yfstdu+7OTTXYRlaoR3qYn+omPQK5xPAsQwTmpvGUOs4gxf8QA258lm+HcVZ2ga2kGvdoGtbOkn3dFoXcULgWyQcsRf5gornhq5bNGq1zHOb3Zm4uYESDqYjc9VFxdSR+ZrOm46DmveKaCBIbF/dEcvQ6X/RQcQ+zeeVp25tPTkiMvwbDVHua+q7uEimBAInMRm7xdMGPQ2XbiOBLh2jAM7CQ9oHvcnRubX/AMlY8XexlMUphwETrHM2AVFxStVD6jKdQ1Gnsw0huUPIaYs74vevAMtEaBXweXVsgNLiQZLHDUkmTqN+ZPjyXLE4ltOm0ukycoJMghrjBIAjWLAyZjaV84bUo1I7V1SGS45IaItOaxNhPLddKeEL89IU+7TqOGUHQQ03M5vLobSFFcW12SwvaHNc4h7HEkNpmSTe06Ni2ql8RFWllAcMknK7u3A7wJy3jW0WsvL8EwUy0kEMc0ZZa2xGUm4IMRfwJFzCl8HfUa5rS60QyZtM92Y93aD1veFBT4rGw4gy3KQRlHeuZnOG6i/O3Iq64RhS1jmS0udBcO0yv2MguBB1mLKyxuM7MF76VENbEuNKmYG5s0lZvH4ik+qQQ99Rzsw2p3Etc4Ag2bAjYeJRXdvCzAtUeQTLC1rTBIklpJLpEjuk6aLlUrOe+HAgMIETckXIg7g92SYG6kcP9mWnLinve2XQxlv4gaIcSdm2AtqZiIU9/DaZ2j99dfNPJvStbSaZAFsoMMzHMdvX4dzlzGzlIw2EcXQ0yAZ2ylwnM4chn0PIPOy7u4cTPfHoR4yROulgOsqdSowP5hBtdoiIjSRrYeGwCmqu4nngbKNI1cS/vPguEnM4xZsTc9NlT0w97SHd1uYuDdbmxtsAAB1ud11ZRg5nOc934nmT5bDyXVWY/LG5fDxTZE3JJ1JuT4r2iLJiIiICIiAiIgIiIClcPd3o5iPv9lFXuk/KQeSRjnN42J2Joyqp9OPKyvyJUHE0bnqJ8xY/ZdnBfu08nl/Dtn8Uym9jmPsCCDNpB5FY1zxSmmQC24a6IBGxW44nh1QcVwzWsLnAHYDm46emvksefjdnpea2d2extFpu1Vb2wrV2CPZvqZoDSBcak7DyXJ/CKuvd/lCtqZDTl1tr3guWT5dnVvxHPhbj2jSHikQZD3TDSASJgG0wNN1t8BicRSd/vGR++em4T5gtDSPRZ/BcM7Ke1LS0ODajSxrgGuEsc1xuIidBpCv8NLCKDxZtmOGwGx/p5cvoI2HAcW2o7Mas7NkRffw8k4xLDDrg+67xN46gKPgKTcgay1odB96d/HkVX4bijg5+FxV8tw7T8rgfhN9dNQd1FT2Yn4HGMwF5FnatJ6deRK5NxAY4l3vAEMETcWuN9Y2idtVBxgLXNzmBBEgWPVpGkzMbGYOhMOtUpmMxqPgRqKYPjGZx/wCoJtdPld2asXywNhvaNzS6SYHZt5k6Alu/gpHHHCmzQEOAbrGUgy10jkZH+IrxhcTSpCWUaTTNiQXuJ096oXGVL4fgKVQZnsa46EXgHUy2YnfrM7rLG77McppmsTh6j4yMc5rhYNlzRAObSwgj0hS6AxQbmMMaIHetUaOcn4TvJ8gtjQw9MuaKgOSRIaALDQADZZvF8Rbi8Q0BgZSbOVm4guAzEXzHuyJ6KWeyy+6qa11RjmUW5yQy41Fy46C2nz8lY1MBWyw6bNHxCZ21M7yrajSawQxoaOQAA+S9rHS9Spw2DqZ3CpLmVWlryXTEix1mxMeqlO4VSzF0HMdb2/X5qYiuk6q91KhdE7ANA2AGgA2C8IiqCIiAiIgIiICIiAiIgIiICIiAiIgtcDUlscvpsvuIbaeV/wBfkoGDrZXX0NlaFbcMtd3n8+GsrPaqrG0QRz3WS40C86QG6D6nxW2qsiR5jw/y/RUfFMHuu7KTPHqjk4srhl0VkcbSJZSpDcl5/M45W+gaFYYmDiMXHu06HZjwz0x/6qLjO7WJ2aW/KF0w4nE4wfjbUaOpBD/o0+q8/LHVevhlKkUWZnU2H++w1MDq9rGkf+LvVSuHYnP/AAn2qMEA/iaP/YfMX5qrpPL8M1zTD8M+J3AnMw+sj/CrKowVQzEMEH4gPhcNf1HQhYti64S2oyYaXAAugamLmOqmcbw7MVhW4mh3nsbmkfFSNzY3lvveGZfeCcQGZsQH6x4RPlf5qiqcWfgsfVJMUBTD2s+EtLnEiOhzNjkAsVQ8FxQ1GOou+IA0idnwXNb4Ou3xcvnCKTapAc9wzaRH4Q4ag9fRRuOUGU67ux/l/wAOpTj8BJiPC7fFqjYfFFpzbgz5teT9CU0ba5/BmsEgl1tXHb6LzhqhYZFy0abvZ/8Apv71UjAY9tRkE6GPJ3un1so1ek8nuAlwJIgEw8agx8Lh9+ayxSrpjw5oc0yCJBVVU4YG1jVaBDpJ6O09DJPipnCMDiM3dov7OoC4tMTTfvbWD03vuVb0eFPe7IcjZmzniY3sJNlnlqxjFEi742iGPcwHMWmCR7s7gb2t6rgtbIREQEREBERAREQEREBERAREQEREBERAREQFZ4StmbG4+myrF7pVC0yFZdNXLx9eP6rGsJ8RoodZuYfvVSg8ESFwrDcef75rs4eTXa+HlcmFveeYyPEuHkEnWd1Wh+Svm/qBPgQM3ylbHFsDgstjsKczjG/0ssuXi23cHL27o3DTkrVWH3HEsPndp8jHkSu3DMf2DnNd7pdB6HY+W/QlQcQDmM7wflH2Xfh/DnYquGSRmguIEmBY+ZtHUhcdxsehOSXys+LYk08r2GC11j5GfJevaar/AG2hQfSY5z3ZmPa0FxBsdtrTfYrQYz2aoUKLQQ/EfxMozugWa6LNibjLBKmYZtYDJh8OKbRMBrIHmXQ2fGIWn6uHy3TDKqHh/shXq029uRSDWltu87JOYT8IgufudRZWjPZnA0iDUcXmZvUJju8qcWgK1ZwSq8TWrZZMlo7x0AvByzbXb6SqXCMOy5DnnXvO3392Foz9Zxzx3bsfS53yquFdixxZTpNcb9/IGwwe6HakkSG6idYFwp7OLFhc4Q4saYaYgmLTyAhfOKcSpMp5KYa2TctEAHkIu5yzTQSc2cOzgjKwyG7y4nbKNtyY1W/HO3HdndzdO8+17T/W9f7SNDGnUkDaBJA5rO/7ec42zCO80Fvdklw96DMXm+hEahUn9vLu72YvlAnZ0Hqfly6qZTYGtDRtcnmTEn0AA6AKzu2W6ffn+5PzREWTAREQEREBERAREQEREBERAREQEREBERAREQEREHSlVI8OX73XZzpuFFX1roWWOWmnl4Zn3nl4rqvrAFWboPTwXB2DB1J/7f16rpw55I4r6fPfhnMVw0veMvIADeZJ+62HstwXsRcAudcnkQRl8hfXU9AuNCkxu21419dvJSnY8xDRlH18Vyep5s8508c/l3+m4JL1ct/hoDjGsEAwodfi45yqJ1QnUryvOx9D+avSy9Z+WJOJ4+c+QNJcRPIageMSRcAxfkqriXEaxgAZpMQ2YBgHUjvWM6RZdcXhG1BDh4EWI8CvNLAtGrnuMzcgA2AJMRJOUfPmunD02GF3I58+fLOaqEwVSD3b9HGY3EkQL8vJc6OFr3AAY0m8ukkXtIkxdXIEL6t+o1bR8Nhct3HM6ImI9ApCIqgiIgIiICIiAiIgIiICIiAiIgIiICIiAiIgIiICIiAiIgIiICIiAiIgIiICIiAiIgIiICIiAiIgIiICIiAiIgIiICIiD/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21" name="AutoShape 2" descr="Resultado de imagen para sistema termodinamic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1"/>
          <p:cNvGrpSpPr>
            <a:grpSpLocks/>
          </p:cNvGrpSpPr>
          <p:nvPr/>
        </p:nvGrpSpPr>
        <p:grpSpPr bwMode="auto">
          <a:xfrm>
            <a:off x="6477000" y="3267075"/>
            <a:ext cx="2057400" cy="2744787"/>
            <a:chOff x="4224" y="1920"/>
            <a:chExt cx="1296" cy="1729"/>
          </a:xfrm>
        </p:grpSpPr>
        <p:sp>
          <p:nvSpPr>
            <p:cNvPr id="23570" name="AutoShape 33" descr="Solid diamond"/>
            <p:cNvSpPr>
              <a:spLocks noChangeArrowheads="1"/>
            </p:cNvSpPr>
            <p:nvPr/>
          </p:nvSpPr>
          <p:spPr bwMode="auto">
            <a:xfrm>
              <a:off x="4397" y="2573"/>
              <a:ext cx="864" cy="940"/>
            </a:xfrm>
            <a:prstGeom prst="roundRect">
              <a:avLst>
                <a:gd name="adj" fmla="val 208"/>
              </a:avLst>
            </a:prstGeom>
            <a:pattFill prst="solidDmnd">
              <a:fgClr>
                <a:srgbClr val="66FFFF"/>
              </a:fgClr>
              <a:bgClr>
                <a:schemeClr val="bg1"/>
              </a:bgClr>
            </a:pattFill>
            <a:ln w="9398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CO"/>
            </a:p>
          </p:txBody>
        </p:sp>
        <p:sp>
          <p:nvSpPr>
            <p:cNvPr id="23571" name="Line 34"/>
            <p:cNvSpPr>
              <a:spLocks noChangeShapeType="1"/>
            </p:cNvSpPr>
            <p:nvPr/>
          </p:nvSpPr>
          <p:spPr bwMode="auto">
            <a:xfrm>
              <a:off x="4224" y="1968"/>
              <a:ext cx="2" cy="16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3572" name="Line 35"/>
            <p:cNvSpPr>
              <a:spLocks noChangeShapeType="1"/>
            </p:cNvSpPr>
            <p:nvPr/>
          </p:nvSpPr>
          <p:spPr bwMode="auto">
            <a:xfrm>
              <a:off x="5434" y="1968"/>
              <a:ext cx="1" cy="16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3573" name="Line 36"/>
            <p:cNvSpPr>
              <a:spLocks noChangeShapeType="1"/>
            </p:cNvSpPr>
            <p:nvPr/>
          </p:nvSpPr>
          <p:spPr bwMode="auto">
            <a:xfrm>
              <a:off x="4224" y="3648"/>
              <a:ext cx="1296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3574" name="AutoShape 37"/>
            <p:cNvSpPr>
              <a:spLocks noChangeArrowheads="1"/>
            </p:cNvSpPr>
            <p:nvPr/>
          </p:nvSpPr>
          <p:spPr bwMode="auto">
            <a:xfrm>
              <a:off x="4397" y="2505"/>
              <a:ext cx="864" cy="336"/>
            </a:xfrm>
            <a:prstGeom prst="roundRect">
              <a:avLst>
                <a:gd name="adj" fmla="val 417"/>
              </a:avLst>
            </a:prstGeom>
            <a:solidFill>
              <a:srgbClr val="CC9900"/>
            </a:solidFill>
            <a:ln w="936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CO"/>
            </a:p>
          </p:txBody>
        </p:sp>
        <p:sp>
          <p:nvSpPr>
            <p:cNvPr id="23575" name="AutoShape 38"/>
            <p:cNvSpPr>
              <a:spLocks noChangeArrowheads="1"/>
            </p:cNvSpPr>
            <p:nvPr/>
          </p:nvSpPr>
          <p:spPr bwMode="auto">
            <a:xfrm>
              <a:off x="4742" y="1920"/>
              <a:ext cx="154" cy="585"/>
            </a:xfrm>
            <a:prstGeom prst="roundRect">
              <a:avLst>
                <a:gd name="adj" fmla="val 1042"/>
              </a:avLst>
            </a:prstGeom>
            <a:solidFill>
              <a:srgbClr val="CC9900"/>
            </a:solidFill>
            <a:ln w="9360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s-CO"/>
            </a:p>
          </p:txBody>
        </p:sp>
        <p:sp>
          <p:nvSpPr>
            <p:cNvPr id="23576" name="Line 39"/>
            <p:cNvSpPr>
              <a:spLocks noChangeShapeType="1"/>
            </p:cNvSpPr>
            <p:nvPr/>
          </p:nvSpPr>
          <p:spPr bwMode="auto">
            <a:xfrm>
              <a:off x="4397" y="1968"/>
              <a:ext cx="2" cy="537"/>
            </a:xfrm>
            <a:prstGeom prst="line">
              <a:avLst/>
            </a:prstGeom>
            <a:noFill/>
            <a:ln w="936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3577" name="Rectangle 40"/>
            <p:cNvSpPr>
              <a:spLocks noChangeArrowheads="1"/>
            </p:cNvSpPr>
            <p:nvPr/>
          </p:nvSpPr>
          <p:spPr bwMode="auto">
            <a:xfrm>
              <a:off x="4224" y="1968"/>
              <a:ext cx="173" cy="1680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s-CO"/>
            </a:p>
          </p:txBody>
        </p:sp>
        <p:sp>
          <p:nvSpPr>
            <p:cNvPr id="23578" name="Rectangle 41"/>
            <p:cNvSpPr>
              <a:spLocks noChangeArrowheads="1"/>
            </p:cNvSpPr>
            <p:nvPr/>
          </p:nvSpPr>
          <p:spPr bwMode="auto">
            <a:xfrm>
              <a:off x="5261" y="1968"/>
              <a:ext cx="173" cy="1680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s-CO"/>
            </a:p>
          </p:txBody>
        </p:sp>
        <p:sp>
          <p:nvSpPr>
            <p:cNvPr id="23579" name="Rectangle 42"/>
            <p:cNvSpPr>
              <a:spLocks noChangeArrowheads="1"/>
            </p:cNvSpPr>
            <p:nvPr/>
          </p:nvSpPr>
          <p:spPr bwMode="auto">
            <a:xfrm>
              <a:off x="4310" y="3513"/>
              <a:ext cx="1037" cy="135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s-CO"/>
            </a:p>
          </p:txBody>
        </p:sp>
        <p:sp>
          <p:nvSpPr>
            <p:cNvPr id="23580" name="Line 43"/>
            <p:cNvSpPr>
              <a:spLocks noChangeShapeType="1"/>
            </p:cNvSpPr>
            <p:nvPr/>
          </p:nvSpPr>
          <p:spPr bwMode="auto">
            <a:xfrm>
              <a:off x="5261" y="1968"/>
              <a:ext cx="0" cy="15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3581" name="Line 44"/>
            <p:cNvSpPr>
              <a:spLocks noChangeShapeType="1"/>
            </p:cNvSpPr>
            <p:nvPr/>
          </p:nvSpPr>
          <p:spPr bwMode="auto">
            <a:xfrm>
              <a:off x="4397" y="1968"/>
              <a:ext cx="0" cy="15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3582" name="Line 45"/>
            <p:cNvSpPr>
              <a:spLocks noChangeShapeType="1"/>
            </p:cNvSpPr>
            <p:nvPr/>
          </p:nvSpPr>
          <p:spPr bwMode="auto">
            <a:xfrm>
              <a:off x="4397" y="3513"/>
              <a:ext cx="8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3583" name="Line 46"/>
            <p:cNvSpPr>
              <a:spLocks noChangeShapeType="1"/>
            </p:cNvSpPr>
            <p:nvPr/>
          </p:nvSpPr>
          <p:spPr bwMode="auto">
            <a:xfrm flipH="1">
              <a:off x="5261" y="1968"/>
              <a:ext cx="17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3584" name="Line 47"/>
            <p:cNvSpPr>
              <a:spLocks noChangeShapeType="1"/>
            </p:cNvSpPr>
            <p:nvPr/>
          </p:nvSpPr>
          <p:spPr bwMode="auto">
            <a:xfrm flipH="1">
              <a:off x="4224" y="1968"/>
              <a:ext cx="17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3585" name="Line 48"/>
            <p:cNvSpPr>
              <a:spLocks noChangeShapeType="1"/>
            </p:cNvSpPr>
            <p:nvPr/>
          </p:nvSpPr>
          <p:spPr bwMode="auto">
            <a:xfrm>
              <a:off x="4483" y="2505"/>
              <a:ext cx="25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3586" name="Line 49"/>
            <p:cNvSpPr>
              <a:spLocks noChangeShapeType="1"/>
            </p:cNvSpPr>
            <p:nvPr/>
          </p:nvSpPr>
          <p:spPr bwMode="auto">
            <a:xfrm>
              <a:off x="4915" y="2505"/>
              <a:ext cx="25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</p:grpSp>
      <p:sp>
        <p:nvSpPr>
          <p:cNvPr id="16385" name="Rectangle 1"/>
          <p:cNvSpPr>
            <a:spLocks noGrp="1" noChangeArrowheads="1"/>
          </p:cNvSpPr>
          <p:nvPr>
            <p:ph type="title"/>
          </p:nvPr>
        </p:nvSpPr>
        <p:spPr>
          <a:xfrm>
            <a:off x="-228600" y="914400"/>
            <a:ext cx="9372600" cy="1285875"/>
          </a:xfrm>
        </p:spPr>
        <p:txBody>
          <a:bodyPr>
            <a:normAutofit/>
          </a:bodyPr>
          <a:lstStyle/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s-MX" sz="3000" b="1" i="1" dirty="0">
                <a:solidFill>
                  <a:srgbClr val="C00000"/>
                </a:solidFill>
              </a:rPr>
              <a:t>Aplicación de la primera ley de la termodinámica</a:t>
            </a:r>
          </a:p>
        </p:txBody>
      </p:sp>
      <p:sp>
        <p:nvSpPr>
          <p:cNvPr id="16393" name="Text Box 9"/>
          <p:cNvSpPr txBox="1">
            <a:spLocks noChangeArrowheads="1"/>
          </p:cNvSpPr>
          <p:nvPr/>
        </p:nvSpPr>
        <p:spPr bwMode="auto">
          <a:xfrm>
            <a:off x="533400" y="2362200"/>
            <a:ext cx="5410200" cy="192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>
              <a:lnSpc>
                <a:spcPct val="95000"/>
              </a:lnSpc>
              <a:spcBef>
                <a:spcPct val="0"/>
              </a:spcBef>
              <a:buClr>
                <a:srgbClr val="CC99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s-MX" sz="2500" u="sng" dirty="0"/>
              <a:t>Ejemplo 1:</a:t>
            </a:r>
            <a:r>
              <a:rPr lang="es-MX" sz="2500" dirty="0"/>
              <a:t>  En la figura, el gas absorbe 400 J de calor y al mismo tiempo realiza 120 J de trabajo sobre el pistón. ¿Cuál es el cambio en energía interna del sistema?</a:t>
            </a:r>
          </a:p>
        </p:txBody>
      </p:sp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609600" y="4716462"/>
            <a:ext cx="5257800" cy="1455738"/>
            <a:chOff x="384" y="2880"/>
            <a:chExt cx="2880" cy="917"/>
          </a:xfrm>
        </p:grpSpPr>
        <p:grpSp>
          <p:nvGrpSpPr>
            <p:cNvPr id="4" name="Group 11"/>
            <p:cNvGrpSpPr>
              <a:grpSpLocks/>
            </p:cNvGrpSpPr>
            <p:nvPr/>
          </p:nvGrpSpPr>
          <p:grpSpPr bwMode="auto">
            <a:xfrm>
              <a:off x="1200" y="3408"/>
              <a:ext cx="2064" cy="389"/>
              <a:chOff x="1200" y="3408"/>
              <a:chExt cx="2064" cy="389"/>
            </a:xfrm>
          </p:grpSpPr>
          <p:sp>
            <p:nvSpPr>
              <p:cNvPr id="16396" name="AutoShape 12"/>
              <p:cNvSpPr>
                <a:spLocks noChangeArrowheads="1"/>
              </p:cNvSpPr>
              <p:nvPr/>
            </p:nvSpPr>
            <p:spPr bwMode="auto">
              <a:xfrm>
                <a:off x="1200" y="3408"/>
                <a:ext cx="2064" cy="389"/>
              </a:xfrm>
              <a:prstGeom prst="roundRect">
                <a:avLst>
                  <a:gd name="adj" fmla="val 255"/>
                </a:avLst>
              </a:prstGeom>
              <a:solidFill>
                <a:srgbClr val="FFFFCC"/>
              </a:solidFill>
              <a:ln w="38160">
                <a:solidFill>
                  <a:srgbClr val="000000"/>
                </a:solidFill>
                <a:round/>
                <a:headEnd/>
                <a:tailEnd/>
              </a:ln>
              <a:effectLst>
                <a:outerShdw dist="107933" dir="2700000" algn="ctr" rotWithShape="0">
                  <a:srgbClr val="4D4D4D"/>
                </a:outerShdw>
              </a:effectLst>
            </p:spPr>
            <p:txBody>
              <a:bodyPr wrap="none" anchor="ctr"/>
              <a:lstStyle/>
              <a:p>
                <a:endParaRPr lang="es-CO"/>
              </a:p>
            </p:txBody>
          </p:sp>
          <p:sp>
            <p:nvSpPr>
              <p:cNvPr id="23569" name="Text Box 13"/>
              <p:cNvSpPr txBox="1">
                <a:spLocks noChangeArrowheads="1"/>
              </p:cNvSpPr>
              <p:nvPr/>
            </p:nvSpPr>
            <p:spPr bwMode="auto">
              <a:xfrm>
                <a:off x="1200" y="3408"/>
                <a:ext cx="2064" cy="37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lIns="90000" tIns="46800" rIns="90000" bIns="46800">
                <a:spAutoFit/>
              </a:bodyPr>
              <a:lstStyle/>
              <a:p>
                <a:pPr algn="ctr">
                  <a:spcBef>
                    <a:spcPct val="0"/>
                  </a:spcBef>
                  <a:buClr>
                    <a:srgbClr val="000000"/>
                  </a:buClr>
                  <a:buSzPct val="100000"/>
                  <a:buFont typeface="Symbol" pitchFamily="18" charset="2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s-MX" sz="3200" dirty="0">
                    <a:latin typeface="Symbol" pitchFamily="18" charset="2"/>
                  </a:rPr>
                  <a:t></a:t>
                </a:r>
                <a:r>
                  <a:rPr lang="es-MX" sz="3200" dirty="0">
                    <a:latin typeface="Times New Roman" pitchFamily="18" charset="0"/>
                  </a:rPr>
                  <a:t>Q = </a:t>
                </a:r>
                <a:r>
                  <a:rPr lang="es-MX" sz="3200" dirty="0">
                    <a:latin typeface="Symbol" pitchFamily="18" charset="2"/>
                  </a:rPr>
                  <a:t></a:t>
                </a:r>
                <a:r>
                  <a:rPr lang="es-MX" sz="3200" dirty="0">
                    <a:latin typeface="Times New Roman" pitchFamily="18" charset="0"/>
                  </a:rPr>
                  <a:t>U + </a:t>
                </a:r>
                <a:r>
                  <a:rPr lang="es-MX" sz="3200" dirty="0">
                    <a:latin typeface="Symbol" pitchFamily="18" charset="2"/>
                  </a:rPr>
                  <a:t></a:t>
                </a:r>
                <a:r>
                  <a:rPr lang="es-MX" sz="3200" dirty="0">
                    <a:latin typeface="Times New Roman" pitchFamily="18" charset="0"/>
                  </a:rPr>
                  <a:t>W</a:t>
                </a:r>
              </a:p>
            </p:txBody>
          </p:sp>
        </p:grpSp>
        <p:sp>
          <p:nvSpPr>
            <p:cNvPr id="23567" name="Text Box 14"/>
            <p:cNvSpPr txBox="1">
              <a:spLocks noChangeArrowheads="1"/>
            </p:cNvSpPr>
            <p:nvPr/>
          </p:nvSpPr>
          <p:spPr bwMode="auto">
            <a:xfrm>
              <a:off x="384" y="2880"/>
              <a:ext cx="2064" cy="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 algn="ctr">
                <a:spcBef>
                  <a:spcPts val="1875"/>
                </a:spcBef>
                <a:buClr>
                  <a:srgbClr val="FFFF00"/>
                </a:buClr>
                <a:buSzPct val="100000"/>
                <a:buFont typeface="Tahoma" pitchFamily="34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 sz="3000" dirty="0"/>
                <a:t>Aplique primera ley:</a:t>
              </a:r>
            </a:p>
          </p:txBody>
        </p:sp>
      </p:grpSp>
      <p:grpSp>
        <p:nvGrpSpPr>
          <p:cNvPr id="5" name="Group 15"/>
          <p:cNvGrpSpPr>
            <a:grpSpLocks/>
          </p:cNvGrpSpPr>
          <p:nvPr/>
        </p:nvGrpSpPr>
        <p:grpSpPr bwMode="auto">
          <a:xfrm>
            <a:off x="5334000" y="3952875"/>
            <a:ext cx="1958975" cy="1389062"/>
            <a:chOff x="3504" y="2352"/>
            <a:chExt cx="1234" cy="875"/>
          </a:xfrm>
        </p:grpSpPr>
        <p:sp>
          <p:nvSpPr>
            <p:cNvPr id="16400" name="Text Box 16"/>
            <p:cNvSpPr txBox="1">
              <a:spLocks noChangeArrowheads="1"/>
            </p:cNvSpPr>
            <p:nvPr/>
          </p:nvSpPr>
          <p:spPr bwMode="auto">
            <a:xfrm>
              <a:off x="3648" y="2352"/>
              <a:ext cx="577" cy="3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>
                <a:lnSpc>
                  <a:spcPct val="95000"/>
                </a:lnSpc>
                <a:spcBef>
                  <a:spcPct val="0"/>
                </a:spcBef>
                <a:buClr>
                  <a:srgbClr val="FFFFFF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r>
                <a:rPr lang="es-MX" sz="3200"/>
                <a:t>Q</a:t>
              </a:r>
              <a:r>
                <a:rPr lang="es-MX" sz="3200" baseline="-25000"/>
                <a:t>in</a:t>
              </a:r>
            </a:p>
          </p:txBody>
        </p:sp>
        <p:sp>
          <p:nvSpPr>
            <p:cNvPr id="23564" name="Freeform 17"/>
            <p:cNvSpPr>
              <a:spLocks noChangeArrowheads="1"/>
            </p:cNvSpPr>
            <p:nvPr/>
          </p:nvSpPr>
          <p:spPr bwMode="auto">
            <a:xfrm>
              <a:off x="3900" y="3034"/>
              <a:ext cx="838" cy="193"/>
            </a:xfrm>
            <a:custGeom>
              <a:avLst/>
              <a:gdLst>
                <a:gd name="T0" fmla="*/ 0 w 3696"/>
                <a:gd name="T1" fmla="*/ 212 h 852"/>
                <a:gd name="T2" fmla="*/ 2771 w 3696"/>
                <a:gd name="T3" fmla="*/ 212 h 852"/>
                <a:gd name="T4" fmla="*/ 2771 w 3696"/>
                <a:gd name="T5" fmla="*/ 0 h 852"/>
                <a:gd name="T6" fmla="*/ 3695 w 3696"/>
                <a:gd name="T7" fmla="*/ 425 h 852"/>
                <a:gd name="T8" fmla="*/ 2771 w 3696"/>
                <a:gd name="T9" fmla="*/ 851 h 852"/>
                <a:gd name="T10" fmla="*/ 2771 w 3696"/>
                <a:gd name="T11" fmla="*/ 639 h 852"/>
                <a:gd name="T12" fmla="*/ 0 w 3696"/>
                <a:gd name="T13" fmla="*/ 639 h 852"/>
                <a:gd name="T14" fmla="*/ 0 w 3696"/>
                <a:gd name="T15" fmla="*/ 212 h 85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3696"/>
                <a:gd name="T25" fmla="*/ 0 h 852"/>
                <a:gd name="T26" fmla="*/ 3696 w 3696"/>
                <a:gd name="T27" fmla="*/ 852 h 852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3696" h="852">
                  <a:moveTo>
                    <a:pt x="0" y="212"/>
                  </a:moveTo>
                  <a:lnTo>
                    <a:pt x="2771" y="212"/>
                  </a:lnTo>
                  <a:lnTo>
                    <a:pt x="2771" y="0"/>
                  </a:lnTo>
                  <a:lnTo>
                    <a:pt x="3695" y="425"/>
                  </a:lnTo>
                  <a:lnTo>
                    <a:pt x="2771" y="851"/>
                  </a:lnTo>
                  <a:lnTo>
                    <a:pt x="2771" y="639"/>
                  </a:lnTo>
                  <a:lnTo>
                    <a:pt x="0" y="639"/>
                  </a:lnTo>
                  <a:lnTo>
                    <a:pt x="0" y="212"/>
                  </a:lnTo>
                </a:path>
              </a:pathLst>
            </a:custGeom>
            <a:solidFill>
              <a:srgbClr val="66FF33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CO"/>
            </a:p>
          </p:txBody>
        </p:sp>
        <p:sp>
          <p:nvSpPr>
            <p:cNvPr id="16402" name="Text Box 18"/>
            <p:cNvSpPr txBox="1">
              <a:spLocks noChangeArrowheads="1"/>
            </p:cNvSpPr>
            <p:nvPr/>
          </p:nvSpPr>
          <p:spPr bwMode="auto">
            <a:xfrm>
              <a:off x="3504" y="2688"/>
              <a:ext cx="720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>
                <a:lnSpc>
                  <a:spcPct val="95000"/>
                </a:lnSpc>
                <a:spcBef>
                  <a:spcPct val="0"/>
                </a:spcBef>
                <a:buClr>
                  <a:srgbClr val="FFFFFF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r>
                <a:rPr lang="es-MX" sz="3000" dirty="0"/>
                <a:t>400 J</a:t>
              </a:r>
            </a:p>
          </p:txBody>
        </p:sp>
      </p:grpSp>
      <p:grpSp>
        <p:nvGrpSpPr>
          <p:cNvPr id="6" name="Group 50"/>
          <p:cNvGrpSpPr>
            <a:grpSpLocks/>
          </p:cNvGrpSpPr>
          <p:nvPr/>
        </p:nvGrpSpPr>
        <p:grpSpPr bwMode="auto">
          <a:xfrm>
            <a:off x="6248400" y="2201862"/>
            <a:ext cx="2406650" cy="1443038"/>
            <a:chOff x="4128" y="1152"/>
            <a:chExt cx="1516" cy="909"/>
          </a:xfrm>
        </p:grpSpPr>
        <p:sp>
          <p:nvSpPr>
            <p:cNvPr id="23561" name="Freeform 20"/>
            <p:cNvSpPr>
              <a:spLocks noChangeArrowheads="1"/>
            </p:cNvSpPr>
            <p:nvPr/>
          </p:nvSpPr>
          <p:spPr bwMode="auto">
            <a:xfrm>
              <a:off x="4992" y="1632"/>
              <a:ext cx="192" cy="429"/>
            </a:xfrm>
            <a:custGeom>
              <a:avLst/>
              <a:gdLst>
                <a:gd name="T0" fmla="*/ 146 w 588"/>
                <a:gd name="T1" fmla="*/ 1892 h 1893"/>
                <a:gd name="T2" fmla="*/ 146 w 588"/>
                <a:gd name="T3" fmla="*/ 473 h 1893"/>
                <a:gd name="T4" fmla="*/ 0 w 588"/>
                <a:gd name="T5" fmla="*/ 473 h 1893"/>
                <a:gd name="T6" fmla="*/ 293 w 588"/>
                <a:gd name="T7" fmla="*/ 0 h 1893"/>
                <a:gd name="T8" fmla="*/ 587 w 588"/>
                <a:gd name="T9" fmla="*/ 473 h 1893"/>
                <a:gd name="T10" fmla="*/ 440 w 588"/>
                <a:gd name="T11" fmla="*/ 473 h 1893"/>
                <a:gd name="T12" fmla="*/ 440 w 588"/>
                <a:gd name="T13" fmla="*/ 1892 h 1893"/>
                <a:gd name="T14" fmla="*/ 146 w 588"/>
                <a:gd name="T15" fmla="*/ 1892 h 189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88"/>
                <a:gd name="T25" fmla="*/ 0 h 1893"/>
                <a:gd name="T26" fmla="*/ 588 w 588"/>
                <a:gd name="T27" fmla="*/ 1893 h 189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88" h="1893">
                  <a:moveTo>
                    <a:pt x="146" y="1892"/>
                  </a:moveTo>
                  <a:lnTo>
                    <a:pt x="146" y="473"/>
                  </a:lnTo>
                  <a:lnTo>
                    <a:pt x="0" y="473"/>
                  </a:lnTo>
                  <a:lnTo>
                    <a:pt x="293" y="0"/>
                  </a:lnTo>
                  <a:lnTo>
                    <a:pt x="587" y="473"/>
                  </a:lnTo>
                  <a:lnTo>
                    <a:pt x="440" y="473"/>
                  </a:lnTo>
                  <a:lnTo>
                    <a:pt x="440" y="1892"/>
                  </a:lnTo>
                  <a:lnTo>
                    <a:pt x="146" y="1892"/>
                  </a:lnTo>
                </a:path>
              </a:pathLst>
            </a:custGeom>
            <a:solidFill>
              <a:srgbClr val="66FF33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CO"/>
            </a:p>
          </p:txBody>
        </p:sp>
        <p:sp>
          <p:nvSpPr>
            <p:cNvPr id="16405" name="Text Box 21"/>
            <p:cNvSpPr txBox="1">
              <a:spLocks noChangeArrowheads="1"/>
            </p:cNvSpPr>
            <p:nvPr/>
          </p:nvSpPr>
          <p:spPr bwMode="auto">
            <a:xfrm>
              <a:off x="4128" y="1152"/>
              <a:ext cx="1516" cy="3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>
                <a:lnSpc>
                  <a:spcPct val="95000"/>
                </a:lnSpc>
                <a:spcBef>
                  <a:spcPct val="0"/>
                </a:spcBef>
                <a:buClr>
                  <a:srgbClr val="FFFFFF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r>
                <a:rPr lang="es-MX" sz="3200" dirty="0" err="1"/>
                <a:t>W</a:t>
              </a:r>
              <a:r>
                <a:rPr lang="es-MX" sz="3200" baseline="-25000" dirty="0" err="1"/>
                <a:t>out</a:t>
              </a:r>
              <a:r>
                <a:rPr lang="es-MX" sz="3200" dirty="0"/>
                <a:t> =120 J</a:t>
              </a:r>
            </a:p>
          </p:txBody>
        </p:sp>
      </p:grpSp>
      <p:sp>
        <p:nvSpPr>
          <p:cNvPr id="37" name="Text Box 8"/>
          <p:cNvSpPr txBox="1">
            <a:spLocks noChangeArrowheads="1"/>
          </p:cNvSpPr>
          <p:nvPr/>
        </p:nvSpPr>
        <p:spPr bwMode="auto">
          <a:xfrm>
            <a:off x="6416675" y="0"/>
            <a:ext cx="1584325" cy="7052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s-CO" sz="1400" dirty="0">
                <a:solidFill>
                  <a:schemeClr val="bg1"/>
                </a:solidFill>
              </a:rPr>
              <a:t>Pedro Alvarado</a:t>
            </a:r>
          </a:p>
          <a:p>
            <a:pPr>
              <a:lnSpc>
                <a:spcPct val="150000"/>
              </a:lnSpc>
            </a:pPr>
            <a:endParaRPr lang="es-ES" sz="1400" dirty="0">
              <a:solidFill>
                <a:schemeClr val="bg1"/>
              </a:solidFill>
            </a:endParaRPr>
          </a:p>
        </p:txBody>
      </p:sp>
      <p:sp>
        <p:nvSpPr>
          <p:cNvPr id="39" name="AutoShape 4" descr="Resultado de imagen para turbin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40" name="AutoShape 6" descr="Resultado de imagen para turbin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41" name="AutoShape 8" descr="Resultado de imagen para turbin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42" name="AutoShape 10" descr="data:image/jpeg;base64,/9j/4AAQSkZJRgABAQAAAQABAAD/2wCEAAkGBxMTEhMUEhMVFBUUFxcYGBgYFxUZGBoZHhgYGhcfGxobHiggHholHxccITEkJSkrMC4uHB8zODMsNygtLisBCgoKDg0OGhAQGywkHCY0LCwsLC8sLCwsNCwsLCwsLCwsLCwsLCwsLCwsLCwsLCwsNSwvLCwsLCwsLCwsLCwsLP/AABEIAK0BIwMBIgACEQEDEQH/xAAbAAEAAwEBAQEAAAAAAAAAAAAABAUGAwIBB//EAEMQAAEDAgQDBQYEAwUIAwEAAAEAAhEDIQQSMUEFUWETInGBkQYyQqGxwVJy0fAjM2IUQ4Lh8RUkU3OSorLCY3TSB//EABkBAQEAAwEAAAAAAAAAAAAAAAABAgMEBf/EACgRAQEAAgEDAwIHAQAAAAAAAAABAhEDEiExBEFREyIyUmFxgZGhM//aAAwDAQACEQMRAD8A+oiICIiAiIgIiICIiAiL6QRqg+IiICKXheF1qhhlMnvAG+k3kxMCOasX+y2KbBFLOTPdD2gdCXHTwAPkro2o0Wsw3DMMaooupVgYMuLXZJiYzEiT+WV74n7Isa0Op1mtnTORlJmwBkEct/BNJtkEXH+1s7TsxcjN3gWFpgbQTZdlFEREBERAREQEXptMkEgWbqdh58+Q1OykNw7SCQ7ugd5/wjoPxHUdCggYquGNLjoI+Zj7rzhcSHmBHS9yNoGvrCrfabEACm1pDg7M42IIiWtkG4vPoo3BMU6SKRu1pcAY192OehmxmyitEi9VBBPiV5VQREQEREBERAREQEREBERAXcUmiMx1E225KFij3Y52289dV1LJABmJFySDbX18ELZPKQcgOhItrM/ay+Meb5Wg/wCGYXGiWNMw0mIvPXp4fPmrvhvEQYDmMIJhsCCdtdCZ2stefXJuTZhycdurdINLC1jpmA8f0UjCcCfeXS07HY82nadwtE7E02iYnpofOVxp8SL3EUoMC+51tfSNdlzTLnz8TTq1w4++0WhwBu4lSDwfDgw5rJMmLT1t5rjxCpXawksq1AZnswHHwgEGNtNlhsf7cOL8lKlJBh3aOgi4nuDfxPJWcGe95Z/0xvLhZqY/22xo4YEmmYLSRLJBBGtxdd6ftWcPZ7zVbcNDrvBH9Q1t+K/VZzAPmnEz2meYAEVMxfoNJn5qv4w8EF3Msqevdf8ANdctk15cv0sZl1Tt+nssOKf/ANDr1YbTaGNcSJ0I8IMh285lSYSu55rmq5zywUsrnEucJcZ7xkz3RvdVTB32jk8qbgnkVK4G9IHzDx+pUbYk8D9+sPE+n+qsFX8E/m1esj7/AGVgrEyERFWIiKThsG5xbYjN7oALnu/K3UjqYbrdBHY0kgAEk6AXJ8lNoYGxc8gNb7xLstNv56nP+lkuPQrhj+K0MMC3+Y/QsY6Widq1Zuv5GQLXMrOcdxtWo/JWe0lshrG92m0SRDGgDlrHjMq9oaW2N9qabTlwuVzhpVeGgM/5VMnu/mMuPRVmCxuQu97+IH5xm99zjLnwY70/ENL3UHD03OJBJs0kD3eQEzBi/wCEg81bYDAhjgKhdRc6Cx8NyE696BpfbS3nPK+A8PpVWlzGucBEvDpjxuXR1iIm6Yn2YcB2jA2qw5C0h2jhVYSJdGUkBwm243hXlKmXvLQBQx1IZmkWZXb9LgfKdiGyMFjwAa7GQ2cmKoR7p0zhp22+R0MXSbQK2Hptux73EkyCZb8/suasOL4AUyHMvSqXYddpifpOxG8qvUBERAREQEREBERAREQEReqbJMc0LdPbKM6+nX9F6qM9VMbTUd95PP6bfvqt/Fh1V53Ny3y4HDktJFgLE/vdSMF3MOI5mOev6qPgKhitOhykfMH7Ke2hNGmB8Ux5uP6qc2Vt06PT4THHfussJQigCdSJ9b/RSuEYTsmF29QyfD4fufNTMRQBcymNPt/oFG49i8oDWjvGAAPQLQ7EjB44vqZBtcnkFS+1/AXVWZ2htSowgtdHfiYcOZEHTmAYsrvhWE7FkTL3XeeZ5eA/eq+Y/iTR3Rd50j96oj8/pYo+DiYPSo27fUWUbH1g4GNDMfleMzfR7SFo/afB9yo57C2oGlwcNSWiRfR0fLosOKdWsYaCOgEm5DvSZjxTQ80bvBkXLTqOX6qZRaO1q/8AJP8A5tXGvgxQGapVaHN73Z5ml7oMwGjTXddH5hUig6dWue0NjX3czgRMi4EwdVBI4fmbUqP2YS53MCCJI1HpsrDgT6mIa57KcUxo99mn8u7vK3VV+F4i3Dtq1nmXCo+m8d6MwdmpgXAgAmI0k7lccf7Xvrdm1pLWCZB7zokRpAIgn3gDYXMrDLHbbhn0d5O/z5XIdL8pqMIMwdBbW/qu7KAIs9s/mb577fPa5hUOGJGUuq9lUJMkyBsPeE6AxEGLabdKfEnsJaHB1Rxzsc54DTtLSQBeIvCyxkxmpGGdyzvVbutM3DNptzuDiBuKbqjieTKQH/dUgcmyqTi3GKzmPDab6DHatJirUM27Wo+CR/SLdBquOP4jiXspPbVfTLpY4ZzJewgENMgNkEW+UKJVFc5XuqEESJqOc33hBymJ0OtiOlis7WGnAQQAHsZYmJOWefzHXrdesPg21peZc6AJ3gaXd4/vVXXCOHuqsJZRotcGAuqODnFzQ4tIbIsRlBta8wVWU8VUa2swsyvphzmzBzAjuutbLYjyItECK68OpU2OINIOa0kEdJykg7GRr9Fb1KbGAMec+Gre486sdexOxF/n/UD+ct4jiaeJa9jg6wzBxsdZknQ9dL8l+i8PqU6rMv8AdYiw/wDjqjSPP7LKMa5ilUdNAn/eMP36Dxq9o+G/ONDoRf3TPf8A2i0dljmjuP8A4WKZtexJH6/0j4iold7+zFT+/wAG/K6/vMmPEiPkHndTsJSY7EVKM/weIUjUZ/TUiXRyOrvHLqqi+weDGWphCZaRnoOPLVpnoTB6OPNZlzSCQRBFiOR3UvhONcMNTe7+Zgqxo1B/QDl57Alo1+LfSV7T4fLWLhpUAf56O9SJ81iqpREQEREBERAREQEREBS8AySTyURWXDm90nr9grGrmusXWsIafT1soGJqhsZvdkA+CsMToOp+xP2VRxRsiBuuzhn2WvMz3c5E2nSu8Dl91bYWl/Dw52Dmz5PUHhQGdk/GzL5wD9QrZgDQaLrF0lnU7jx3XO9TFaYW9d07NJHqB91HNEGsajvgs3xO/kPquvD3l4J0rMEPHOdCOhj1BVNU4kezrTZ1N1/Ajun5H0Wqt3skcQ4g4uFKiM1R2gG3MnkOqs+DcCbT7zznqHVx0HRo2HXU/JReB4cUaQe7+ZUAc8nUA3DfAfWeig8T4/fKHa2AGp9FP2E3jLGjNTfD2nUa/wChWH4h7PdpA7eqWXloIaOksYGtPpstIMJiHDM6mabT+Ox/6dfUKPiqBZBmWkxmGx6jY8ucJCsNxHg5wlFzqbGOY735BdlEkTqI8QLSZhaLG0yGnugFl4Glth0VsJvP+LcdD4beEFRMVSh0jeZ8d0sJWY9oKLGsuwtz1XHNL3SS0RDQ2IcGTrHeVNheH5KjCzOQ6SZHuQNpIcTOkDkVr8bh2PNJhpsuASYILjL6YzQRmAa0e9P0RuEaxuXLNOQYicpI+uV3zhNG2dbgWF1TvFxIeGOhoYSNJuSNbEi8LjJewNHaONId0iTI/DOWMoOhnUla4UGzoDyPP9D1CkUcMCdLfQn7HcfsXpTbJkva2HBlJgyuhx77zmDX5R7pcA1zi0SYIiSuLX0ZFUuqOOQZWmWDNlvfcEiwvrFlucRwllVmVwHiQHQdJ8RpOseCtuDeyOGLO0LG5ySHWl2YG8k3Pir0ptkvZ6s6IJkWiHSBYb+R3sZI0gzONcLLqXcJDgZYZiHwbGPxCR0cOi0fEOCNa4OYAAbO8OflEqM6lIe0m5ZmF9wYPnIafMq9h+UN4NUcC2mABMWa0E3PIxpFp3C03srgHszUDIztLmdHsvbrbRXb+J0acSACdb84Fzt3iFUN9pGHFUnNAgVWm3Iw0+pJUGgcwOr0XkHJi6Rp1B/UBvblLdOflU0y9mFpuN6mAxYHxXaXwQLfE4gRuArLiNYCkDP8nFAieU5ieW/+iiYkjPxJkCHsbUiLS1od4ayoLarhAMbjaQ93FUBUbrGZum0a5jryTHVBVwWFqTJb3CbHYjYn/h891wZiv4vDas97szTOl4pkH5umy90z/ulVl/4dQgTOzmxr0d0RVUiIiCIiAiIgIiICIiArXAjuDxP1VUrXBHuDz+qyx8tHqPwmKd7vn9FWVa8PAOjreB2/RT8Y73fH7H9FS8QvELs4/wDm87v9WVeYYBzI0LTbnzBXV/EmGKWMBaHWZW0aDtP4TMd7TwXOAabXssSNtjuPVZTj3tRVYHUKtNlWW92e65p2JixHS3iua+dvSxrbn2hZhXsOKqBtSk4Mc7/i0XWzADVwgEgbtH4lS4rjeHr1anYVJFVtQZdHd05mkt27s6r8zr4eu/vvJMAASZho0A5AclywjqjCS1zmm4OVxBM63Gyxs34bJlp+01cY/FGlTpHKXsa5zvwNyguMecRzIVthaNDCD+GJedXuu8+ew6CAvz72U4xlJc1r2sp0W08zzmzGW/EAJPck+KtW1cTiO/TaAw6Oe7KD4WJI6wtVns2ytHiuNl2qq6mK13BsRsQuWF4U7+9qt8GyfmY+imuwtIQDpuTJ+46qzSXbnSAc23eyiRzy7gwNRYza3oqvi9V1MEtgzYTABOrLkgAkWkk6WBJVycK2mZGkg3i7SNQD4mDB0XGrRbMPmAY5Hm03vaSNDYlVGH4lxp5awspuFRrBYwWyXuzCRckEkaC4Vth8ZnpseQQKgNiJIM94Abum88ssK4xXGMHTZEMJIIMGZPoL67BZXBccD8zWtblFW0gm5aJ0IOwtPkg0OEoE5LENqAwYcIPmOk+EBTcPYAkRaDpqDymxiR4DqqTDcTJaLt7rjlNpAyiwLu8BtEjlfRfTjWzr8UCLDQ/qmzTUms0bzqN9QfDlGnJTOFcYDS8SAO6Z8o+3zWMHFQOWxnxdA+iz2M4hUe+GVGw7KMlpy5c0yJkwG2tbMpsb7j3tA1zXU2Ol52Gov00UAY2QCT8TvTuFZ+pToBhb/Z3ZzoS4hsxEkSAR0i/nK9UWue3JT7z2WgToZ8hAt5DSbhW8ToueXEOENPmG9JFjccrQbzCo8KGDFUmBvfL2mziZ5kzO08tFqGYXsnPNZwlwEtJZYaFpDSTEGLleqPCKFN7KjDdpOUnaYIvrz1nXxQW3FHTSrdagb5wBpovmKdNbF/8A13g6/hBGvQqM+uHdkwb1M7vIfWPoF4q4kZcVU/ERTbG+xj/DBVFhhXSeHC9y92/Jp+k6/qrfhLWOo187srTVeZ8Cw262Pz11VRTIZWpDbCYcuP5i3LG2tjt8rSsO3LhKYJ94yfE3Hn3vkoqNUiTlmNp1jr1Xld6zGNbTg5nPGaNMrOfOTsuCSpYIiKoIiICIiAiIgKzwTu55n9fuqxTsAe64eB+v6K4+Wnnn2OPEKmnQ/wCX3VW+tBkiQrDHjX19Lqvqs1Xbxd8bHnZXWUpjMc6jTe9riGgFx0INtptJWGp4wvqF1Qy5xknnyHkNlrcVgnYii7DB7aZqQGPcSAHZgWtJ5OIy+e+iwdHDvpveyoIcxzmm9g5riDcdQVzcl1dPS4pubX1fEF1vkmH4ZUfo0rvw7EURGYhavC+0+FpNgZZWP1Phn9NT4PgtVog1DSYbm9ifDSYm/gtCOJ1H92k0OA5OZAHroqTiftjSqd3KXDk0kHyIULhftTQacrKRcXHVwYT6yfstdu+7OTTXYRlaoR3qYn+omPQK5xPAsQwTmpvGUOs4gxf8QA258lm+HcVZ2ga2kGvdoGtbOkn3dFoXcULgWyQcsRf5gornhq5bNGq1zHOb3Zm4uYESDqYjc9VFxdSR+ZrOm46DmveKaCBIbF/dEcvQ6X/RQcQ+zeeVp25tPTkiMvwbDVHua+q7uEimBAInMRm7xdMGPQ2XbiOBLh2jAM7CQ9oHvcnRubX/AMlY8XexlMUphwETrHM2AVFxStVD6jKdQ1Gnsw0huUPIaYs74vevAMtEaBXweXVsgNLiQZLHDUkmTqN+ZPjyXLE4ltOm0ukycoJMghrjBIAjWLAyZjaV84bUo1I7V1SGS45IaItOaxNhPLddKeEL89IU+7TqOGUHQQ03M5vLobSFFcW12SwvaHNc4h7HEkNpmSTe06Ni2ql8RFWllAcMknK7u3A7wJy3jW0WsvL8EwUy0kEMc0ZZa2xGUm4IMRfwJFzCl8HfUa5rS60QyZtM92Y93aD1veFBT4rGw4gy3KQRlHeuZnOG6i/O3Iq64RhS1jmS0udBcO0yv2MguBB1mLKyxuM7MF76VENbEuNKmYG5s0lZvH4ik+qQQ99Rzsw2p3Etc4Ag2bAjYeJRXdvCzAtUeQTLC1rTBIklpJLpEjuk6aLlUrOe+HAgMIETckXIg7g92SYG6kcP9mWnLinve2XQxlv4gaIcSdm2AtqZiIU9/DaZ2j99dfNPJvStbSaZAFsoMMzHMdvX4dzlzGzlIw2EcXQ0yAZ2ylwnM4chn0PIPOy7u4cTPfHoR4yROulgOsqdSowP5hBtdoiIjSRrYeGwCmqu4nngbKNI1cS/vPguEnM4xZsTc9NlT0w97SHd1uYuDdbmxtsAAB1ud11ZRg5nOc934nmT5bDyXVWY/LG5fDxTZE3JJ1JuT4r2iLJiIiICIiAiIgIiIClcPd3o5iPv9lFXuk/KQeSRjnN42J2Joyqp9OPKyvyJUHE0bnqJ8xY/ZdnBfu08nl/Dtn8Uym9jmPsCCDNpB5FY1zxSmmQC24a6IBGxW44nh1QcVwzWsLnAHYDm46emvksefjdnpea2d2extFpu1Vb2wrV2CPZvqZoDSBcak7DyXJ/CKuvd/lCtqZDTl1tr3guWT5dnVvxHPhbj2jSHikQZD3TDSASJgG0wNN1t8BicRSd/vGR++em4T5gtDSPRZ/BcM7Ke1LS0ODajSxrgGuEsc1xuIidBpCv8NLCKDxZtmOGwGx/p5cvoI2HAcW2o7Mas7NkRffw8k4xLDDrg+67xN46gKPgKTcgay1odB96d/HkVX4bijg5+FxV8tw7T8rgfhN9dNQd1FT2Yn4HGMwF5FnatJ6deRK5NxAY4l3vAEMETcWuN9Y2idtVBxgLXNzmBBEgWPVpGkzMbGYOhMOtUpmMxqPgRqKYPjGZx/wCoJtdPld2asXywNhvaNzS6SYHZt5k6Alu/gpHHHCmzQEOAbrGUgy10jkZH+IrxhcTSpCWUaTTNiQXuJ096oXGVL4fgKVQZnsa46EXgHUy2YnfrM7rLG77McppmsTh6j4yMc5rhYNlzRAObSwgj0hS6AxQbmMMaIHetUaOcn4TvJ8gtjQw9MuaKgOSRIaALDQADZZvF8Rbi8Q0BgZSbOVm4guAzEXzHuyJ6KWeyy+6qa11RjmUW5yQy41Fy46C2nz8lY1MBWyw6bNHxCZ21M7yrajSawQxoaOQAA+S9rHS9Spw2DqZ3CpLmVWlryXTEix1mxMeqlO4VSzF0HMdb2/X5qYiuk6q91KhdE7ANA2AGgA2C8IiqCIiAiIgIiICIiAiIgIiICIiAiIgtcDUlscvpsvuIbaeV/wBfkoGDrZXX0NlaFbcMtd3n8+GsrPaqrG0QRz3WS40C86QG6D6nxW2qsiR5jw/y/RUfFMHuu7KTPHqjk4srhl0VkcbSJZSpDcl5/M45W+gaFYYmDiMXHu06HZjwz0x/6qLjO7WJ2aW/KF0w4nE4wfjbUaOpBD/o0+q8/LHVevhlKkUWZnU2H++w1MDq9rGkf+LvVSuHYnP/AAn2qMEA/iaP/YfMX5qrpPL8M1zTD8M+J3AnMw+sj/CrKowVQzEMEH4gPhcNf1HQhYti64S2oyYaXAAugamLmOqmcbw7MVhW4mh3nsbmkfFSNzY3lvveGZfeCcQGZsQH6x4RPlf5qiqcWfgsfVJMUBTD2s+EtLnEiOhzNjkAsVQ8FxQ1GOou+IA0idnwXNb4Ou3xcvnCKTapAc9wzaRH4Q4ag9fRRuOUGU67ux/l/wAOpTj8BJiPC7fFqjYfFFpzbgz5teT9CU0ba5/BmsEgl1tXHb6LzhqhYZFy0abvZ/8Apv71UjAY9tRkE6GPJ3un1so1ek8nuAlwJIgEw8agx8Lh9+ayxSrpjw5oc0yCJBVVU4YG1jVaBDpJ6O09DJPipnCMDiM3dov7OoC4tMTTfvbWD03vuVb0eFPe7IcjZmzniY3sJNlnlqxjFEi742iGPcwHMWmCR7s7gb2t6rgtbIREQEREBERAREQEREBERAREQEREBERAREQFZ4StmbG4+myrF7pVC0yFZdNXLx9eP6rGsJ8RoodZuYfvVSg8ESFwrDcef75rs4eTXa+HlcmFveeYyPEuHkEnWd1Wh+Svm/qBPgQM3ylbHFsDgstjsKczjG/0ssuXi23cHL27o3DTkrVWH3HEsPndp8jHkSu3DMf2DnNd7pdB6HY+W/QlQcQDmM7wflH2Xfh/DnYquGSRmguIEmBY+ZtHUhcdxsehOSXys+LYk08r2GC11j5GfJevaar/AG2hQfSY5z3ZmPa0FxBsdtrTfYrQYz2aoUKLQQ/EfxMozugWa6LNibjLBKmYZtYDJh8OKbRMBrIHmXQ2fGIWn6uHy3TDKqHh/shXq029uRSDWltu87JOYT8IgufudRZWjPZnA0iDUcXmZvUJju8qcWgK1ZwSq8TWrZZMlo7x0AvByzbXb6SqXCMOy5DnnXvO3392Foz9Zxzx3bsfS53yquFdixxZTpNcb9/IGwwe6HakkSG6idYFwp7OLFhc4Q4saYaYgmLTyAhfOKcSpMp5KYa2TctEAHkIu5yzTQSc2cOzgjKwyG7y4nbKNtyY1W/HO3HdndzdO8+17T/W9f7SNDGnUkDaBJA5rO/7ec42zCO80Fvdklw96DMXm+hEahUn9vLu72YvlAnZ0Hqfly6qZTYGtDRtcnmTEn0AA6AKzu2W6ffn+5PzREWTAREQEREBERAREQEREBERAREQEREBERAREQEREHSlVI8OX73XZzpuFFX1roWWOWmnl4Zn3nl4rqvrAFWboPTwXB2DB1J/7f16rpw55I4r6fPfhnMVw0veMvIADeZJ+62HstwXsRcAudcnkQRl8hfXU9AuNCkxu21419dvJSnY8xDRlH18Vyep5s8508c/l3+m4JL1ct/hoDjGsEAwodfi45yqJ1QnUryvOx9D+avSy9Z+WJOJ4+c+QNJcRPIageMSRcAxfkqriXEaxgAZpMQ2YBgHUjvWM6RZdcXhG1BDh4EWI8CvNLAtGrnuMzcgA2AJMRJOUfPmunD02GF3I58+fLOaqEwVSD3b9HGY3EkQL8vJc6OFr3AAY0m8ukkXtIkxdXIEL6t+o1bR8Nhct3HM6ImI9ApCIqgiIgIiICIiAiIgIiICIiAiIgIiICIiAiIgIiICIiAiIgIiICIiAiIgIiICIiAiIgIiICIiAiIgIiICIiAiIgIiICIiD/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44" name="AutoShape 2" descr="Resultado de imagen para sistema termodinamic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Grp="1" noChangeArrowheads="1"/>
          </p:cNvSpPr>
          <p:nvPr>
            <p:ph type="title"/>
          </p:nvPr>
        </p:nvSpPr>
        <p:spPr>
          <a:xfrm>
            <a:off x="381000" y="1000125"/>
            <a:ext cx="8305800" cy="1285875"/>
          </a:xfrm>
          <a:ln/>
        </p:spPr>
        <p:txBody>
          <a:bodyPr>
            <a:normAutofit/>
          </a:bodyPr>
          <a:lstStyle/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MX" sz="3000" b="1" i="1" dirty="0">
                <a:solidFill>
                  <a:srgbClr val="C00000"/>
                </a:solidFill>
              </a:rPr>
              <a:t>CUATRO PROCESOS TERMODINÁMICOS: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990600" y="2286000"/>
            <a:ext cx="7543800" cy="289560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kumimoji="0" lang="es-MX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Proceso </a:t>
            </a:r>
            <a:r>
              <a:rPr kumimoji="0" lang="es-MX" sz="3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isocórico</a:t>
            </a:r>
            <a:r>
              <a:rPr kumimoji="0" lang="es-MX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    </a:t>
            </a:r>
            <a:r>
              <a:rPr kumimoji="0" lang="es-MX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 pitchFamily="18" charset="2"/>
                <a:ea typeface="+mn-ea"/>
                <a:cs typeface="+mn-cs"/>
              </a:rPr>
              <a:t></a:t>
            </a:r>
            <a:r>
              <a:rPr kumimoji="0" lang="es-MX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 = 0, 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kumimoji="0" lang="es-MX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Proceso isobárico:       </a:t>
            </a:r>
            <a:r>
              <a:rPr kumimoji="0" lang="es-MX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 pitchFamily="18" charset="2"/>
                <a:ea typeface="+mn-ea"/>
                <a:cs typeface="+mn-cs"/>
              </a:rPr>
              <a:t></a:t>
            </a:r>
            <a:r>
              <a:rPr kumimoji="0" lang="es-MX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 = 0 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kumimoji="0" lang="es-MX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Proceso isotérmico:   </a:t>
            </a:r>
            <a:r>
              <a:rPr kumimoji="0" lang="es-MX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 pitchFamily="18" charset="2"/>
                <a:ea typeface="+mn-ea"/>
                <a:cs typeface="+mn-cs"/>
              </a:rPr>
              <a:t></a:t>
            </a:r>
            <a:r>
              <a:rPr kumimoji="0" lang="es-MX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 = 0, 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kumimoji="0" lang="es-MX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Proceso adiabático:     </a:t>
            </a:r>
            <a:r>
              <a:rPr kumimoji="0" lang="es-MX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 pitchFamily="18" charset="2"/>
                <a:ea typeface="+mn-ea"/>
                <a:cs typeface="+mn-cs"/>
              </a:rPr>
              <a:t></a:t>
            </a:r>
            <a:r>
              <a:rPr kumimoji="0" lang="es-MX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 = 0 </a:t>
            </a:r>
          </a:p>
        </p:txBody>
      </p:sp>
      <p:grpSp>
        <p:nvGrpSpPr>
          <p:cNvPr id="5" name="Group 3"/>
          <p:cNvGrpSpPr>
            <a:grpSpLocks/>
          </p:cNvGrpSpPr>
          <p:nvPr/>
        </p:nvGrpSpPr>
        <p:grpSpPr bwMode="auto">
          <a:xfrm>
            <a:off x="3276600" y="5562600"/>
            <a:ext cx="3124200" cy="617538"/>
            <a:chOff x="2064" y="3504"/>
            <a:chExt cx="1968" cy="389"/>
          </a:xfrm>
        </p:grpSpPr>
        <p:sp>
          <p:nvSpPr>
            <p:cNvPr id="6" name="AutoShape 4"/>
            <p:cNvSpPr>
              <a:spLocks noChangeArrowheads="1"/>
            </p:cNvSpPr>
            <p:nvPr/>
          </p:nvSpPr>
          <p:spPr bwMode="auto">
            <a:xfrm>
              <a:off x="2064" y="3504"/>
              <a:ext cx="1968" cy="389"/>
            </a:xfrm>
            <a:prstGeom prst="roundRect">
              <a:avLst>
                <a:gd name="adj" fmla="val 255"/>
              </a:avLst>
            </a:prstGeom>
            <a:solidFill>
              <a:srgbClr val="FFFFCC"/>
            </a:solidFill>
            <a:ln w="38160">
              <a:solidFill>
                <a:srgbClr val="000000"/>
              </a:solidFill>
              <a:round/>
              <a:headEnd/>
              <a:tailEnd/>
            </a:ln>
            <a:effectLst>
              <a:outerShdw dist="107933" dir="2700000" algn="ctr" rotWithShape="0">
                <a:srgbClr val="4D4D4D"/>
              </a:outerShdw>
            </a:effectLst>
          </p:spPr>
          <p:txBody>
            <a:bodyPr wrap="none" anchor="ctr"/>
            <a:lstStyle/>
            <a:p>
              <a:endParaRPr lang="es-CO"/>
            </a:p>
          </p:txBody>
        </p:sp>
        <p:sp>
          <p:nvSpPr>
            <p:cNvPr id="7" name="Text Box 5"/>
            <p:cNvSpPr txBox="1">
              <a:spLocks noChangeArrowheads="1"/>
            </p:cNvSpPr>
            <p:nvPr/>
          </p:nvSpPr>
          <p:spPr bwMode="auto">
            <a:xfrm>
              <a:off x="2064" y="3504"/>
              <a:ext cx="1968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ts val="2000"/>
                </a:spcBef>
                <a:buClr>
                  <a:srgbClr val="4D4D4D"/>
                </a:buClr>
                <a:buSzPct val="100000"/>
                <a:buFont typeface="Symbol" pitchFamily="18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 sz="3200">
                  <a:solidFill>
                    <a:srgbClr val="4D4D4D"/>
                  </a:solidFill>
                  <a:latin typeface="Symbol" pitchFamily="18" charset="2"/>
                </a:rPr>
                <a:t></a:t>
              </a:r>
              <a:r>
                <a:rPr lang="es-MX" sz="3200">
                  <a:solidFill>
                    <a:srgbClr val="4D4D4D"/>
                  </a:solidFill>
                  <a:latin typeface="Times New Roman" pitchFamily="18" charset="0"/>
                </a:rPr>
                <a:t>Q = </a:t>
              </a:r>
              <a:r>
                <a:rPr lang="es-MX" sz="3200">
                  <a:solidFill>
                    <a:srgbClr val="4D4D4D"/>
                  </a:solidFill>
                  <a:latin typeface="Symbol" pitchFamily="18" charset="2"/>
                </a:rPr>
                <a:t></a:t>
              </a:r>
              <a:r>
                <a:rPr lang="es-MX" sz="3200">
                  <a:solidFill>
                    <a:srgbClr val="4D4D4D"/>
                  </a:solidFill>
                  <a:latin typeface="Times New Roman" pitchFamily="18" charset="0"/>
                </a:rPr>
                <a:t>U + </a:t>
              </a:r>
              <a:r>
                <a:rPr lang="es-MX" sz="3200">
                  <a:solidFill>
                    <a:srgbClr val="4D4D4D"/>
                  </a:solidFill>
                  <a:latin typeface="Symbol" pitchFamily="18" charset="2"/>
                </a:rPr>
                <a:t></a:t>
              </a:r>
              <a:r>
                <a:rPr lang="es-MX" sz="3200">
                  <a:solidFill>
                    <a:srgbClr val="4D4D4D"/>
                  </a:solidFill>
                  <a:latin typeface="Times New Roman" pitchFamily="18" charset="0"/>
                </a:rPr>
                <a:t>W</a:t>
              </a:r>
            </a:p>
          </p:txBody>
        </p:sp>
      </p:grpSp>
      <p:sp>
        <p:nvSpPr>
          <p:cNvPr id="11" name="Text Box 8"/>
          <p:cNvSpPr txBox="1">
            <a:spLocks noChangeArrowheads="1"/>
          </p:cNvSpPr>
          <p:nvPr/>
        </p:nvSpPr>
        <p:spPr bwMode="auto">
          <a:xfrm>
            <a:off x="6416675" y="0"/>
            <a:ext cx="1584325" cy="7052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s-CO" sz="1400" dirty="0">
                <a:solidFill>
                  <a:schemeClr val="bg1"/>
                </a:solidFill>
              </a:rPr>
              <a:t>Pedro Alvarado</a:t>
            </a:r>
          </a:p>
          <a:p>
            <a:pPr>
              <a:lnSpc>
                <a:spcPct val="150000"/>
              </a:lnSpc>
            </a:pPr>
            <a:endParaRPr lang="es-ES" sz="1400" dirty="0">
              <a:solidFill>
                <a:schemeClr val="bg1"/>
              </a:solidFill>
            </a:endParaRPr>
          </a:p>
        </p:txBody>
      </p:sp>
      <p:sp>
        <p:nvSpPr>
          <p:cNvPr id="13" name="AutoShape 4" descr="Resultado de imagen para turbin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14" name="AutoShape 6" descr="Resultado de imagen para turbin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15" name="AutoShape 8" descr="Resultado de imagen para turbin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16" name="AutoShape 10" descr="data:image/jpeg;base64,/9j/4AAQSkZJRgABAQAAAQABAAD/2wCEAAkGBxMTEhMUEhMVFBUUFxcYGBgYFxUZGBoZHhgYGhcfGxobHiggHholHxccITEkJSkrMC4uHB8zODMsNygtLisBCgoKDg0OGhAQGywkHCY0LCwsLC8sLCwsNCwsLCwsLCwsLCwsLCwsLCwsLCwsLCwsNSwvLCwsLCwsLCwsLCwsLP/AABEIAK0BIwMBIgACEQEDEQH/xAAbAAEAAwEBAQEAAAAAAAAAAAAABAUGAwIBB//EAEMQAAEDAgQDBQYEAwUIAwEAAAEAAhEDIQQSMUEFUWETInGBkQYyQqGxwVJy0fAjM2IUQ4Lh8RUkU3OSorLCY3TSB//EABkBAQEAAwEAAAAAAAAAAAAAAAABAgMEBf/EACgRAQEAAgEDAwIHAQAAAAAAAAABAhEDEiExBEFREyIyUmFxgZGhM//aAAwDAQACEQMRAD8A+oiICIiAiIgIiICIiAiL6QRqg+IiICKXheF1qhhlMnvAG+k3kxMCOasX+y2KbBFLOTPdD2gdCXHTwAPkro2o0Wsw3DMMaooupVgYMuLXZJiYzEiT+WV74n7Isa0Op1mtnTORlJmwBkEct/BNJtkEXH+1s7TsxcjN3gWFpgbQTZdlFEREBERAREQEXptMkEgWbqdh58+Q1OykNw7SCQ7ugd5/wjoPxHUdCggYquGNLjoI+Zj7rzhcSHmBHS9yNoGvrCrfabEACm1pDg7M42IIiWtkG4vPoo3BMU6SKRu1pcAY192OehmxmyitEi9VBBPiV5VQREQEREBERAREQEREBERAXcUmiMx1E225KFij3Y52289dV1LJABmJFySDbX18ELZPKQcgOhItrM/ay+Meb5Wg/wCGYXGiWNMw0mIvPXp4fPmrvhvEQYDmMIJhsCCdtdCZ2stefXJuTZhycdurdINLC1jpmA8f0UjCcCfeXS07HY82nadwtE7E02iYnpofOVxp8SL3EUoMC+51tfSNdlzTLnz8TTq1w4++0WhwBu4lSDwfDgw5rJMmLT1t5rjxCpXawksq1AZnswHHwgEGNtNlhsf7cOL8lKlJBh3aOgi4nuDfxPJWcGe95Z/0xvLhZqY/22xo4YEmmYLSRLJBBGtxdd6ftWcPZ7zVbcNDrvBH9Q1t+K/VZzAPmnEz2meYAEVMxfoNJn5qv4w8EF3Msqevdf8ANdctk15cv0sZl1Tt+nssOKf/ANDr1YbTaGNcSJ0I8IMh285lSYSu55rmq5zywUsrnEucJcZ7xkz3RvdVTB32jk8qbgnkVK4G9IHzDx+pUbYk8D9+sPE+n+qsFX8E/m1esj7/AGVgrEyERFWIiKThsG5xbYjN7oALnu/K3UjqYbrdBHY0kgAEk6AXJ8lNoYGxc8gNb7xLstNv56nP+lkuPQrhj+K0MMC3+Y/QsY6Widq1Zuv5GQLXMrOcdxtWo/JWe0lshrG92m0SRDGgDlrHjMq9oaW2N9qabTlwuVzhpVeGgM/5VMnu/mMuPRVmCxuQu97+IH5xm99zjLnwY70/ENL3UHD03OJBJs0kD3eQEzBi/wCEg81bYDAhjgKhdRc6Cx8NyE696BpfbS3nPK+A8PpVWlzGucBEvDpjxuXR1iIm6Yn2YcB2jA2qw5C0h2jhVYSJdGUkBwm243hXlKmXvLQBQx1IZmkWZXb9LgfKdiGyMFjwAa7GQ2cmKoR7p0zhp22+R0MXSbQK2Hptux73EkyCZb8/suasOL4AUyHMvSqXYddpifpOxG8qvUBERAREQEREBERAREQEReqbJMc0LdPbKM6+nX9F6qM9VMbTUd95PP6bfvqt/Fh1V53Ny3y4HDktJFgLE/vdSMF3MOI5mOev6qPgKhitOhykfMH7Ke2hNGmB8Ux5uP6qc2Vt06PT4THHfussJQigCdSJ9b/RSuEYTsmF29QyfD4fufNTMRQBcymNPt/oFG49i8oDWjvGAAPQLQ7EjB44vqZBtcnkFS+1/AXVWZ2htSowgtdHfiYcOZEHTmAYsrvhWE7FkTL3XeeZ5eA/eq+Y/iTR3Rd50j96oj8/pYo+DiYPSo27fUWUbH1g4GNDMfleMzfR7SFo/afB9yo57C2oGlwcNSWiRfR0fLosOKdWsYaCOgEm5DvSZjxTQ80bvBkXLTqOX6qZRaO1q/8AJP8A5tXGvgxQGapVaHN73Z5ml7oMwGjTXddH5hUig6dWue0NjX3czgRMi4EwdVBI4fmbUqP2YS53MCCJI1HpsrDgT6mIa57KcUxo99mn8u7vK3VV+F4i3Dtq1nmXCo+m8d6MwdmpgXAgAmI0k7lccf7Xvrdm1pLWCZB7zokRpAIgn3gDYXMrDLHbbhn0d5O/z5XIdL8pqMIMwdBbW/qu7KAIs9s/mb577fPa5hUOGJGUuq9lUJMkyBsPeE6AxEGLabdKfEnsJaHB1Rxzsc54DTtLSQBeIvCyxkxmpGGdyzvVbutM3DNptzuDiBuKbqjieTKQH/dUgcmyqTi3GKzmPDab6DHatJirUM27Wo+CR/SLdBquOP4jiXspPbVfTLpY4ZzJewgENMgNkEW+UKJVFc5XuqEESJqOc33hBymJ0OtiOlis7WGnAQQAHsZYmJOWefzHXrdesPg21peZc6AJ3gaXd4/vVXXCOHuqsJZRotcGAuqODnFzQ4tIbIsRlBta8wVWU8VUa2swsyvphzmzBzAjuutbLYjyItECK68OpU2OINIOa0kEdJykg7GRr9Fb1KbGAMec+Gre486sdexOxF/n/UD+ct4jiaeJa9jg6wzBxsdZknQ9dL8l+i8PqU6rMv8AdYiw/wDjqjSPP7LKMa5ilUdNAn/eMP36Dxq9o+G/ONDoRf3TPf8A2i0dljmjuP8A4WKZtexJH6/0j4iold7+zFT+/wAG/K6/vMmPEiPkHndTsJSY7EVKM/weIUjUZ/TUiXRyOrvHLqqi+weDGWphCZaRnoOPLVpnoTB6OPNZlzSCQRBFiOR3UvhONcMNTe7+Zgqxo1B/QDl57Alo1+LfSV7T4fLWLhpUAf56O9SJ81iqpREQEREBERAREQEREBS8AySTyURWXDm90nr9grGrmusXWsIafT1soGJqhsZvdkA+CsMToOp+xP2VRxRsiBuuzhn2WvMz3c5E2nSu8Dl91bYWl/Dw52Dmz5PUHhQGdk/GzL5wD9QrZgDQaLrF0lnU7jx3XO9TFaYW9d07NJHqB91HNEGsajvgs3xO/kPquvD3l4J0rMEPHOdCOhj1BVNU4kezrTZ1N1/Ajun5H0Wqt3skcQ4g4uFKiM1R2gG3MnkOqs+DcCbT7zznqHVx0HRo2HXU/JReB4cUaQe7+ZUAc8nUA3DfAfWeig8T4/fKHa2AGp9FP2E3jLGjNTfD2nUa/wChWH4h7PdpA7eqWXloIaOksYGtPpstIMJiHDM6mabT+Ox/6dfUKPiqBZBmWkxmGx6jY8ucJCsNxHg5wlFzqbGOY735BdlEkTqI8QLSZhaLG0yGnugFl4Glth0VsJvP+LcdD4beEFRMVSh0jeZ8d0sJWY9oKLGsuwtz1XHNL3SS0RDQ2IcGTrHeVNheH5KjCzOQ6SZHuQNpIcTOkDkVr8bh2PNJhpsuASYILjL6YzQRmAa0e9P0RuEaxuXLNOQYicpI+uV3zhNG2dbgWF1TvFxIeGOhoYSNJuSNbEi8LjJewNHaONId0iTI/DOWMoOhnUla4UGzoDyPP9D1CkUcMCdLfQn7HcfsXpTbJkva2HBlJgyuhx77zmDX5R7pcA1zi0SYIiSuLX0ZFUuqOOQZWmWDNlvfcEiwvrFlucRwllVmVwHiQHQdJ8RpOseCtuDeyOGLO0LG5ySHWl2YG8k3Pir0ptkvZ6s6IJkWiHSBYb+R3sZI0gzONcLLqXcJDgZYZiHwbGPxCR0cOi0fEOCNa4OYAAbO8OflEqM6lIe0m5ZmF9wYPnIafMq9h+UN4NUcC2mABMWa0E3PIxpFp3C03srgHszUDIztLmdHsvbrbRXb+J0acSACdb84Fzt3iFUN9pGHFUnNAgVWm3Iw0+pJUGgcwOr0XkHJi6Rp1B/UBvblLdOflU0y9mFpuN6mAxYHxXaXwQLfE4gRuArLiNYCkDP8nFAieU5ieW/+iiYkjPxJkCHsbUiLS1od4ayoLarhAMbjaQ93FUBUbrGZum0a5jryTHVBVwWFqTJb3CbHYjYn/h891wZiv4vDas97szTOl4pkH5umy90z/ulVl/4dQgTOzmxr0d0RVUiIiCIiAiIgIiICIiArXAjuDxP1VUrXBHuDz+qyx8tHqPwmKd7vn9FWVa8PAOjreB2/RT8Y73fH7H9FS8QvELs4/wDm87v9WVeYYBzI0LTbnzBXV/EmGKWMBaHWZW0aDtP4TMd7TwXOAabXssSNtjuPVZTj3tRVYHUKtNlWW92e65p2JixHS3iua+dvSxrbn2hZhXsOKqBtSk4Mc7/i0XWzADVwgEgbtH4lS4rjeHr1anYVJFVtQZdHd05mkt27s6r8zr4eu/vvJMAASZho0A5AclywjqjCS1zmm4OVxBM63Gyxs34bJlp+01cY/FGlTpHKXsa5zvwNyguMecRzIVthaNDCD+GJedXuu8+ew6CAvz72U4xlJc1r2sp0W08zzmzGW/EAJPck+KtW1cTiO/TaAw6Oe7KD4WJI6wtVns2ytHiuNl2qq6mK13BsRsQuWF4U7+9qt8GyfmY+imuwtIQDpuTJ+46qzSXbnSAc23eyiRzy7gwNRYza3oqvi9V1MEtgzYTABOrLkgAkWkk6WBJVycK2mZGkg3i7SNQD4mDB0XGrRbMPmAY5Hm03vaSNDYlVGH4lxp5awspuFRrBYwWyXuzCRckEkaC4Vth8ZnpseQQKgNiJIM94Abum88ssK4xXGMHTZEMJIIMGZPoL67BZXBccD8zWtblFW0gm5aJ0IOwtPkg0OEoE5LENqAwYcIPmOk+EBTcPYAkRaDpqDymxiR4DqqTDcTJaLt7rjlNpAyiwLu8BtEjlfRfTjWzr8UCLDQ/qmzTUms0bzqN9QfDlGnJTOFcYDS8SAO6Z8o+3zWMHFQOWxnxdA+iz2M4hUe+GVGw7KMlpy5c0yJkwG2tbMpsb7j3tA1zXU2Ol52Gov00UAY2QCT8TvTuFZ+pToBhb/Z3ZzoS4hsxEkSAR0i/nK9UWue3JT7z2WgToZ8hAt5DSbhW8ToueXEOENPmG9JFjccrQbzCo8KGDFUmBvfL2mziZ5kzO08tFqGYXsnPNZwlwEtJZYaFpDSTEGLleqPCKFN7KjDdpOUnaYIvrz1nXxQW3FHTSrdagb5wBpovmKdNbF/8A13g6/hBGvQqM+uHdkwb1M7vIfWPoF4q4kZcVU/ERTbG+xj/DBVFhhXSeHC9y92/Jp+k6/qrfhLWOo187srTVeZ8Cw262Pz11VRTIZWpDbCYcuP5i3LG2tjt8rSsO3LhKYJ94yfE3Hn3vkoqNUiTlmNp1jr1Xld6zGNbTg5nPGaNMrOfOTsuCSpYIiKoIiICIiAiIgKzwTu55n9fuqxTsAe64eB+v6K4+Wnnn2OPEKmnQ/wCX3VW+tBkiQrDHjX19Lqvqs1Xbxd8bHnZXWUpjMc6jTe9riGgFx0INtptJWGp4wvqF1Qy5xknnyHkNlrcVgnYii7DB7aZqQGPcSAHZgWtJ5OIy+e+iwdHDvpveyoIcxzmm9g5riDcdQVzcl1dPS4pubX1fEF1vkmH4ZUfo0rvw7EURGYhavC+0+FpNgZZWP1Phn9NT4PgtVog1DSYbm9ifDSYm/gtCOJ1H92k0OA5OZAHroqTiftjSqd3KXDk0kHyIULhftTQacrKRcXHVwYT6yfstdu+7OTTXYRlaoR3qYn+omPQK5xPAsQwTmpvGUOs4gxf8QA258lm+HcVZ2ga2kGvdoGtbOkn3dFoXcULgWyQcsRf5gornhq5bNGq1zHOb3Zm4uYESDqYjc9VFxdSR+ZrOm46DmveKaCBIbF/dEcvQ6X/RQcQ+zeeVp25tPTkiMvwbDVHua+q7uEimBAInMRm7xdMGPQ2XbiOBLh2jAM7CQ9oHvcnRubX/AMlY8XexlMUphwETrHM2AVFxStVD6jKdQ1Gnsw0huUPIaYs74vevAMtEaBXweXVsgNLiQZLHDUkmTqN+ZPjyXLE4ltOm0ukycoJMghrjBIAjWLAyZjaV84bUo1I7V1SGS45IaItOaxNhPLddKeEL89IU+7TqOGUHQQ03M5vLobSFFcW12SwvaHNc4h7HEkNpmSTe06Ni2ql8RFWllAcMknK7u3A7wJy3jW0WsvL8EwUy0kEMc0ZZa2xGUm4IMRfwJFzCl8HfUa5rS60QyZtM92Y93aD1veFBT4rGw4gy3KQRlHeuZnOG6i/O3Iq64RhS1jmS0udBcO0yv2MguBB1mLKyxuM7MF76VENbEuNKmYG5s0lZvH4ik+qQQ99Rzsw2p3Etc4Ag2bAjYeJRXdvCzAtUeQTLC1rTBIklpJLpEjuk6aLlUrOe+HAgMIETckXIg7g92SYG6kcP9mWnLinve2XQxlv4gaIcSdm2AtqZiIU9/DaZ2j99dfNPJvStbSaZAFsoMMzHMdvX4dzlzGzlIw2EcXQ0yAZ2ylwnM4chn0PIPOy7u4cTPfHoR4yROulgOsqdSowP5hBtdoiIjSRrYeGwCmqu4nngbKNI1cS/vPguEnM4xZsTc9NlT0w97SHd1uYuDdbmxtsAAB1ud11ZRg5nOc934nmT5bDyXVWY/LG5fDxTZE3JJ1JuT4r2iLJiIiICIiAiIgIiIClcPd3o5iPv9lFXuk/KQeSRjnN42J2Joyqp9OPKyvyJUHE0bnqJ8xY/ZdnBfu08nl/Dtn8Uym9jmPsCCDNpB5FY1zxSmmQC24a6IBGxW44nh1QcVwzWsLnAHYDm46emvksefjdnpea2d2extFpu1Vb2wrV2CPZvqZoDSBcak7DyXJ/CKuvd/lCtqZDTl1tr3guWT5dnVvxHPhbj2jSHikQZD3TDSASJgG0wNN1t8BicRSd/vGR++em4T5gtDSPRZ/BcM7Ke1LS0ODajSxrgGuEsc1xuIidBpCv8NLCKDxZtmOGwGx/p5cvoI2HAcW2o7Mas7NkRffw8k4xLDDrg+67xN46gKPgKTcgay1odB96d/HkVX4bijg5+FxV8tw7T8rgfhN9dNQd1FT2Yn4HGMwF5FnatJ6deRK5NxAY4l3vAEMETcWuN9Y2idtVBxgLXNzmBBEgWPVpGkzMbGYOhMOtUpmMxqPgRqKYPjGZx/wCoJtdPld2asXywNhvaNzS6SYHZt5k6Alu/gpHHHCmzQEOAbrGUgy10jkZH+IrxhcTSpCWUaTTNiQXuJ096oXGVL4fgKVQZnsa46EXgHUy2YnfrM7rLG77McppmsTh6j4yMc5rhYNlzRAObSwgj0hS6AxQbmMMaIHetUaOcn4TvJ8gtjQw9MuaKgOSRIaALDQADZZvF8Rbi8Q0BgZSbOVm4guAzEXzHuyJ6KWeyy+6qa11RjmUW5yQy41Fy46C2nz8lY1MBWyw6bNHxCZ21M7yrajSawQxoaOQAA+S9rHS9Spw2DqZ3CpLmVWlryXTEix1mxMeqlO4VSzF0HMdb2/X5qYiuk6q91KhdE7ANA2AGgA2C8IiqCIiAiIgIiICIiAiIgIiICIiAiIgtcDUlscvpsvuIbaeV/wBfkoGDrZXX0NlaFbcMtd3n8+GsrPaqrG0QRz3WS40C86QG6D6nxW2qsiR5jw/y/RUfFMHuu7KTPHqjk4srhl0VkcbSJZSpDcl5/M45W+gaFYYmDiMXHu06HZjwz0x/6qLjO7WJ2aW/KF0w4nE4wfjbUaOpBD/o0+q8/LHVevhlKkUWZnU2H++w1MDq9rGkf+LvVSuHYnP/AAn2qMEA/iaP/YfMX5qrpPL8M1zTD8M+J3AnMw+sj/CrKowVQzEMEH4gPhcNf1HQhYti64S2oyYaXAAugamLmOqmcbw7MVhW4mh3nsbmkfFSNzY3lvveGZfeCcQGZsQH6x4RPlf5qiqcWfgsfVJMUBTD2s+EtLnEiOhzNjkAsVQ8FxQ1GOou+IA0idnwXNb4Ou3xcvnCKTapAc9wzaRH4Q4ag9fRRuOUGU67ux/l/wAOpTj8BJiPC7fFqjYfFFpzbgz5teT9CU0ba5/BmsEgl1tXHb6LzhqhYZFy0abvZ/8Apv71UjAY9tRkE6GPJ3un1so1ek8nuAlwJIgEw8agx8Lh9+ayxSrpjw5oc0yCJBVVU4YG1jVaBDpJ6O09DJPipnCMDiM3dov7OoC4tMTTfvbWD03vuVb0eFPe7IcjZmzniY3sJNlnlqxjFEi742iGPcwHMWmCR7s7gb2t6rgtbIREQEREBERAREQEREBERAREQEREBERAREQFZ4StmbG4+myrF7pVC0yFZdNXLx9eP6rGsJ8RoodZuYfvVSg8ESFwrDcef75rs4eTXa+HlcmFveeYyPEuHkEnWd1Wh+Svm/qBPgQM3ylbHFsDgstjsKczjG/0ssuXi23cHL27o3DTkrVWH3HEsPndp8jHkSu3DMf2DnNd7pdB6HY+W/QlQcQDmM7wflH2Xfh/DnYquGSRmguIEmBY+ZtHUhcdxsehOSXys+LYk08r2GC11j5GfJevaar/AG2hQfSY5z3ZmPa0FxBsdtrTfYrQYz2aoUKLQQ/EfxMozugWa6LNibjLBKmYZtYDJh8OKbRMBrIHmXQ2fGIWn6uHy3TDKqHh/shXq029uRSDWltu87JOYT8IgufudRZWjPZnA0iDUcXmZvUJju8qcWgK1ZwSq8TWrZZMlo7x0AvByzbXb6SqXCMOy5DnnXvO3392Foz9Zxzx3bsfS53yquFdixxZTpNcb9/IGwwe6HakkSG6idYFwp7OLFhc4Q4saYaYgmLTyAhfOKcSpMp5KYa2TctEAHkIu5yzTQSc2cOzgjKwyG7y4nbKNtyY1W/HO3HdndzdO8+17T/W9f7SNDGnUkDaBJA5rO/7ec42zCO80Fvdklw96DMXm+hEahUn9vLu72YvlAnZ0Hqfly6qZTYGtDRtcnmTEn0AA6AKzu2W6ffn+5PzREWTAREQEREBERAREQEREBERAREQEREBERAREQEREHSlVI8OX73XZzpuFFX1roWWOWmnl4Zn3nl4rqvrAFWboPTwXB2DB1J/7f16rpw55I4r6fPfhnMVw0veMvIADeZJ+62HstwXsRcAudcnkQRl8hfXU9AuNCkxu21419dvJSnY8xDRlH18Vyep5s8508c/l3+m4JL1ct/hoDjGsEAwodfi45yqJ1QnUryvOx9D+avSy9Z+WJOJ4+c+QNJcRPIageMSRcAxfkqriXEaxgAZpMQ2YBgHUjvWM6RZdcXhG1BDh4EWI8CvNLAtGrnuMzcgA2AJMRJOUfPmunD02GF3I58+fLOaqEwVSD3b9HGY3EkQL8vJc6OFr3AAY0m8ukkXtIkxdXIEL6t+o1bR8Nhct3HM6ImI9ApCIqgiIgIiICIiAiIgIiICIiAiIgIiICIiAiIgIiICIiAiIgIiICIiAiIgIiICIiAiIgIiICIiAiIgIiICIiAiIgIiICIiD/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18" name="AutoShape 2" descr="Resultado de imagen para sistema termodinamic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8"/>
          <p:cNvSpPr txBox="1">
            <a:spLocks noChangeArrowheads="1"/>
          </p:cNvSpPr>
          <p:nvPr/>
        </p:nvSpPr>
        <p:spPr bwMode="auto">
          <a:xfrm>
            <a:off x="6416675" y="0"/>
            <a:ext cx="1584325" cy="7052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s-CO" sz="1400" dirty="0">
                <a:solidFill>
                  <a:schemeClr val="bg1"/>
                </a:solidFill>
              </a:rPr>
              <a:t>Pedro Alvarado</a:t>
            </a:r>
          </a:p>
          <a:p>
            <a:pPr>
              <a:lnSpc>
                <a:spcPct val="150000"/>
              </a:lnSpc>
            </a:pPr>
            <a:endParaRPr lang="es-ES" sz="1400" dirty="0">
              <a:solidFill>
                <a:schemeClr val="bg1"/>
              </a:solidFill>
            </a:endParaRPr>
          </a:p>
        </p:txBody>
      </p:sp>
      <p:sp>
        <p:nvSpPr>
          <p:cNvPr id="8" name="AutoShape 4" descr="Resultado de imagen para turbin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9" name="AutoShape 6" descr="Resultado de imagen para turbin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10" name="AutoShape 8" descr="Resultado de imagen para turbin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11" name="AutoShape 10" descr="data:image/jpeg;base64,/9j/4AAQSkZJRgABAQAAAQABAAD/2wCEAAkGBxMTEhMUEhMVFBUUFxcYGBgYFxUZGBoZHhgYGhcfGxobHiggHholHxccITEkJSkrMC4uHB8zODMsNygtLisBCgoKDg0OGhAQGywkHCY0LCwsLC8sLCwsNCwsLCwsLCwsLCwsLCwsLCwsLCwsLCwsNSwvLCwsLCwsLCwsLCwsLP/AABEIAK0BIwMBIgACEQEDEQH/xAAbAAEAAwEBAQEAAAAAAAAAAAAABAUGAwIBB//EAEMQAAEDAgQDBQYEAwUIAwEAAAEAAhEDIQQSMUEFUWETInGBkQYyQqGxwVJy0fAjM2IUQ4Lh8RUkU3OSorLCY3TSB//EABkBAQEAAwEAAAAAAAAAAAAAAAABAgMEBf/EACgRAQEAAgEDAwIHAQAAAAAAAAABAhEDEiExBEFREyIyUmFxgZGhM//aAAwDAQACEQMRAD8A+oiICIiAiIgIiICIiAiL6QRqg+IiICKXheF1qhhlMnvAG+k3kxMCOasX+y2KbBFLOTPdD2gdCXHTwAPkro2o0Wsw3DMMaooupVgYMuLXZJiYzEiT+WV74n7Isa0Op1mtnTORlJmwBkEct/BNJtkEXH+1s7TsxcjN3gWFpgbQTZdlFEREBERAREQEXptMkEgWbqdh58+Q1OykNw7SCQ7ugd5/wjoPxHUdCggYquGNLjoI+Zj7rzhcSHmBHS9yNoGvrCrfabEACm1pDg7M42IIiWtkG4vPoo3BMU6SKRu1pcAY192OehmxmyitEi9VBBPiV5VQREQEREBERAREQEREBERAXcUmiMx1E225KFij3Y52289dV1LJABmJFySDbX18ELZPKQcgOhItrM/ay+Meb5Wg/wCGYXGiWNMw0mIvPXp4fPmrvhvEQYDmMIJhsCCdtdCZ2stefXJuTZhycdurdINLC1jpmA8f0UjCcCfeXS07HY82nadwtE7E02iYnpofOVxp8SL3EUoMC+51tfSNdlzTLnz8TTq1w4++0WhwBu4lSDwfDgw5rJMmLT1t5rjxCpXawksq1AZnswHHwgEGNtNlhsf7cOL8lKlJBh3aOgi4nuDfxPJWcGe95Z/0xvLhZqY/22xo4YEmmYLSRLJBBGtxdd6ftWcPZ7zVbcNDrvBH9Q1t+K/VZzAPmnEz2meYAEVMxfoNJn5qv4w8EF3Msqevdf8ANdctk15cv0sZl1Tt+nssOKf/ANDr1YbTaGNcSJ0I8IMh285lSYSu55rmq5zywUsrnEucJcZ7xkz3RvdVTB32jk8qbgnkVK4G9IHzDx+pUbYk8D9+sPE+n+qsFX8E/m1esj7/AGVgrEyERFWIiKThsG5xbYjN7oALnu/K3UjqYbrdBHY0kgAEk6AXJ8lNoYGxc8gNb7xLstNv56nP+lkuPQrhj+K0MMC3+Y/QsY6Widq1Zuv5GQLXMrOcdxtWo/JWe0lshrG92m0SRDGgDlrHjMq9oaW2N9qabTlwuVzhpVeGgM/5VMnu/mMuPRVmCxuQu97+IH5xm99zjLnwY70/ENL3UHD03OJBJs0kD3eQEzBi/wCEg81bYDAhjgKhdRc6Cx8NyE696BpfbS3nPK+A8PpVWlzGucBEvDpjxuXR1iIm6Yn2YcB2jA2qw5C0h2jhVYSJdGUkBwm243hXlKmXvLQBQx1IZmkWZXb9LgfKdiGyMFjwAa7GQ2cmKoR7p0zhp22+R0MXSbQK2Hptux73EkyCZb8/suasOL4AUyHMvSqXYddpifpOxG8qvUBERAREQEREBERAREQEReqbJMc0LdPbKM6+nX9F6qM9VMbTUd95PP6bfvqt/Fh1V53Ny3y4HDktJFgLE/vdSMF3MOI5mOev6qPgKhitOhykfMH7Ke2hNGmB8Ux5uP6qc2Vt06PT4THHfussJQigCdSJ9b/RSuEYTsmF29QyfD4fufNTMRQBcymNPt/oFG49i8oDWjvGAAPQLQ7EjB44vqZBtcnkFS+1/AXVWZ2htSowgtdHfiYcOZEHTmAYsrvhWE7FkTL3XeeZ5eA/eq+Y/iTR3Rd50j96oj8/pYo+DiYPSo27fUWUbH1g4GNDMfleMzfR7SFo/afB9yo57C2oGlwcNSWiRfR0fLosOKdWsYaCOgEm5DvSZjxTQ80bvBkXLTqOX6qZRaO1q/8AJP8A5tXGvgxQGapVaHN73Z5ml7oMwGjTXddH5hUig6dWue0NjX3czgRMi4EwdVBI4fmbUqP2YS53MCCJI1HpsrDgT6mIa57KcUxo99mn8u7vK3VV+F4i3Dtq1nmXCo+m8d6MwdmpgXAgAmI0k7lccf7Xvrdm1pLWCZB7zokRpAIgn3gDYXMrDLHbbhn0d5O/z5XIdL8pqMIMwdBbW/qu7KAIs9s/mb577fPa5hUOGJGUuq9lUJMkyBsPeE6AxEGLabdKfEnsJaHB1Rxzsc54DTtLSQBeIvCyxkxmpGGdyzvVbutM3DNptzuDiBuKbqjieTKQH/dUgcmyqTi3GKzmPDab6DHatJirUM27Wo+CR/SLdBquOP4jiXspPbVfTLpY4ZzJewgENMgNkEW+UKJVFc5XuqEESJqOc33hBymJ0OtiOlis7WGnAQQAHsZYmJOWefzHXrdesPg21peZc6AJ3gaXd4/vVXXCOHuqsJZRotcGAuqODnFzQ4tIbIsRlBta8wVWU8VUa2swsyvphzmzBzAjuutbLYjyItECK68OpU2OINIOa0kEdJykg7GRr9Fb1KbGAMec+Gre486sdexOxF/n/UD+ct4jiaeJa9jg6wzBxsdZknQ9dL8l+i8PqU6rMv8AdYiw/wDjqjSPP7LKMa5ilUdNAn/eMP36Dxq9o+G/ONDoRf3TPf8A2i0dljmjuP8A4WKZtexJH6/0j4iold7+zFT+/wAG/K6/vMmPEiPkHndTsJSY7EVKM/weIUjUZ/TUiXRyOrvHLqqi+weDGWphCZaRnoOPLVpnoTB6OPNZlzSCQRBFiOR3UvhONcMNTe7+Zgqxo1B/QDl57Alo1+LfSV7T4fLWLhpUAf56O9SJ81iqpREQEREBERAREQEREBS8AySTyURWXDm90nr9grGrmusXWsIafT1soGJqhsZvdkA+CsMToOp+xP2VRxRsiBuuzhn2WvMz3c5E2nSu8Dl91bYWl/Dw52Dmz5PUHhQGdk/GzL5wD9QrZgDQaLrF0lnU7jx3XO9TFaYW9d07NJHqB91HNEGsajvgs3xO/kPquvD3l4J0rMEPHOdCOhj1BVNU4kezrTZ1N1/Ajun5H0Wqt3skcQ4g4uFKiM1R2gG3MnkOqs+DcCbT7zznqHVx0HRo2HXU/JReB4cUaQe7+ZUAc8nUA3DfAfWeig8T4/fKHa2AGp9FP2E3jLGjNTfD2nUa/wChWH4h7PdpA7eqWXloIaOksYGtPpstIMJiHDM6mabT+Ox/6dfUKPiqBZBmWkxmGx6jY8ucJCsNxHg5wlFzqbGOY735BdlEkTqI8QLSZhaLG0yGnugFl4Glth0VsJvP+LcdD4beEFRMVSh0jeZ8d0sJWY9oKLGsuwtz1XHNL3SS0RDQ2IcGTrHeVNheH5KjCzOQ6SZHuQNpIcTOkDkVr8bh2PNJhpsuASYILjL6YzQRmAa0e9P0RuEaxuXLNOQYicpI+uV3zhNG2dbgWF1TvFxIeGOhoYSNJuSNbEi8LjJewNHaONId0iTI/DOWMoOhnUla4UGzoDyPP9D1CkUcMCdLfQn7HcfsXpTbJkva2HBlJgyuhx77zmDX5R7pcA1zi0SYIiSuLX0ZFUuqOOQZWmWDNlvfcEiwvrFlucRwllVmVwHiQHQdJ8RpOseCtuDeyOGLO0LG5ySHWl2YG8k3Pir0ptkvZ6s6IJkWiHSBYb+R3sZI0gzONcLLqXcJDgZYZiHwbGPxCR0cOi0fEOCNa4OYAAbO8OflEqM6lIe0m5ZmF9wYPnIafMq9h+UN4NUcC2mABMWa0E3PIxpFp3C03srgHszUDIztLmdHsvbrbRXb+J0acSACdb84Fzt3iFUN9pGHFUnNAgVWm3Iw0+pJUGgcwOr0XkHJi6Rp1B/UBvblLdOflU0y9mFpuN6mAxYHxXaXwQLfE4gRuArLiNYCkDP8nFAieU5ieW/+iiYkjPxJkCHsbUiLS1od4ayoLarhAMbjaQ93FUBUbrGZum0a5jryTHVBVwWFqTJb3CbHYjYn/h891wZiv4vDas97szTOl4pkH5umy90z/ulVl/4dQgTOzmxr0d0RVUiIiCIiAiIgIiICIiArXAjuDxP1VUrXBHuDz+qyx8tHqPwmKd7vn9FWVa8PAOjreB2/RT8Y73fH7H9FS8QvELs4/wDm87v9WVeYYBzI0LTbnzBXV/EmGKWMBaHWZW0aDtP4TMd7TwXOAabXssSNtjuPVZTj3tRVYHUKtNlWW92e65p2JixHS3iua+dvSxrbn2hZhXsOKqBtSk4Mc7/i0XWzADVwgEgbtH4lS4rjeHr1anYVJFVtQZdHd05mkt27s6r8zr4eu/vvJMAASZho0A5AclywjqjCS1zmm4OVxBM63Gyxs34bJlp+01cY/FGlTpHKXsa5zvwNyguMecRzIVthaNDCD+GJedXuu8+ew6CAvz72U4xlJc1r2sp0W08zzmzGW/EAJPck+KtW1cTiO/TaAw6Oe7KD4WJI6wtVns2ytHiuNl2qq6mK13BsRsQuWF4U7+9qt8GyfmY+imuwtIQDpuTJ+46qzSXbnSAc23eyiRzy7gwNRYza3oqvi9V1MEtgzYTABOrLkgAkWkk6WBJVycK2mZGkg3i7SNQD4mDB0XGrRbMPmAY5Hm03vaSNDYlVGH4lxp5awspuFRrBYwWyXuzCRckEkaC4Vth8ZnpseQQKgNiJIM94Abum88ssK4xXGMHTZEMJIIMGZPoL67BZXBccD8zWtblFW0gm5aJ0IOwtPkg0OEoE5LENqAwYcIPmOk+EBTcPYAkRaDpqDymxiR4DqqTDcTJaLt7rjlNpAyiwLu8BtEjlfRfTjWzr8UCLDQ/qmzTUms0bzqN9QfDlGnJTOFcYDS8SAO6Z8o+3zWMHFQOWxnxdA+iz2M4hUe+GVGw7KMlpy5c0yJkwG2tbMpsb7j3tA1zXU2Ol52Gov00UAY2QCT8TvTuFZ+pToBhb/Z3ZzoS4hsxEkSAR0i/nK9UWue3JT7z2WgToZ8hAt5DSbhW8ToueXEOENPmG9JFjccrQbzCo8KGDFUmBvfL2mziZ5kzO08tFqGYXsnPNZwlwEtJZYaFpDSTEGLleqPCKFN7KjDdpOUnaYIvrz1nXxQW3FHTSrdagb5wBpovmKdNbF/8A13g6/hBGvQqM+uHdkwb1M7vIfWPoF4q4kZcVU/ERTbG+xj/DBVFhhXSeHC9y92/Jp+k6/qrfhLWOo187srTVeZ8Cw262Pz11VRTIZWpDbCYcuP5i3LG2tjt8rSsO3LhKYJ94yfE3Hn3vkoqNUiTlmNp1jr1Xld6zGNbTg5nPGaNMrOfOTsuCSpYIiKoIiICIiAiIgKzwTu55n9fuqxTsAe64eB+v6K4+Wnnn2OPEKmnQ/wCX3VW+tBkiQrDHjX19Lqvqs1Xbxd8bHnZXWUpjMc6jTe9riGgFx0INtptJWGp4wvqF1Qy5xknnyHkNlrcVgnYii7DB7aZqQGPcSAHZgWtJ5OIy+e+iwdHDvpveyoIcxzmm9g5riDcdQVzcl1dPS4pubX1fEF1vkmH4ZUfo0rvw7EURGYhavC+0+FpNgZZWP1Phn9NT4PgtVog1DSYbm9ifDSYm/gtCOJ1H92k0OA5OZAHroqTiftjSqd3KXDk0kHyIULhftTQacrKRcXHVwYT6yfstdu+7OTTXYRlaoR3qYn+omPQK5xPAsQwTmpvGUOs4gxf8QA258lm+HcVZ2ga2kGvdoGtbOkn3dFoXcULgWyQcsRf5gornhq5bNGq1zHOb3Zm4uYESDqYjc9VFxdSR+ZrOm46DmveKaCBIbF/dEcvQ6X/RQcQ+zeeVp25tPTkiMvwbDVHua+q7uEimBAInMRm7xdMGPQ2XbiOBLh2jAM7CQ9oHvcnRubX/AMlY8XexlMUphwETrHM2AVFxStVD6jKdQ1Gnsw0huUPIaYs74vevAMtEaBXweXVsgNLiQZLHDUkmTqN+ZPjyXLE4ltOm0ukycoJMghrjBIAjWLAyZjaV84bUo1I7V1SGS45IaItOaxNhPLddKeEL89IU+7TqOGUHQQ03M5vLobSFFcW12SwvaHNc4h7HEkNpmSTe06Ni2ql8RFWllAcMknK7u3A7wJy3jW0WsvL8EwUy0kEMc0ZZa2xGUm4IMRfwJFzCl8HfUa5rS60QyZtM92Y93aD1veFBT4rGw4gy3KQRlHeuZnOG6i/O3Iq64RhS1jmS0udBcO0yv2MguBB1mLKyxuM7MF76VENbEuNKmYG5s0lZvH4ik+qQQ99Rzsw2p3Etc4Ag2bAjYeJRXdvCzAtUeQTLC1rTBIklpJLpEjuk6aLlUrOe+HAgMIETckXIg7g92SYG6kcP9mWnLinve2XQxlv4gaIcSdm2AtqZiIU9/DaZ2j99dfNPJvStbSaZAFsoMMzHMdvX4dzlzGzlIw2EcXQ0yAZ2ylwnM4chn0PIPOy7u4cTPfHoR4yROulgOsqdSowP5hBtdoiIjSRrYeGwCmqu4nngbKNI1cS/vPguEnM4xZsTc9NlT0w97SHd1uYuDdbmxtsAAB1ud11ZRg5nOc934nmT5bDyXVWY/LG5fDxTZE3JJ1JuT4r2iLJiIiICIiAiIgIiIClcPd3o5iPv9lFXuk/KQeSRjnN42J2Joyqp9OPKyvyJUHE0bnqJ8xY/ZdnBfu08nl/Dtn8Uym9jmPsCCDNpB5FY1zxSmmQC24a6IBGxW44nh1QcVwzWsLnAHYDm46emvksefjdnpea2d2extFpu1Vb2wrV2CPZvqZoDSBcak7DyXJ/CKuvd/lCtqZDTl1tr3guWT5dnVvxHPhbj2jSHikQZD3TDSASJgG0wNN1t8BicRSd/vGR++em4T5gtDSPRZ/BcM7Ke1LS0ODajSxrgGuEsc1xuIidBpCv8NLCKDxZtmOGwGx/p5cvoI2HAcW2o7Mas7NkRffw8k4xLDDrg+67xN46gKPgKTcgay1odB96d/HkVX4bijg5+FxV8tw7T8rgfhN9dNQd1FT2Yn4HGMwF5FnatJ6deRK5NxAY4l3vAEMETcWuN9Y2idtVBxgLXNzmBBEgWPVpGkzMbGYOhMOtUpmMxqPgRqKYPjGZx/wCoJtdPld2asXywNhvaNzS6SYHZt5k6Alu/gpHHHCmzQEOAbrGUgy10jkZH+IrxhcTSpCWUaTTNiQXuJ096oXGVL4fgKVQZnsa46EXgHUy2YnfrM7rLG77McppmsTh6j4yMc5rhYNlzRAObSwgj0hS6AxQbmMMaIHetUaOcn4TvJ8gtjQw9MuaKgOSRIaALDQADZZvF8Rbi8Q0BgZSbOVm4guAzEXzHuyJ6KWeyy+6qa11RjmUW5yQy41Fy46C2nz8lY1MBWyw6bNHxCZ21M7yrajSawQxoaOQAA+S9rHS9Spw2DqZ3CpLmVWlryXTEix1mxMeqlO4VSzF0HMdb2/X5qYiuk6q91KhdE7ANA2AGgA2C8IiqCIiAiIgIiICIiAiIgIiICIiAiIgtcDUlscvpsvuIbaeV/wBfkoGDrZXX0NlaFbcMtd3n8+GsrPaqrG0QRz3WS40C86QG6D6nxW2qsiR5jw/y/RUfFMHuu7KTPHqjk4srhl0VkcbSJZSpDcl5/M45W+gaFYYmDiMXHu06HZjwz0x/6qLjO7WJ2aW/KF0w4nE4wfjbUaOpBD/o0+q8/LHVevhlKkUWZnU2H++w1MDq9rGkf+LvVSuHYnP/AAn2qMEA/iaP/YfMX5qrpPL8M1zTD8M+J3AnMw+sj/CrKowVQzEMEH4gPhcNf1HQhYti64S2oyYaXAAugamLmOqmcbw7MVhW4mh3nsbmkfFSNzY3lvveGZfeCcQGZsQH6x4RPlf5qiqcWfgsfVJMUBTD2s+EtLnEiOhzNjkAsVQ8FxQ1GOou+IA0idnwXNb4Ou3xcvnCKTapAc9wzaRH4Q4ag9fRRuOUGU67ux/l/wAOpTj8BJiPC7fFqjYfFFpzbgz5teT9CU0ba5/BmsEgl1tXHb6LzhqhYZFy0abvZ/8Apv71UjAY9tRkE6GPJ3un1so1ek8nuAlwJIgEw8agx8Lh9+ayxSrpjw5oc0yCJBVVU4YG1jVaBDpJ6O09DJPipnCMDiM3dov7OoC4tMTTfvbWD03vuVb0eFPe7IcjZmzniY3sJNlnlqxjFEi742iGPcwHMWmCR7s7gb2t6rgtbIREQEREBERAREQEREBERAREQEREBERAREQFZ4StmbG4+myrF7pVC0yFZdNXLx9eP6rGsJ8RoodZuYfvVSg8ESFwrDcef75rs4eTXa+HlcmFveeYyPEuHkEnWd1Wh+Svm/qBPgQM3ylbHFsDgstjsKczjG/0ssuXi23cHL27o3DTkrVWH3HEsPndp8jHkSu3DMf2DnNd7pdB6HY+W/QlQcQDmM7wflH2Xfh/DnYquGSRmguIEmBY+ZtHUhcdxsehOSXys+LYk08r2GC11j5GfJevaar/AG2hQfSY5z3ZmPa0FxBsdtrTfYrQYz2aoUKLQQ/EfxMozugWa6LNibjLBKmYZtYDJh8OKbRMBrIHmXQ2fGIWn6uHy3TDKqHh/shXq029uRSDWltu87JOYT8IgufudRZWjPZnA0iDUcXmZvUJju8qcWgK1ZwSq8TWrZZMlo7x0AvByzbXb6SqXCMOy5DnnXvO3392Foz9Zxzx3bsfS53yquFdixxZTpNcb9/IGwwe6HakkSG6idYFwp7OLFhc4Q4saYaYgmLTyAhfOKcSpMp5KYa2TctEAHkIu5yzTQSc2cOzgjKwyG7y4nbKNtyY1W/HO3HdndzdO8+17T/W9f7SNDGnUkDaBJA5rO/7ec42zCO80Fvdklw96DMXm+hEahUn9vLu72YvlAnZ0Hqfly6qZTYGtDRtcnmTEn0AA6AKzu2W6ffn+5PzREWTAREQEREBERAREQEREBERAREQEREBERAREQEREHSlVI8OX73XZzpuFFX1roWWOWmnl4Zn3nl4rqvrAFWboPTwXB2DB1J/7f16rpw55I4r6fPfhnMVw0veMvIADeZJ+62HstwXsRcAudcnkQRl8hfXU9AuNCkxu21419dvJSnY8xDRlH18Vyep5s8508c/l3+m4JL1ct/hoDjGsEAwodfi45yqJ1QnUryvOx9D+avSy9Z+WJOJ4+c+QNJcRPIageMSRcAxfkqriXEaxgAZpMQ2YBgHUjvWM6RZdcXhG1BDh4EWI8CvNLAtGrnuMzcgA2AJMRJOUfPmunD02GF3I58+fLOaqEwVSD3b9HGY3EkQL8vJc6OFr3AAY0m8ukkXtIkxdXIEL6t+o1bR8Nhct3HM6ImI9ApCIqgiIgIiICIiAiIgIiICIiAiIgIiICIiAiIgIiICIiAiIgIiICIiAiIgIiICIiAiIgIiICIiAiIgIiICIiAiIgIiICIiD/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13" name="AutoShape 2" descr="Resultado de imagen para sistema termodinamic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25" name="Text Box 1"/>
          <p:cNvSpPr txBox="1">
            <a:spLocks noChangeArrowheads="1"/>
          </p:cNvSpPr>
          <p:nvPr/>
        </p:nvSpPr>
        <p:spPr bwMode="auto">
          <a:xfrm>
            <a:off x="1219200" y="2527300"/>
            <a:ext cx="7696200" cy="5869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>
              <a:spcBef>
                <a:spcPts val="2000"/>
              </a:spcBef>
              <a:buClr>
                <a:srgbClr val="FFFFFF"/>
              </a:buClr>
              <a:buSzPct val="100000"/>
              <a:buFont typeface="Symbol" pitchFamily="18" charset="2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MX" sz="3200">
                <a:latin typeface="Symbol" pitchFamily="18" charset="2"/>
              </a:rPr>
              <a:t></a:t>
            </a:r>
            <a:r>
              <a:rPr lang="es-MX" sz="3200">
                <a:latin typeface="Times New Roman" pitchFamily="18" charset="0"/>
              </a:rPr>
              <a:t>Q = </a:t>
            </a:r>
            <a:r>
              <a:rPr lang="es-MX" sz="3200">
                <a:latin typeface="Symbol" pitchFamily="18" charset="2"/>
              </a:rPr>
              <a:t></a:t>
            </a:r>
            <a:r>
              <a:rPr lang="es-MX" sz="3200">
                <a:latin typeface="Times New Roman" pitchFamily="18" charset="0"/>
              </a:rPr>
              <a:t>U + </a:t>
            </a:r>
            <a:r>
              <a:rPr lang="es-MX" sz="3200">
                <a:latin typeface="Symbol" pitchFamily="18" charset="2"/>
              </a:rPr>
              <a:t></a:t>
            </a:r>
            <a:r>
              <a:rPr lang="es-MX" sz="3200">
                <a:latin typeface="Times New Roman" pitchFamily="18" charset="0"/>
              </a:rPr>
              <a:t>W     de modo que      </a:t>
            </a:r>
            <a:r>
              <a:rPr lang="es-MX" sz="3200">
                <a:latin typeface="Symbol" pitchFamily="18" charset="2"/>
              </a:rPr>
              <a:t></a:t>
            </a:r>
            <a:r>
              <a:rPr lang="es-MX" sz="3200">
                <a:latin typeface="Times New Roman" pitchFamily="18" charset="0"/>
              </a:rPr>
              <a:t>Q = </a:t>
            </a:r>
            <a:r>
              <a:rPr lang="es-MX" sz="3200">
                <a:latin typeface="Symbol" pitchFamily="18" charset="2"/>
              </a:rPr>
              <a:t></a:t>
            </a:r>
            <a:r>
              <a:rPr lang="es-MX" sz="3200">
                <a:latin typeface="Times New Roman" pitchFamily="18" charset="0"/>
              </a:rPr>
              <a:t>U</a:t>
            </a:r>
          </a:p>
        </p:txBody>
      </p:sp>
      <p:sp>
        <p:nvSpPr>
          <p:cNvPr id="2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914400"/>
            <a:ext cx="8534400" cy="1447800"/>
          </a:xfrm>
          <a:ln/>
        </p:spPr>
        <p:txBody>
          <a:bodyPr/>
          <a:lstStyle/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MX" sz="3600" b="1" i="1" dirty="0">
                <a:solidFill>
                  <a:srgbClr val="C00000"/>
                </a:solidFill>
              </a:rPr>
              <a:t>PROCESO ISOCÓRICO: </a:t>
            </a:r>
            <a:br>
              <a:rPr lang="es-MX" sz="3600" b="1" i="1" dirty="0">
                <a:solidFill>
                  <a:srgbClr val="C00000"/>
                </a:solidFill>
              </a:rPr>
            </a:br>
            <a:r>
              <a:rPr lang="es-MX" sz="3600" b="1" i="1" dirty="0">
                <a:solidFill>
                  <a:srgbClr val="C00000"/>
                </a:solidFill>
              </a:rPr>
              <a:t>VOLUMEN CONSTANTE, </a:t>
            </a:r>
            <a:r>
              <a:rPr lang="es-MX" sz="3600" b="1" i="1" dirty="0">
                <a:solidFill>
                  <a:srgbClr val="C00000"/>
                </a:solidFill>
                <a:latin typeface="Symbol" pitchFamily="18" charset="2"/>
              </a:rPr>
              <a:t></a:t>
            </a:r>
            <a:r>
              <a:rPr lang="es-MX" sz="3600" b="1" i="1" dirty="0">
                <a:solidFill>
                  <a:srgbClr val="C00000"/>
                </a:solidFill>
              </a:rPr>
              <a:t>V = 0, </a:t>
            </a:r>
            <a:r>
              <a:rPr lang="es-MX" sz="3600" b="1" i="1" dirty="0">
                <a:solidFill>
                  <a:srgbClr val="C00000"/>
                </a:solidFill>
                <a:latin typeface="Symbol" pitchFamily="18" charset="2"/>
              </a:rPr>
              <a:t></a:t>
            </a:r>
            <a:r>
              <a:rPr lang="es-MX" sz="3600" b="1" i="1" dirty="0">
                <a:solidFill>
                  <a:srgbClr val="C00000"/>
                </a:solidFill>
              </a:rPr>
              <a:t>W = 0</a:t>
            </a:r>
          </a:p>
        </p:txBody>
      </p:sp>
      <p:grpSp>
        <p:nvGrpSpPr>
          <p:cNvPr id="27" name="Group 3"/>
          <p:cNvGrpSpPr>
            <a:grpSpLocks/>
          </p:cNvGrpSpPr>
          <p:nvPr/>
        </p:nvGrpSpPr>
        <p:grpSpPr bwMode="auto">
          <a:xfrm>
            <a:off x="3276602" y="2298700"/>
            <a:ext cx="914401" cy="785813"/>
            <a:chOff x="2064" y="912"/>
            <a:chExt cx="576" cy="495"/>
          </a:xfrm>
        </p:grpSpPr>
        <p:sp>
          <p:nvSpPr>
            <p:cNvPr id="28" name="Line 4"/>
            <p:cNvSpPr>
              <a:spLocks noChangeShapeType="1"/>
            </p:cNvSpPr>
            <p:nvPr/>
          </p:nvSpPr>
          <p:spPr bwMode="auto">
            <a:xfrm flipV="1">
              <a:off x="2064" y="1103"/>
              <a:ext cx="295" cy="304"/>
            </a:xfrm>
            <a:prstGeom prst="line">
              <a:avLst/>
            </a:prstGeom>
            <a:noFill/>
            <a:ln w="41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9" name="Text Box 5"/>
            <p:cNvSpPr txBox="1">
              <a:spLocks noChangeArrowheads="1"/>
            </p:cNvSpPr>
            <p:nvPr/>
          </p:nvSpPr>
          <p:spPr bwMode="auto">
            <a:xfrm>
              <a:off x="2352" y="912"/>
              <a:ext cx="288" cy="2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>
                <a:lnSpc>
                  <a:spcPct val="95000"/>
                </a:lnSpc>
                <a:spcBef>
                  <a:spcPct val="0"/>
                </a:spcBef>
                <a:buClr>
                  <a:srgbClr val="FFFFFF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 sz="2400">
                  <a:latin typeface="Times New Roman" pitchFamily="18" charset="0"/>
                </a:rPr>
                <a:t>0</a:t>
              </a:r>
            </a:p>
          </p:txBody>
        </p:sp>
      </p:grpSp>
      <p:grpSp>
        <p:nvGrpSpPr>
          <p:cNvPr id="30" name="Group 6"/>
          <p:cNvGrpSpPr>
            <a:grpSpLocks/>
          </p:cNvGrpSpPr>
          <p:nvPr/>
        </p:nvGrpSpPr>
        <p:grpSpPr bwMode="auto">
          <a:xfrm>
            <a:off x="1600200" y="3213100"/>
            <a:ext cx="5822950" cy="1962150"/>
            <a:chOff x="1008" y="1488"/>
            <a:chExt cx="3668" cy="1236"/>
          </a:xfrm>
        </p:grpSpPr>
        <p:grpSp>
          <p:nvGrpSpPr>
            <p:cNvPr id="31" name="Group 7"/>
            <p:cNvGrpSpPr>
              <a:grpSpLocks/>
            </p:cNvGrpSpPr>
            <p:nvPr/>
          </p:nvGrpSpPr>
          <p:grpSpPr bwMode="auto">
            <a:xfrm>
              <a:off x="1008" y="1739"/>
              <a:ext cx="3278" cy="985"/>
              <a:chOff x="1008" y="1739"/>
              <a:chExt cx="3278" cy="985"/>
            </a:xfrm>
          </p:grpSpPr>
          <p:sp>
            <p:nvSpPr>
              <p:cNvPr id="34" name="AutoShape 8"/>
              <p:cNvSpPr>
                <a:spLocks noChangeArrowheads="1"/>
              </p:cNvSpPr>
              <p:nvPr/>
            </p:nvSpPr>
            <p:spPr bwMode="auto">
              <a:xfrm>
                <a:off x="1008" y="2000"/>
                <a:ext cx="949" cy="717"/>
              </a:xfrm>
              <a:prstGeom prst="roundRect">
                <a:avLst>
                  <a:gd name="adj" fmla="val 139"/>
                </a:avLst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endParaRPr lang="es-CO"/>
              </a:p>
            </p:txBody>
          </p:sp>
          <p:sp>
            <p:nvSpPr>
              <p:cNvPr id="35" name="AutoShape 9"/>
              <p:cNvSpPr>
                <a:spLocks noChangeArrowheads="1"/>
              </p:cNvSpPr>
              <p:nvPr/>
            </p:nvSpPr>
            <p:spPr bwMode="auto">
              <a:xfrm>
                <a:off x="3337" y="2007"/>
                <a:ext cx="949" cy="717"/>
              </a:xfrm>
              <a:prstGeom prst="roundRect">
                <a:avLst>
                  <a:gd name="adj" fmla="val 139"/>
                </a:avLst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endParaRPr lang="es-CO"/>
              </a:p>
            </p:txBody>
          </p:sp>
          <p:sp>
            <p:nvSpPr>
              <p:cNvPr id="36" name="Freeform 10"/>
              <p:cNvSpPr>
                <a:spLocks noChangeArrowheads="1"/>
              </p:cNvSpPr>
              <p:nvPr/>
            </p:nvSpPr>
            <p:spPr bwMode="auto">
              <a:xfrm>
                <a:off x="1414" y="1739"/>
                <a:ext cx="128" cy="510"/>
              </a:xfrm>
              <a:custGeom>
                <a:avLst/>
                <a:gdLst/>
                <a:ahLst/>
                <a:cxnLst>
                  <a:cxn ang="0">
                    <a:pos x="141" y="0"/>
                  </a:cxn>
                  <a:cxn ang="0">
                    <a:pos x="141" y="1686"/>
                  </a:cxn>
                  <a:cxn ang="0">
                    <a:pos x="0" y="1686"/>
                  </a:cxn>
                  <a:cxn ang="0">
                    <a:pos x="282" y="2248"/>
                  </a:cxn>
                  <a:cxn ang="0">
                    <a:pos x="565" y="1686"/>
                  </a:cxn>
                  <a:cxn ang="0">
                    <a:pos x="424" y="1686"/>
                  </a:cxn>
                  <a:cxn ang="0">
                    <a:pos x="424" y="0"/>
                  </a:cxn>
                  <a:cxn ang="0">
                    <a:pos x="141" y="0"/>
                  </a:cxn>
                </a:cxnLst>
                <a:rect l="0" t="0" r="r" b="b"/>
                <a:pathLst>
                  <a:path w="566" h="2249">
                    <a:moveTo>
                      <a:pt x="141" y="0"/>
                    </a:moveTo>
                    <a:lnTo>
                      <a:pt x="141" y="1686"/>
                    </a:lnTo>
                    <a:lnTo>
                      <a:pt x="0" y="1686"/>
                    </a:lnTo>
                    <a:lnTo>
                      <a:pt x="282" y="2248"/>
                    </a:lnTo>
                    <a:lnTo>
                      <a:pt x="565" y="1686"/>
                    </a:lnTo>
                    <a:lnTo>
                      <a:pt x="424" y="1686"/>
                    </a:lnTo>
                    <a:lnTo>
                      <a:pt x="424" y="0"/>
                    </a:lnTo>
                    <a:lnTo>
                      <a:pt x="141" y="0"/>
                    </a:lnTo>
                  </a:path>
                </a:pathLst>
              </a:custGeom>
              <a:solidFill>
                <a:srgbClr val="FF6600"/>
              </a:solidFill>
              <a:ln w="936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s-CO"/>
              </a:p>
            </p:txBody>
          </p:sp>
          <p:sp>
            <p:nvSpPr>
              <p:cNvPr id="37" name="Freeform 11"/>
              <p:cNvSpPr>
                <a:spLocks noChangeArrowheads="1"/>
              </p:cNvSpPr>
              <p:nvPr/>
            </p:nvSpPr>
            <p:spPr bwMode="auto">
              <a:xfrm>
                <a:off x="3757" y="1739"/>
                <a:ext cx="129" cy="510"/>
              </a:xfrm>
              <a:custGeom>
                <a:avLst/>
                <a:gdLst/>
                <a:ahLst/>
                <a:cxnLst>
                  <a:cxn ang="0">
                    <a:pos x="142" y="2248"/>
                  </a:cxn>
                  <a:cxn ang="0">
                    <a:pos x="142" y="562"/>
                  </a:cxn>
                  <a:cxn ang="0">
                    <a:pos x="0" y="562"/>
                  </a:cxn>
                  <a:cxn ang="0">
                    <a:pos x="283" y="0"/>
                  </a:cxn>
                  <a:cxn ang="0">
                    <a:pos x="567" y="562"/>
                  </a:cxn>
                  <a:cxn ang="0">
                    <a:pos x="425" y="562"/>
                  </a:cxn>
                  <a:cxn ang="0">
                    <a:pos x="425" y="2248"/>
                  </a:cxn>
                  <a:cxn ang="0">
                    <a:pos x="142" y="2248"/>
                  </a:cxn>
                </a:cxnLst>
                <a:rect l="0" t="0" r="r" b="b"/>
                <a:pathLst>
                  <a:path w="568" h="2249">
                    <a:moveTo>
                      <a:pt x="142" y="2248"/>
                    </a:moveTo>
                    <a:lnTo>
                      <a:pt x="142" y="562"/>
                    </a:lnTo>
                    <a:lnTo>
                      <a:pt x="0" y="562"/>
                    </a:lnTo>
                    <a:lnTo>
                      <a:pt x="283" y="0"/>
                    </a:lnTo>
                    <a:lnTo>
                      <a:pt x="567" y="562"/>
                    </a:lnTo>
                    <a:lnTo>
                      <a:pt x="425" y="562"/>
                    </a:lnTo>
                    <a:lnTo>
                      <a:pt x="425" y="2248"/>
                    </a:lnTo>
                    <a:lnTo>
                      <a:pt x="142" y="2248"/>
                    </a:lnTo>
                  </a:path>
                </a:pathLst>
              </a:custGeom>
              <a:solidFill>
                <a:srgbClr val="FF6600"/>
              </a:solidFill>
              <a:ln w="936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s-CO"/>
              </a:p>
            </p:txBody>
          </p:sp>
          <p:sp>
            <p:nvSpPr>
              <p:cNvPr id="38" name="Text Box 12"/>
              <p:cNvSpPr txBox="1">
                <a:spLocks noChangeArrowheads="1"/>
              </p:cNvSpPr>
              <p:nvPr/>
            </p:nvSpPr>
            <p:spPr bwMode="auto">
              <a:xfrm>
                <a:off x="1152" y="2296"/>
                <a:ext cx="727" cy="2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90000" tIns="46800" rIns="90000" bIns="46800">
                <a:spAutoFit/>
              </a:bodyPr>
              <a:lstStyle/>
              <a:p>
                <a:pPr>
                  <a:lnSpc>
                    <a:spcPct val="95000"/>
                  </a:lnSpc>
                  <a:spcBef>
                    <a:spcPct val="0"/>
                  </a:spcBef>
                  <a:buClr>
                    <a:srgbClr val="008000"/>
                  </a:buClr>
                  <a:buSzPct val="100000"/>
                  <a:buFont typeface="Times New Roman" pitchFamily="18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s-MX" dirty="0">
                    <a:latin typeface="Times New Roman" pitchFamily="18" charset="0"/>
                  </a:rPr>
                  <a:t>+</a:t>
                </a:r>
                <a:r>
                  <a:rPr lang="es-MX" dirty="0">
                    <a:latin typeface="Symbol" pitchFamily="18" charset="2"/>
                  </a:rPr>
                  <a:t></a:t>
                </a:r>
                <a:r>
                  <a:rPr lang="es-MX" dirty="0">
                    <a:latin typeface="Times New Roman" pitchFamily="18" charset="0"/>
                  </a:rPr>
                  <a:t>U</a:t>
                </a:r>
              </a:p>
            </p:txBody>
          </p:sp>
          <p:sp>
            <p:nvSpPr>
              <p:cNvPr id="39" name="Text Box 13"/>
              <p:cNvSpPr txBox="1">
                <a:spLocks noChangeArrowheads="1"/>
              </p:cNvSpPr>
              <p:nvPr/>
            </p:nvSpPr>
            <p:spPr bwMode="auto">
              <a:xfrm>
                <a:off x="3504" y="2296"/>
                <a:ext cx="727" cy="2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90000" tIns="46800" rIns="90000" bIns="46800">
                <a:spAutoFit/>
              </a:bodyPr>
              <a:lstStyle/>
              <a:p>
                <a:pPr>
                  <a:lnSpc>
                    <a:spcPct val="95000"/>
                  </a:lnSpc>
                  <a:spcBef>
                    <a:spcPct val="0"/>
                  </a:spcBef>
                  <a:buClr>
                    <a:srgbClr val="008000"/>
                  </a:buClr>
                  <a:buSzPct val="100000"/>
                  <a:buFont typeface="Times New Roman" pitchFamily="18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s-MX" dirty="0">
                    <a:latin typeface="Times New Roman" pitchFamily="18" charset="0"/>
                  </a:rPr>
                  <a:t> -</a:t>
                </a:r>
                <a:r>
                  <a:rPr lang="es-MX" dirty="0">
                    <a:latin typeface="Symbol" pitchFamily="18" charset="2"/>
                  </a:rPr>
                  <a:t></a:t>
                </a:r>
                <a:r>
                  <a:rPr lang="es-MX" dirty="0">
                    <a:latin typeface="Times New Roman" pitchFamily="18" charset="0"/>
                  </a:rPr>
                  <a:t>U</a:t>
                </a:r>
              </a:p>
            </p:txBody>
          </p:sp>
        </p:grpSp>
        <p:sp>
          <p:nvSpPr>
            <p:cNvPr id="32" name="Text Box 14"/>
            <p:cNvSpPr txBox="1">
              <a:spLocks noChangeArrowheads="1"/>
            </p:cNvSpPr>
            <p:nvPr/>
          </p:nvSpPr>
          <p:spPr bwMode="auto">
            <a:xfrm>
              <a:off x="1537" y="1488"/>
              <a:ext cx="539" cy="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>
                <a:lnSpc>
                  <a:spcPct val="95000"/>
                </a:lnSpc>
                <a:spcBef>
                  <a:spcPct val="0"/>
                </a:spcBef>
                <a:buClr>
                  <a:srgbClr val="800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>
                  <a:latin typeface="Times New Roman" pitchFamily="18" charset="0"/>
                </a:rPr>
                <a:t>Q</a:t>
              </a:r>
              <a:r>
                <a:rPr lang="es-MX" baseline="-25000">
                  <a:latin typeface="Times New Roman" pitchFamily="18" charset="0"/>
                </a:rPr>
                <a:t>IN</a:t>
              </a:r>
            </a:p>
          </p:txBody>
        </p:sp>
        <p:sp>
          <p:nvSpPr>
            <p:cNvPr id="33" name="Text Box 15"/>
            <p:cNvSpPr txBox="1">
              <a:spLocks noChangeArrowheads="1"/>
            </p:cNvSpPr>
            <p:nvPr/>
          </p:nvSpPr>
          <p:spPr bwMode="auto">
            <a:xfrm>
              <a:off x="3957" y="1523"/>
              <a:ext cx="719" cy="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>
                <a:lnSpc>
                  <a:spcPct val="95000"/>
                </a:lnSpc>
                <a:spcBef>
                  <a:spcPct val="0"/>
                </a:spcBef>
                <a:buClr>
                  <a:srgbClr val="800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>
                  <a:latin typeface="Times New Roman" pitchFamily="18" charset="0"/>
                </a:rPr>
                <a:t>Q</a:t>
              </a:r>
              <a:r>
                <a:rPr lang="es-MX" baseline="-25000">
                  <a:latin typeface="Times New Roman" pitchFamily="18" charset="0"/>
                </a:rPr>
                <a:t>OUT</a:t>
              </a:r>
            </a:p>
          </p:txBody>
        </p:sp>
      </p:grpSp>
      <p:sp>
        <p:nvSpPr>
          <p:cNvPr id="42" name="Text Box 17"/>
          <p:cNvSpPr txBox="1">
            <a:spLocks noChangeArrowheads="1"/>
          </p:cNvSpPr>
          <p:nvPr/>
        </p:nvSpPr>
        <p:spPr bwMode="auto">
          <a:xfrm>
            <a:off x="990600" y="5715000"/>
            <a:ext cx="7543800" cy="641350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0" tIns="0" rIns="0" bIns="0">
            <a:spAutoFit/>
          </a:bodyPr>
          <a:lstStyle/>
          <a:p>
            <a:pPr algn="ctr">
              <a:spcBef>
                <a:spcPct val="0"/>
              </a:spcBef>
              <a:buClr>
                <a:srgbClr val="FFFFFF"/>
              </a:buClr>
              <a:buSzPct val="100000"/>
              <a:buFont typeface="Tahoma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MX" sz="2100" dirty="0"/>
              <a:t>ENTRADA DE CALOR = AUMENTO EN ENERGÍA INTERNA</a:t>
            </a:r>
          </a:p>
          <a:p>
            <a:pPr algn="ctr">
              <a:spcBef>
                <a:spcPct val="0"/>
              </a:spcBef>
              <a:buClr>
                <a:srgbClr val="FFFFFF"/>
              </a:buClr>
              <a:buSzPct val="100000"/>
              <a:buFont typeface="Tahoma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MX" sz="2100" dirty="0"/>
              <a:t>SALIDA DE CALOR = DISMINUCIÓN EN ENERGÍA INTERNA</a:t>
            </a:r>
          </a:p>
        </p:txBody>
      </p:sp>
      <p:sp>
        <p:nvSpPr>
          <p:cNvPr id="43" name="Text Box 18"/>
          <p:cNvSpPr txBox="1">
            <a:spLocks noChangeArrowheads="1"/>
          </p:cNvSpPr>
          <p:nvPr/>
        </p:nvSpPr>
        <p:spPr bwMode="auto">
          <a:xfrm>
            <a:off x="3276600" y="4051300"/>
            <a:ext cx="1828800" cy="1282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ts val="1875"/>
              </a:spcBef>
              <a:buClr>
                <a:srgbClr val="FFFFFF"/>
              </a:buClr>
              <a:buSzPct val="100000"/>
              <a:buFont typeface="Tahoma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MX" sz="2600"/>
              <a:t>No se realiza trabajo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762000"/>
            <a:ext cx="8382000" cy="1066800"/>
          </a:xfrm>
          <a:ln/>
        </p:spPr>
        <p:txBody>
          <a:bodyPr>
            <a:normAutofit/>
          </a:bodyPr>
          <a:lstStyle/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MX" sz="3000" b="1" i="1" dirty="0">
                <a:solidFill>
                  <a:srgbClr val="C00000"/>
                </a:solidFill>
              </a:rPr>
              <a:t>EJEMPLO ISOCÓRICO: </a:t>
            </a: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609600" y="5152124"/>
            <a:ext cx="2667000" cy="12486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>
              <a:spcBef>
                <a:spcPts val="1875"/>
              </a:spcBef>
              <a:buClr>
                <a:srgbClr val="FFFFFF"/>
              </a:buClr>
              <a:buSzPct val="100000"/>
              <a:buFont typeface="Tahoma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MX" sz="2500"/>
              <a:t>La entrada de calor aumenta P con V constante</a:t>
            </a:r>
          </a:p>
        </p:txBody>
      </p:sp>
      <p:sp>
        <p:nvSpPr>
          <p:cNvPr id="5" name="Text Box 33"/>
          <p:cNvSpPr txBox="1">
            <a:spLocks noChangeArrowheads="1"/>
          </p:cNvSpPr>
          <p:nvPr/>
        </p:nvSpPr>
        <p:spPr bwMode="auto">
          <a:xfrm>
            <a:off x="3657600" y="4953000"/>
            <a:ext cx="5029200" cy="12486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>
              <a:spcBef>
                <a:spcPts val="1875"/>
              </a:spcBef>
              <a:buClr>
                <a:srgbClr val="FFFFFF"/>
              </a:buClr>
              <a:buSzPct val="100000"/>
              <a:buFont typeface="Tahoma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MX" sz="2500" u="sng" dirty="0"/>
              <a:t>400 J</a:t>
            </a:r>
            <a:r>
              <a:rPr lang="es-MX" sz="2500" dirty="0"/>
              <a:t> de entrada de calor aumentan la energía interna en </a:t>
            </a:r>
            <a:r>
              <a:rPr lang="es-MX" sz="2500" u="sng" dirty="0"/>
              <a:t>400 J</a:t>
            </a:r>
            <a:r>
              <a:rPr lang="es-MX" sz="2500" dirty="0"/>
              <a:t> y se realiza trabajo cero.</a:t>
            </a:r>
          </a:p>
        </p:txBody>
      </p:sp>
      <p:grpSp>
        <p:nvGrpSpPr>
          <p:cNvPr id="6" name="Group 41"/>
          <p:cNvGrpSpPr>
            <a:grpSpLocks/>
          </p:cNvGrpSpPr>
          <p:nvPr/>
        </p:nvGrpSpPr>
        <p:grpSpPr bwMode="auto">
          <a:xfrm>
            <a:off x="3657600" y="1905000"/>
            <a:ext cx="4876800" cy="2819400"/>
            <a:chOff x="2208" y="816"/>
            <a:chExt cx="3072" cy="1776"/>
          </a:xfrm>
        </p:grpSpPr>
        <p:sp>
          <p:nvSpPr>
            <p:cNvPr id="7" name="AutoShape 1"/>
            <p:cNvSpPr>
              <a:spLocks noChangeArrowheads="1"/>
            </p:cNvSpPr>
            <p:nvPr/>
          </p:nvSpPr>
          <p:spPr bwMode="auto">
            <a:xfrm>
              <a:off x="2208" y="816"/>
              <a:ext cx="3072" cy="1776"/>
            </a:xfrm>
            <a:prstGeom prst="roundRect">
              <a:avLst>
                <a:gd name="adj" fmla="val 56"/>
              </a:avLst>
            </a:prstGeom>
            <a:solidFill>
              <a:srgbClr val="800000"/>
            </a:solidFill>
            <a:ln w="38160">
              <a:solidFill>
                <a:srgbClr val="CC9900"/>
              </a:solidFill>
              <a:round/>
              <a:headEnd/>
              <a:tailEnd/>
            </a:ln>
            <a:effectLst>
              <a:outerShdw dist="107933" dir="2700000" algn="ctr" rotWithShape="0">
                <a:srgbClr val="4D4D4D"/>
              </a:outerShdw>
            </a:effectLst>
          </p:spPr>
          <p:txBody>
            <a:bodyPr wrap="none" anchor="ctr"/>
            <a:lstStyle/>
            <a:p>
              <a:endParaRPr lang="es-CO"/>
            </a:p>
          </p:txBody>
        </p:sp>
        <p:sp>
          <p:nvSpPr>
            <p:cNvPr id="8" name="Line 5"/>
            <p:cNvSpPr>
              <a:spLocks noChangeShapeType="1"/>
            </p:cNvSpPr>
            <p:nvPr/>
          </p:nvSpPr>
          <p:spPr bwMode="auto">
            <a:xfrm>
              <a:off x="2682" y="1006"/>
              <a:ext cx="1" cy="983"/>
            </a:xfrm>
            <a:prstGeom prst="line">
              <a:avLst/>
            </a:prstGeom>
            <a:noFill/>
            <a:ln w="3816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9" name="Line 6"/>
            <p:cNvSpPr>
              <a:spLocks noChangeShapeType="1"/>
            </p:cNvSpPr>
            <p:nvPr/>
          </p:nvSpPr>
          <p:spPr bwMode="auto">
            <a:xfrm>
              <a:off x="2682" y="1989"/>
              <a:ext cx="1056" cy="1"/>
            </a:xfrm>
            <a:prstGeom prst="line">
              <a:avLst/>
            </a:prstGeom>
            <a:noFill/>
            <a:ln w="3816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0" name="Line 7"/>
            <p:cNvSpPr>
              <a:spLocks noChangeShapeType="1"/>
            </p:cNvSpPr>
            <p:nvPr/>
          </p:nvSpPr>
          <p:spPr bwMode="auto">
            <a:xfrm>
              <a:off x="3162" y="1099"/>
              <a:ext cx="1" cy="655"/>
            </a:xfrm>
            <a:prstGeom prst="line">
              <a:avLst/>
            </a:prstGeom>
            <a:noFill/>
            <a:ln w="38160">
              <a:solidFill>
                <a:srgbClr val="FFFFFF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Line 8"/>
            <p:cNvSpPr>
              <a:spLocks noChangeShapeType="1"/>
            </p:cNvSpPr>
            <p:nvPr/>
          </p:nvSpPr>
          <p:spPr bwMode="auto">
            <a:xfrm flipV="1">
              <a:off x="3354" y="1239"/>
              <a:ext cx="1" cy="423"/>
            </a:xfrm>
            <a:prstGeom prst="line">
              <a:avLst/>
            </a:prstGeom>
            <a:noFill/>
            <a:ln w="28440">
              <a:solidFill>
                <a:srgbClr val="FF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2" name="Text Box 9"/>
            <p:cNvSpPr txBox="1">
              <a:spLocks noChangeArrowheads="1"/>
            </p:cNvSpPr>
            <p:nvPr/>
          </p:nvSpPr>
          <p:spPr bwMode="auto">
            <a:xfrm>
              <a:off x="3306" y="912"/>
              <a:ext cx="288" cy="3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ts val="1875"/>
                </a:spcBef>
                <a:buClr>
                  <a:srgbClr val="FFFFFF"/>
                </a:buClr>
                <a:buSzPct val="100000"/>
                <a:buFont typeface="Tahoma" pitchFamily="34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 sz="3000"/>
                <a:t>B</a:t>
              </a:r>
            </a:p>
          </p:txBody>
        </p:sp>
        <p:sp>
          <p:nvSpPr>
            <p:cNvPr id="13" name="Text Box 10"/>
            <p:cNvSpPr txBox="1">
              <a:spLocks noChangeArrowheads="1"/>
            </p:cNvSpPr>
            <p:nvPr/>
          </p:nvSpPr>
          <p:spPr bwMode="auto">
            <a:xfrm>
              <a:off x="3306" y="1567"/>
              <a:ext cx="288" cy="3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ts val="1875"/>
                </a:spcBef>
                <a:buClr>
                  <a:srgbClr val="FFFFFF"/>
                </a:buClr>
                <a:buSzPct val="100000"/>
                <a:buFont typeface="Tahoma" pitchFamily="34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 sz="3000"/>
                <a:t>A</a:t>
              </a:r>
            </a:p>
          </p:txBody>
        </p:sp>
        <p:sp>
          <p:nvSpPr>
            <p:cNvPr id="14" name="Line 12"/>
            <p:cNvSpPr>
              <a:spLocks noChangeShapeType="1"/>
            </p:cNvSpPr>
            <p:nvPr/>
          </p:nvSpPr>
          <p:spPr bwMode="auto">
            <a:xfrm flipV="1">
              <a:off x="2736" y="1104"/>
              <a:ext cx="384" cy="4"/>
            </a:xfrm>
            <a:prstGeom prst="line">
              <a:avLst/>
            </a:prstGeom>
            <a:noFill/>
            <a:ln w="19050">
              <a:solidFill>
                <a:srgbClr val="FFFFFF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5" name="Line 13"/>
            <p:cNvSpPr>
              <a:spLocks noChangeShapeType="1"/>
            </p:cNvSpPr>
            <p:nvPr/>
          </p:nvSpPr>
          <p:spPr bwMode="auto">
            <a:xfrm flipH="1">
              <a:off x="3163" y="1776"/>
              <a:ext cx="5" cy="259"/>
            </a:xfrm>
            <a:prstGeom prst="line">
              <a:avLst/>
            </a:prstGeom>
            <a:noFill/>
            <a:ln w="19050">
              <a:solidFill>
                <a:srgbClr val="FFFFFF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6" name="Text Box 14"/>
            <p:cNvSpPr txBox="1">
              <a:spLocks noChangeArrowheads="1"/>
            </p:cNvSpPr>
            <p:nvPr/>
          </p:nvSpPr>
          <p:spPr bwMode="auto">
            <a:xfrm>
              <a:off x="2346" y="912"/>
              <a:ext cx="336" cy="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ts val="1875"/>
                </a:spcBef>
                <a:buClr>
                  <a:srgbClr val="FFFFFF"/>
                </a:buClr>
                <a:buSzPct val="100000"/>
                <a:buFont typeface="Tahoma" pitchFamily="34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 sz="3000"/>
                <a:t>P</a:t>
              </a:r>
              <a:r>
                <a:rPr lang="es-MX" sz="3000" baseline="-25000"/>
                <a:t>2</a:t>
              </a:r>
            </a:p>
          </p:txBody>
        </p:sp>
        <p:sp>
          <p:nvSpPr>
            <p:cNvPr id="17" name="Text Box 15"/>
            <p:cNvSpPr txBox="1">
              <a:spLocks noChangeArrowheads="1"/>
            </p:cNvSpPr>
            <p:nvPr/>
          </p:nvSpPr>
          <p:spPr bwMode="auto">
            <a:xfrm>
              <a:off x="2778" y="2129"/>
              <a:ext cx="912" cy="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ts val="750"/>
                </a:spcBef>
                <a:buClr>
                  <a:srgbClr val="FFFFFF"/>
                </a:buClr>
                <a:buSzPct val="100000"/>
                <a:buFont typeface="Tahoma" pitchFamily="34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 sz="3000"/>
                <a:t>V</a:t>
              </a:r>
              <a:r>
                <a:rPr lang="es-MX" sz="3000" baseline="-25000"/>
                <a:t>1</a:t>
              </a:r>
              <a:r>
                <a:rPr lang="es-MX" sz="3000"/>
                <a:t>= V</a:t>
              </a:r>
              <a:r>
                <a:rPr lang="es-MX" sz="3000" baseline="-25000"/>
                <a:t>2</a:t>
              </a:r>
            </a:p>
          </p:txBody>
        </p:sp>
        <p:sp>
          <p:nvSpPr>
            <p:cNvPr id="18" name="AutoShape 16"/>
            <p:cNvSpPr>
              <a:spLocks noChangeArrowheads="1"/>
            </p:cNvSpPr>
            <p:nvPr/>
          </p:nvSpPr>
          <p:spPr bwMode="auto">
            <a:xfrm>
              <a:off x="2304" y="1567"/>
              <a:ext cx="321" cy="350"/>
            </a:xfrm>
            <a:prstGeom prst="roundRect">
              <a:avLst>
                <a:gd name="adj" fmla="val 296"/>
              </a:avLst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pPr>
                <a:spcBef>
                  <a:spcPts val="750"/>
                </a:spcBef>
                <a:buClr>
                  <a:srgbClr val="FFFFFF"/>
                </a:buClr>
                <a:buSzPct val="100000"/>
                <a:buFont typeface="Tahoma" pitchFamily="34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 sz="3000"/>
                <a:t>P</a:t>
              </a:r>
              <a:r>
                <a:rPr lang="es-MX" sz="3000" baseline="-25000">
                  <a:solidFill>
                    <a:schemeClr val="tx1"/>
                  </a:solidFill>
                </a:rPr>
                <a:t>1</a:t>
              </a:r>
            </a:p>
          </p:txBody>
        </p:sp>
        <p:grpSp>
          <p:nvGrpSpPr>
            <p:cNvPr id="19" name="Group 34"/>
            <p:cNvGrpSpPr>
              <a:grpSpLocks/>
            </p:cNvGrpSpPr>
            <p:nvPr/>
          </p:nvGrpSpPr>
          <p:grpSpPr bwMode="auto">
            <a:xfrm>
              <a:off x="4032" y="1008"/>
              <a:ext cx="1104" cy="807"/>
              <a:chOff x="4032" y="1008"/>
              <a:chExt cx="1104" cy="807"/>
            </a:xfrm>
          </p:grpSpPr>
          <p:sp>
            <p:nvSpPr>
              <p:cNvPr id="21" name="Text Box 35"/>
              <p:cNvSpPr txBox="1">
                <a:spLocks noChangeArrowheads="1"/>
              </p:cNvSpPr>
              <p:nvPr/>
            </p:nvSpPr>
            <p:spPr bwMode="auto">
              <a:xfrm>
                <a:off x="4032" y="1008"/>
                <a:ext cx="1104" cy="3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90000" tIns="46800" rIns="90000" bIns="46800">
                <a:spAutoFit/>
              </a:bodyPr>
              <a:lstStyle/>
              <a:p>
                <a:pPr>
                  <a:spcBef>
                    <a:spcPts val="1875"/>
                  </a:spcBef>
                  <a:buClr>
                    <a:srgbClr val="FFFFFF"/>
                  </a:buClr>
                  <a:buSzPct val="100000"/>
                  <a:buFont typeface="Tahoma" pitchFamily="34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s-MX" sz="3000"/>
                  <a:t>P</a:t>
                </a:r>
                <a:r>
                  <a:rPr lang="es-MX" sz="3000" baseline="-25000"/>
                  <a:t>A        </a:t>
                </a:r>
                <a:r>
                  <a:rPr lang="es-MX" sz="3000"/>
                  <a:t>P</a:t>
                </a:r>
                <a:r>
                  <a:rPr lang="es-MX" sz="3000" baseline="-25000"/>
                  <a:t> B</a:t>
                </a:r>
              </a:p>
            </p:txBody>
          </p:sp>
          <p:sp>
            <p:nvSpPr>
              <p:cNvPr id="22" name="Text Box 36"/>
              <p:cNvSpPr txBox="1">
                <a:spLocks noChangeArrowheads="1"/>
              </p:cNvSpPr>
              <p:nvPr/>
            </p:nvSpPr>
            <p:spPr bwMode="auto">
              <a:xfrm>
                <a:off x="4032" y="1465"/>
                <a:ext cx="1104" cy="3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90000" tIns="46800" rIns="90000" bIns="46800">
                <a:spAutoFit/>
              </a:bodyPr>
              <a:lstStyle/>
              <a:p>
                <a:pPr>
                  <a:spcBef>
                    <a:spcPts val="1875"/>
                  </a:spcBef>
                  <a:buClr>
                    <a:srgbClr val="FFFFFF"/>
                  </a:buClr>
                  <a:buSzPct val="100000"/>
                  <a:buFont typeface="Tahoma" pitchFamily="34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s-MX" sz="3000"/>
                  <a:t>T</a:t>
                </a:r>
                <a:r>
                  <a:rPr lang="es-MX" sz="3000" baseline="-25000"/>
                  <a:t>A        </a:t>
                </a:r>
                <a:r>
                  <a:rPr lang="es-MX" sz="3000"/>
                  <a:t>T</a:t>
                </a:r>
                <a:r>
                  <a:rPr lang="es-MX" sz="3000" baseline="-25000"/>
                  <a:t> B</a:t>
                </a:r>
              </a:p>
            </p:txBody>
          </p:sp>
          <p:sp>
            <p:nvSpPr>
              <p:cNvPr id="23" name="Text Box 37"/>
              <p:cNvSpPr txBox="1">
                <a:spLocks noChangeArrowheads="1"/>
              </p:cNvSpPr>
              <p:nvPr/>
            </p:nvSpPr>
            <p:spPr bwMode="auto">
              <a:xfrm>
                <a:off x="4320" y="1237"/>
                <a:ext cx="336" cy="34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90000" tIns="46800" rIns="90000" bIns="46800">
                <a:spAutoFit/>
              </a:bodyPr>
              <a:lstStyle/>
              <a:p>
                <a:pPr>
                  <a:spcBef>
                    <a:spcPts val="1875"/>
                  </a:spcBef>
                  <a:buClr>
                    <a:srgbClr val="FFFFFF"/>
                  </a:buClr>
                  <a:buSzPct val="100000"/>
                  <a:buFont typeface="Tahoma" pitchFamily="34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s-MX" sz="3000">
                    <a:solidFill>
                      <a:schemeClr val="tx1"/>
                    </a:solidFill>
                  </a:rPr>
                  <a:t>=</a:t>
                </a:r>
              </a:p>
            </p:txBody>
          </p:sp>
          <p:sp>
            <p:nvSpPr>
              <p:cNvPr id="24" name="Line 38"/>
              <p:cNvSpPr>
                <a:spLocks noChangeShapeType="1"/>
              </p:cNvSpPr>
              <p:nvPr/>
            </p:nvSpPr>
            <p:spPr bwMode="auto">
              <a:xfrm>
                <a:off x="4032" y="1420"/>
                <a:ext cx="288" cy="1"/>
              </a:xfrm>
              <a:prstGeom prst="line">
                <a:avLst/>
              </a:prstGeom>
              <a:noFill/>
              <a:ln w="38160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25" name="Line 39"/>
              <p:cNvSpPr>
                <a:spLocks noChangeShapeType="1"/>
              </p:cNvSpPr>
              <p:nvPr/>
            </p:nvSpPr>
            <p:spPr bwMode="auto">
              <a:xfrm>
                <a:off x="4656" y="1420"/>
                <a:ext cx="288" cy="1"/>
              </a:xfrm>
              <a:prstGeom prst="line">
                <a:avLst/>
              </a:prstGeom>
              <a:noFill/>
              <a:ln w="38160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s-CO"/>
              </a:p>
            </p:txBody>
          </p:sp>
        </p:grpSp>
        <p:sp>
          <p:nvSpPr>
            <p:cNvPr id="20" name="Line 11"/>
            <p:cNvSpPr>
              <a:spLocks noChangeShapeType="1"/>
            </p:cNvSpPr>
            <p:nvPr/>
          </p:nvSpPr>
          <p:spPr bwMode="auto">
            <a:xfrm flipV="1">
              <a:off x="2688" y="1728"/>
              <a:ext cx="432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26" name="Group 43"/>
          <p:cNvGrpSpPr>
            <a:grpSpLocks/>
          </p:cNvGrpSpPr>
          <p:nvPr/>
        </p:nvGrpSpPr>
        <p:grpSpPr bwMode="auto">
          <a:xfrm>
            <a:off x="685800" y="1640234"/>
            <a:ext cx="2590800" cy="3319463"/>
            <a:chOff x="432" y="742"/>
            <a:chExt cx="1632" cy="2091"/>
          </a:xfrm>
        </p:grpSpPr>
        <p:grpSp>
          <p:nvGrpSpPr>
            <p:cNvPr id="27" name="Group 17"/>
            <p:cNvGrpSpPr>
              <a:grpSpLocks/>
            </p:cNvGrpSpPr>
            <p:nvPr/>
          </p:nvGrpSpPr>
          <p:grpSpPr bwMode="auto">
            <a:xfrm>
              <a:off x="624" y="1239"/>
              <a:ext cx="1296" cy="1594"/>
              <a:chOff x="624" y="1008"/>
              <a:chExt cx="1296" cy="1594"/>
            </a:xfrm>
          </p:grpSpPr>
          <p:grpSp>
            <p:nvGrpSpPr>
              <p:cNvPr id="29" name="Group 18"/>
              <p:cNvGrpSpPr>
                <a:grpSpLocks/>
              </p:cNvGrpSpPr>
              <p:nvPr/>
            </p:nvGrpSpPr>
            <p:grpSpPr bwMode="auto">
              <a:xfrm>
                <a:off x="672" y="1008"/>
                <a:ext cx="480" cy="1008"/>
                <a:chOff x="672" y="1008"/>
                <a:chExt cx="480" cy="1008"/>
              </a:xfrm>
            </p:grpSpPr>
            <p:sp>
              <p:nvSpPr>
                <p:cNvPr id="39" name="AutoShape 19"/>
                <p:cNvSpPr>
                  <a:spLocks noChangeArrowheads="1"/>
                </p:cNvSpPr>
                <p:nvPr/>
              </p:nvSpPr>
              <p:spPr bwMode="auto">
                <a:xfrm>
                  <a:off x="672" y="1008"/>
                  <a:ext cx="96" cy="1008"/>
                </a:xfrm>
                <a:prstGeom prst="roundRect">
                  <a:avLst>
                    <a:gd name="adj" fmla="val 1042"/>
                  </a:avLst>
                </a:prstGeom>
                <a:solidFill>
                  <a:srgbClr val="006666"/>
                </a:solidFill>
                <a:ln w="936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s-CO"/>
                </a:p>
              </p:txBody>
            </p:sp>
            <p:sp>
              <p:nvSpPr>
                <p:cNvPr id="40" name="AutoShape 20"/>
                <p:cNvSpPr>
                  <a:spLocks noChangeArrowheads="1"/>
                </p:cNvSpPr>
                <p:nvPr/>
              </p:nvSpPr>
              <p:spPr bwMode="auto">
                <a:xfrm>
                  <a:off x="1056" y="1008"/>
                  <a:ext cx="96" cy="1008"/>
                </a:xfrm>
                <a:prstGeom prst="roundRect">
                  <a:avLst>
                    <a:gd name="adj" fmla="val 1042"/>
                  </a:avLst>
                </a:prstGeom>
                <a:solidFill>
                  <a:srgbClr val="006666"/>
                </a:solidFill>
                <a:ln w="936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s-CO"/>
                </a:p>
              </p:txBody>
            </p:sp>
            <p:sp>
              <p:nvSpPr>
                <p:cNvPr id="41" name="AutoShape 21"/>
                <p:cNvSpPr>
                  <a:spLocks noChangeArrowheads="1"/>
                </p:cNvSpPr>
                <p:nvPr/>
              </p:nvSpPr>
              <p:spPr bwMode="auto">
                <a:xfrm>
                  <a:off x="768" y="1919"/>
                  <a:ext cx="288" cy="96"/>
                </a:xfrm>
                <a:prstGeom prst="roundRect">
                  <a:avLst>
                    <a:gd name="adj" fmla="val 1042"/>
                  </a:avLst>
                </a:prstGeom>
                <a:solidFill>
                  <a:srgbClr val="EAEAEA"/>
                </a:solidFill>
                <a:ln w="936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s-CO"/>
                </a:p>
              </p:txBody>
            </p:sp>
            <p:sp>
              <p:nvSpPr>
                <p:cNvPr id="42" name="AutoShape 22"/>
                <p:cNvSpPr>
                  <a:spLocks noChangeArrowheads="1"/>
                </p:cNvSpPr>
                <p:nvPr/>
              </p:nvSpPr>
              <p:spPr bwMode="auto">
                <a:xfrm>
                  <a:off x="768" y="1104"/>
                  <a:ext cx="288" cy="816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CC9900"/>
                </a:solidFill>
                <a:ln w="936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s-CO"/>
                </a:p>
              </p:txBody>
            </p:sp>
            <p:sp>
              <p:nvSpPr>
                <p:cNvPr id="43" name="AutoShape 23"/>
                <p:cNvSpPr>
                  <a:spLocks noChangeArrowheads="1"/>
                </p:cNvSpPr>
                <p:nvPr/>
              </p:nvSpPr>
              <p:spPr bwMode="auto">
                <a:xfrm>
                  <a:off x="768" y="1008"/>
                  <a:ext cx="288" cy="96"/>
                </a:xfrm>
                <a:prstGeom prst="roundRect">
                  <a:avLst>
                    <a:gd name="adj" fmla="val 1042"/>
                  </a:avLst>
                </a:prstGeom>
                <a:solidFill>
                  <a:srgbClr val="006666"/>
                </a:solidFill>
                <a:ln w="936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s-CO"/>
                </a:p>
              </p:txBody>
            </p:sp>
          </p:grpSp>
          <p:grpSp>
            <p:nvGrpSpPr>
              <p:cNvPr id="30" name="Group 24"/>
              <p:cNvGrpSpPr>
                <a:grpSpLocks/>
              </p:cNvGrpSpPr>
              <p:nvPr/>
            </p:nvGrpSpPr>
            <p:grpSpPr bwMode="auto">
              <a:xfrm>
                <a:off x="1440" y="1008"/>
                <a:ext cx="480" cy="1008"/>
                <a:chOff x="1440" y="1008"/>
                <a:chExt cx="480" cy="1008"/>
              </a:xfrm>
            </p:grpSpPr>
            <p:sp>
              <p:nvSpPr>
                <p:cNvPr id="34" name="AutoShape 25"/>
                <p:cNvSpPr>
                  <a:spLocks noChangeArrowheads="1"/>
                </p:cNvSpPr>
                <p:nvPr/>
              </p:nvSpPr>
              <p:spPr bwMode="auto">
                <a:xfrm>
                  <a:off x="1440" y="1008"/>
                  <a:ext cx="96" cy="1008"/>
                </a:xfrm>
                <a:prstGeom prst="roundRect">
                  <a:avLst>
                    <a:gd name="adj" fmla="val 1042"/>
                  </a:avLst>
                </a:prstGeom>
                <a:solidFill>
                  <a:srgbClr val="006666"/>
                </a:solidFill>
                <a:ln w="936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s-CO"/>
                </a:p>
              </p:txBody>
            </p:sp>
            <p:sp>
              <p:nvSpPr>
                <p:cNvPr id="35" name="AutoShape 26"/>
                <p:cNvSpPr>
                  <a:spLocks noChangeArrowheads="1"/>
                </p:cNvSpPr>
                <p:nvPr/>
              </p:nvSpPr>
              <p:spPr bwMode="auto">
                <a:xfrm>
                  <a:off x="1824" y="1008"/>
                  <a:ext cx="96" cy="1008"/>
                </a:xfrm>
                <a:prstGeom prst="roundRect">
                  <a:avLst>
                    <a:gd name="adj" fmla="val 1042"/>
                  </a:avLst>
                </a:prstGeom>
                <a:solidFill>
                  <a:srgbClr val="006666"/>
                </a:solidFill>
                <a:ln w="936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s-CO"/>
                </a:p>
              </p:txBody>
            </p:sp>
            <p:sp>
              <p:nvSpPr>
                <p:cNvPr id="36" name="AutoShape 27"/>
                <p:cNvSpPr>
                  <a:spLocks noChangeArrowheads="1"/>
                </p:cNvSpPr>
                <p:nvPr/>
              </p:nvSpPr>
              <p:spPr bwMode="auto">
                <a:xfrm>
                  <a:off x="1536" y="1919"/>
                  <a:ext cx="288" cy="96"/>
                </a:xfrm>
                <a:prstGeom prst="roundRect">
                  <a:avLst>
                    <a:gd name="adj" fmla="val 1042"/>
                  </a:avLst>
                </a:prstGeom>
                <a:solidFill>
                  <a:srgbClr val="EAEAEA"/>
                </a:solidFill>
                <a:ln w="936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s-CO"/>
                </a:p>
              </p:txBody>
            </p:sp>
            <p:sp>
              <p:nvSpPr>
                <p:cNvPr id="37" name="AutoShape 28"/>
                <p:cNvSpPr>
                  <a:spLocks noChangeArrowheads="1"/>
                </p:cNvSpPr>
                <p:nvPr/>
              </p:nvSpPr>
              <p:spPr bwMode="auto">
                <a:xfrm>
                  <a:off x="1536" y="1104"/>
                  <a:ext cx="288" cy="816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CC9900"/>
                </a:solidFill>
                <a:ln w="936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s-CO"/>
                </a:p>
              </p:txBody>
            </p:sp>
            <p:sp>
              <p:nvSpPr>
                <p:cNvPr id="38" name="AutoShape 29"/>
                <p:cNvSpPr>
                  <a:spLocks noChangeArrowheads="1"/>
                </p:cNvSpPr>
                <p:nvPr/>
              </p:nvSpPr>
              <p:spPr bwMode="auto">
                <a:xfrm>
                  <a:off x="1536" y="1008"/>
                  <a:ext cx="288" cy="96"/>
                </a:xfrm>
                <a:prstGeom prst="roundRect">
                  <a:avLst>
                    <a:gd name="adj" fmla="val 1042"/>
                  </a:avLst>
                </a:prstGeom>
                <a:solidFill>
                  <a:srgbClr val="006666"/>
                </a:solidFill>
                <a:ln w="936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s-CO"/>
                </a:p>
              </p:txBody>
            </p:sp>
          </p:grpSp>
          <p:sp>
            <p:nvSpPr>
              <p:cNvPr id="31" name="AutoShape 30"/>
              <p:cNvSpPr>
                <a:spLocks noChangeArrowheads="1"/>
              </p:cNvSpPr>
              <p:nvPr/>
            </p:nvSpPr>
            <p:spPr bwMode="auto">
              <a:xfrm>
                <a:off x="1584" y="2255"/>
                <a:ext cx="192" cy="336"/>
              </a:xfrm>
              <a:prstGeom prst="roundRect">
                <a:avLst>
                  <a:gd name="adj" fmla="val 519"/>
                </a:avLst>
              </a:prstGeom>
              <a:solidFill>
                <a:srgbClr val="FF6600"/>
              </a:solidFill>
              <a:ln w="936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s-CO"/>
              </a:p>
            </p:txBody>
          </p:sp>
          <p:sp>
            <p:nvSpPr>
              <p:cNvPr id="32" name="Freeform 31"/>
              <p:cNvSpPr>
                <a:spLocks noChangeArrowheads="1"/>
              </p:cNvSpPr>
              <p:nvPr/>
            </p:nvSpPr>
            <p:spPr bwMode="auto">
              <a:xfrm>
                <a:off x="1604" y="2057"/>
                <a:ext cx="152" cy="190"/>
              </a:xfrm>
              <a:custGeom>
                <a:avLst/>
                <a:gdLst/>
                <a:ahLst/>
                <a:cxnLst>
                  <a:cxn ang="0">
                    <a:pos x="278" y="838"/>
                  </a:cxn>
                  <a:cxn ang="0">
                    <a:pos x="110" y="780"/>
                  </a:cxn>
                  <a:cxn ang="0">
                    <a:pos x="0" y="392"/>
                  </a:cxn>
                  <a:cxn ang="0">
                    <a:pos x="110" y="225"/>
                  </a:cxn>
                  <a:cxn ang="0">
                    <a:pos x="335" y="0"/>
                  </a:cxn>
                  <a:cxn ang="0">
                    <a:pos x="613" y="392"/>
                  </a:cxn>
                  <a:cxn ang="0">
                    <a:pos x="671" y="559"/>
                  </a:cxn>
                  <a:cxn ang="0">
                    <a:pos x="278" y="838"/>
                  </a:cxn>
                  <a:cxn ang="0">
                    <a:pos x="278" y="838"/>
                  </a:cxn>
                </a:cxnLst>
                <a:rect l="0" t="0" r="r" b="b"/>
                <a:pathLst>
                  <a:path w="672" h="839">
                    <a:moveTo>
                      <a:pt x="278" y="838"/>
                    </a:moveTo>
                    <a:cubicBezTo>
                      <a:pt x="220" y="820"/>
                      <a:pt x="145" y="824"/>
                      <a:pt x="110" y="780"/>
                    </a:cubicBezTo>
                    <a:cubicBezTo>
                      <a:pt x="26" y="674"/>
                      <a:pt x="44" y="520"/>
                      <a:pt x="0" y="392"/>
                    </a:cubicBezTo>
                    <a:cubicBezTo>
                      <a:pt x="35" y="334"/>
                      <a:pt x="66" y="278"/>
                      <a:pt x="110" y="225"/>
                    </a:cubicBezTo>
                    <a:cubicBezTo>
                      <a:pt x="180" y="145"/>
                      <a:pt x="335" y="0"/>
                      <a:pt x="335" y="0"/>
                    </a:cubicBezTo>
                    <a:cubicBezTo>
                      <a:pt x="613" y="97"/>
                      <a:pt x="481" y="0"/>
                      <a:pt x="613" y="392"/>
                    </a:cubicBezTo>
                    <a:cubicBezTo>
                      <a:pt x="631" y="449"/>
                      <a:pt x="671" y="559"/>
                      <a:pt x="671" y="559"/>
                    </a:cubicBezTo>
                    <a:cubicBezTo>
                      <a:pt x="538" y="687"/>
                      <a:pt x="406" y="709"/>
                      <a:pt x="278" y="838"/>
                    </a:cubicBezTo>
                    <a:lnTo>
                      <a:pt x="278" y="838"/>
                    </a:lnTo>
                  </a:path>
                </a:pathLst>
              </a:custGeom>
              <a:solidFill>
                <a:srgbClr val="FFFF00"/>
              </a:solidFill>
              <a:ln w="936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s-CO"/>
              </a:p>
            </p:txBody>
          </p:sp>
          <p:sp>
            <p:nvSpPr>
              <p:cNvPr id="33" name="Text Box 32"/>
              <p:cNvSpPr txBox="1">
                <a:spLocks noChangeArrowheads="1"/>
              </p:cNvSpPr>
              <p:nvPr/>
            </p:nvSpPr>
            <p:spPr bwMode="auto">
              <a:xfrm>
                <a:off x="624" y="2255"/>
                <a:ext cx="864" cy="34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90000" tIns="46800" rIns="90000" bIns="46800">
                <a:spAutoFit/>
              </a:bodyPr>
              <a:lstStyle/>
              <a:p>
                <a:pPr>
                  <a:spcBef>
                    <a:spcPts val="1875"/>
                  </a:spcBef>
                  <a:buClr>
                    <a:srgbClr val="FFFFFF"/>
                  </a:buClr>
                  <a:buSzPct val="100000"/>
                  <a:buFont typeface="Tahoma" pitchFamily="34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s-MX" sz="3000" dirty="0"/>
                  <a:t>400 J</a:t>
                </a:r>
              </a:p>
            </p:txBody>
          </p:sp>
        </p:grpSp>
        <p:sp>
          <p:nvSpPr>
            <p:cNvPr id="28" name="Text Box 42"/>
            <p:cNvSpPr txBox="1">
              <a:spLocks noChangeArrowheads="1"/>
            </p:cNvSpPr>
            <p:nvPr/>
          </p:nvSpPr>
          <p:spPr bwMode="auto">
            <a:xfrm>
              <a:off x="432" y="742"/>
              <a:ext cx="1632" cy="4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/>
              <a:r>
                <a:rPr lang="es-MX" dirty="0"/>
                <a:t>No hay cambio en volumen:</a:t>
              </a:r>
            </a:p>
          </p:txBody>
        </p:sp>
      </p:grpSp>
      <p:sp>
        <p:nvSpPr>
          <p:cNvPr id="47" name="Text Box 8"/>
          <p:cNvSpPr txBox="1">
            <a:spLocks noChangeArrowheads="1"/>
          </p:cNvSpPr>
          <p:nvPr/>
        </p:nvSpPr>
        <p:spPr bwMode="auto">
          <a:xfrm>
            <a:off x="6416675" y="0"/>
            <a:ext cx="1584325" cy="7052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s-CO" sz="1400" dirty="0">
                <a:solidFill>
                  <a:schemeClr val="bg1"/>
                </a:solidFill>
              </a:rPr>
              <a:t>Pedro Alvarado</a:t>
            </a:r>
          </a:p>
          <a:p>
            <a:pPr>
              <a:lnSpc>
                <a:spcPct val="150000"/>
              </a:lnSpc>
            </a:pPr>
            <a:endParaRPr lang="es-ES" sz="1400" dirty="0">
              <a:solidFill>
                <a:schemeClr val="bg1"/>
              </a:solidFill>
            </a:endParaRPr>
          </a:p>
        </p:txBody>
      </p:sp>
      <p:sp>
        <p:nvSpPr>
          <p:cNvPr id="49" name="AutoShape 4" descr="Resultado de imagen para turbin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50" name="AutoShape 6" descr="Resultado de imagen para turbin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51" name="AutoShape 8" descr="Resultado de imagen para turbin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52" name="AutoShape 10" descr="data:image/jpeg;base64,/9j/4AAQSkZJRgABAQAAAQABAAD/2wCEAAkGBxMTEhMUEhMVFBUUFxcYGBgYFxUZGBoZHhgYGhcfGxobHiggHholHxccITEkJSkrMC4uHB8zODMsNygtLisBCgoKDg0OGhAQGywkHCY0LCwsLC8sLCwsNCwsLCwsLCwsLCwsLCwsLCwsLCwsLCwsNSwvLCwsLCwsLCwsLCwsLP/AABEIAK0BIwMBIgACEQEDEQH/xAAbAAEAAwEBAQEAAAAAAAAAAAAABAUGAwIBB//EAEMQAAEDAgQDBQYEAwUIAwEAAAEAAhEDIQQSMUEFUWETInGBkQYyQqGxwVJy0fAjM2IUQ4Lh8RUkU3OSorLCY3TSB//EABkBAQEAAwEAAAAAAAAAAAAAAAABAgMEBf/EACgRAQEAAgEDAwIHAQAAAAAAAAABAhEDEiExBEFREyIyUmFxgZGhM//aAAwDAQACEQMRAD8A+oiICIiAiIgIiICIiAiL6QRqg+IiICKXheF1qhhlMnvAG+k3kxMCOasX+y2KbBFLOTPdD2gdCXHTwAPkro2o0Wsw3DMMaooupVgYMuLXZJiYzEiT+WV74n7Isa0Op1mtnTORlJmwBkEct/BNJtkEXH+1s7TsxcjN3gWFpgbQTZdlFEREBERAREQEXptMkEgWbqdh58+Q1OykNw7SCQ7ugd5/wjoPxHUdCggYquGNLjoI+Zj7rzhcSHmBHS9yNoGvrCrfabEACm1pDg7M42IIiWtkG4vPoo3BMU6SKRu1pcAY192OehmxmyitEi9VBBPiV5VQREQEREBERAREQEREBERAXcUmiMx1E225KFij3Y52289dV1LJABmJFySDbX18ELZPKQcgOhItrM/ay+Meb5Wg/wCGYXGiWNMw0mIvPXp4fPmrvhvEQYDmMIJhsCCdtdCZ2stefXJuTZhycdurdINLC1jpmA8f0UjCcCfeXS07HY82nadwtE7E02iYnpofOVxp8SL3EUoMC+51tfSNdlzTLnz8TTq1w4++0WhwBu4lSDwfDgw5rJMmLT1t5rjxCpXawksq1AZnswHHwgEGNtNlhsf7cOL8lKlJBh3aOgi4nuDfxPJWcGe95Z/0xvLhZqY/22xo4YEmmYLSRLJBBGtxdd6ftWcPZ7zVbcNDrvBH9Q1t+K/VZzAPmnEz2meYAEVMxfoNJn5qv4w8EF3Msqevdf8ANdctk15cv0sZl1Tt+nssOKf/ANDr1YbTaGNcSJ0I8IMh285lSYSu55rmq5zywUsrnEucJcZ7xkz3RvdVTB32jk8qbgnkVK4G9IHzDx+pUbYk8D9+sPE+n+qsFX8E/m1esj7/AGVgrEyERFWIiKThsG5xbYjN7oALnu/K3UjqYbrdBHY0kgAEk6AXJ8lNoYGxc8gNb7xLstNv56nP+lkuPQrhj+K0MMC3+Y/QsY6Widq1Zuv5GQLXMrOcdxtWo/JWe0lshrG92m0SRDGgDlrHjMq9oaW2N9qabTlwuVzhpVeGgM/5VMnu/mMuPRVmCxuQu97+IH5xm99zjLnwY70/ENL3UHD03OJBJs0kD3eQEzBi/wCEg81bYDAhjgKhdRc6Cx8NyE696BpfbS3nPK+A8PpVWlzGucBEvDpjxuXR1iIm6Yn2YcB2jA2qw5C0h2jhVYSJdGUkBwm243hXlKmXvLQBQx1IZmkWZXb9LgfKdiGyMFjwAa7GQ2cmKoR7p0zhp22+R0MXSbQK2Hptux73EkyCZb8/suasOL4AUyHMvSqXYddpifpOxG8qvUBERAREQEREBERAREQEReqbJMc0LdPbKM6+nX9F6qM9VMbTUd95PP6bfvqt/Fh1V53Ny3y4HDktJFgLE/vdSMF3MOI5mOev6qPgKhitOhykfMH7Ke2hNGmB8Ux5uP6qc2Vt06PT4THHfussJQigCdSJ9b/RSuEYTsmF29QyfD4fufNTMRQBcymNPt/oFG49i8oDWjvGAAPQLQ7EjB44vqZBtcnkFS+1/AXVWZ2htSowgtdHfiYcOZEHTmAYsrvhWE7FkTL3XeeZ5eA/eq+Y/iTR3Rd50j96oj8/pYo+DiYPSo27fUWUbH1g4GNDMfleMzfR7SFo/afB9yo57C2oGlwcNSWiRfR0fLosOKdWsYaCOgEm5DvSZjxTQ80bvBkXLTqOX6qZRaO1q/8AJP8A5tXGvgxQGapVaHN73Z5ml7oMwGjTXddH5hUig6dWue0NjX3czgRMi4EwdVBI4fmbUqP2YS53MCCJI1HpsrDgT6mIa57KcUxo99mn8u7vK3VV+F4i3Dtq1nmXCo+m8d6MwdmpgXAgAmI0k7lccf7Xvrdm1pLWCZB7zokRpAIgn3gDYXMrDLHbbhn0d5O/z5XIdL8pqMIMwdBbW/qu7KAIs9s/mb577fPa5hUOGJGUuq9lUJMkyBsPeE6AxEGLabdKfEnsJaHB1Rxzsc54DTtLSQBeIvCyxkxmpGGdyzvVbutM3DNptzuDiBuKbqjieTKQH/dUgcmyqTi3GKzmPDab6DHatJirUM27Wo+CR/SLdBquOP4jiXspPbVfTLpY4ZzJewgENMgNkEW+UKJVFc5XuqEESJqOc33hBymJ0OtiOlis7WGnAQQAHsZYmJOWefzHXrdesPg21peZc6AJ3gaXd4/vVXXCOHuqsJZRotcGAuqODnFzQ4tIbIsRlBta8wVWU8VUa2swsyvphzmzBzAjuutbLYjyItECK68OpU2OINIOa0kEdJykg7GRr9Fb1KbGAMec+Gre486sdexOxF/n/UD+ct4jiaeJa9jg6wzBxsdZknQ9dL8l+i8PqU6rMv8AdYiw/wDjqjSPP7LKMa5ilUdNAn/eMP36Dxq9o+G/ONDoRf3TPf8A2i0dljmjuP8A4WKZtexJH6/0j4iold7+zFT+/wAG/K6/vMmPEiPkHndTsJSY7EVKM/weIUjUZ/TUiXRyOrvHLqqi+weDGWphCZaRnoOPLVpnoTB6OPNZlzSCQRBFiOR3UvhONcMNTe7+Zgqxo1B/QDl57Alo1+LfSV7T4fLWLhpUAf56O9SJ81iqpREQEREBERAREQEREBS8AySTyURWXDm90nr9grGrmusXWsIafT1soGJqhsZvdkA+CsMToOp+xP2VRxRsiBuuzhn2WvMz3c5E2nSu8Dl91bYWl/Dw52Dmz5PUHhQGdk/GzL5wD9QrZgDQaLrF0lnU7jx3XO9TFaYW9d07NJHqB91HNEGsajvgs3xO/kPquvD3l4J0rMEPHOdCOhj1BVNU4kezrTZ1N1/Ajun5H0Wqt3skcQ4g4uFKiM1R2gG3MnkOqs+DcCbT7zznqHVx0HRo2HXU/JReB4cUaQe7+ZUAc8nUA3DfAfWeig8T4/fKHa2AGp9FP2E3jLGjNTfD2nUa/wChWH4h7PdpA7eqWXloIaOksYGtPpstIMJiHDM6mabT+Ox/6dfUKPiqBZBmWkxmGx6jY8ucJCsNxHg5wlFzqbGOY735BdlEkTqI8QLSZhaLG0yGnugFl4Glth0VsJvP+LcdD4beEFRMVSh0jeZ8d0sJWY9oKLGsuwtz1XHNL3SS0RDQ2IcGTrHeVNheH5KjCzOQ6SZHuQNpIcTOkDkVr8bh2PNJhpsuASYILjL6YzQRmAa0e9P0RuEaxuXLNOQYicpI+uV3zhNG2dbgWF1TvFxIeGOhoYSNJuSNbEi8LjJewNHaONId0iTI/DOWMoOhnUla4UGzoDyPP9D1CkUcMCdLfQn7HcfsXpTbJkva2HBlJgyuhx77zmDX5R7pcA1zi0SYIiSuLX0ZFUuqOOQZWmWDNlvfcEiwvrFlucRwllVmVwHiQHQdJ8RpOseCtuDeyOGLO0LG5ySHWl2YG8k3Pir0ptkvZ6s6IJkWiHSBYb+R3sZI0gzONcLLqXcJDgZYZiHwbGPxCR0cOi0fEOCNa4OYAAbO8OflEqM6lIe0m5ZmF9wYPnIafMq9h+UN4NUcC2mABMWa0E3PIxpFp3C03srgHszUDIztLmdHsvbrbRXb+J0acSACdb84Fzt3iFUN9pGHFUnNAgVWm3Iw0+pJUGgcwOr0XkHJi6Rp1B/UBvblLdOflU0y9mFpuN6mAxYHxXaXwQLfE4gRuArLiNYCkDP8nFAieU5ieW/+iiYkjPxJkCHsbUiLS1od4ayoLarhAMbjaQ93FUBUbrGZum0a5jryTHVBVwWFqTJb3CbHYjYn/h891wZiv4vDas97szTOl4pkH5umy90z/ulVl/4dQgTOzmxr0d0RVUiIiCIiAiIgIiICIiArXAjuDxP1VUrXBHuDz+qyx8tHqPwmKd7vn9FWVa8PAOjreB2/RT8Y73fH7H9FS8QvELs4/wDm87v9WVeYYBzI0LTbnzBXV/EmGKWMBaHWZW0aDtP4TMd7TwXOAabXssSNtjuPVZTj3tRVYHUKtNlWW92e65p2JixHS3iua+dvSxrbn2hZhXsOKqBtSk4Mc7/i0XWzADVwgEgbtH4lS4rjeHr1anYVJFVtQZdHd05mkt27s6r8zr4eu/vvJMAASZho0A5AclywjqjCS1zmm4OVxBM63Gyxs34bJlp+01cY/FGlTpHKXsa5zvwNyguMecRzIVthaNDCD+GJedXuu8+ew6CAvz72U4xlJc1r2sp0W08zzmzGW/EAJPck+KtW1cTiO/TaAw6Oe7KD4WJI6wtVns2ytHiuNl2qq6mK13BsRsQuWF4U7+9qt8GyfmY+imuwtIQDpuTJ+46qzSXbnSAc23eyiRzy7gwNRYza3oqvi9V1MEtgzYTABOrLkgAkWkk6WBJVycK2mZGkg3i7SNQD4mDB0XGrRbMPmAY5Hm03vaSNDYlVGH4lxp5awspuFRrBYwWyXuzCRckEkaC4Vth8ZnpseQQKgNiJIM94Abum88ssK4xXGMHTZEMJIIMGZPoL67BZXBccD8zWtblFW0gm5aJ0IOwtPkg0OEoE5LENqAwYcIPmOk+EBTcPYAkRaDpqDymxiR4DqqTDcTJaLt7rjlNpAyiwLu8BtEjlfRfTjWzr8UCLDQ/qmzTUms0bzqN9QfDlGnJTOFcYDS8SAO6Z8o+3zWMHFQOWxnxdA+iz2M4hUe+GVGw7KMlpy5c0yJkwG2tbMpsb7j3tA1zXU2Ol52Gov00UAY2QCT8TvTuFZ+pToBhb/Z3ZzoS4hsxEkSAR0i/nK9UWue3JT7z2WgToZ8hAt5DSbhW8ToueXEOENPmG9JFjccrQbzCo8KGDFUmBvfL2mziZ5kzO08tFqGYXsnPNZwlwEtJZYaFpDSTEGLleqPCKFN7KjDdpOUnaYIvrz1nXxQW3FHTSrdagb5wBpovmKdNbF/8A13g6/hBGvQqM+uHdkwb1M7vIfWPoF4q4kZcVU/ERTbG+xj/DBVFhhXSeHC9y92/Jp+k6/qrfhLWOo187srTVeZ8Cw262Pz11VRTIZWpDbCYcuP5i3LG2tjt8rSsO3LhKYJ94yfE3Hn3vkoqNUiTlmNp1jr1Xld6zGNbTg5nPGaNMrOfOTsuCSpYIiKoIiICIiAiIgKzwTu55n9fuqxTsAe64eB+v6K4+Wnnn2OPEKmnQ/wCX3VW+tBkiQrDHjX19Lqvqs1Xbxd8bHnZXWUpjMc6jTe9riGgFx0INtptJWGp4wvqF1Qy5xknnyHkNlrcVgnYii7DB7aZqQGPcSAHZgWtJ5OIy+e+iwdHDvpveyoIcxzmm9g5riDcdQVzcl1dPS4pubX1fEF1vkmH4ZUfo0rvw7EURGYhavC+0+FpNgZZWP1Phn9NT4PgtVog1DSYbm9ifDSYm/gtCOJ1H92k0OA5OZAHroqTiftjSqd3KXDk0kHyIULhftTQacrKRcXHVwYT6yfstdu+7OTTXYRlaoR3qYn+omPQK5xPAsQwTmpvGUOs4gxf8QA258lm+HcVZ2ga2kGvdoGtbOkn3dFoXcULgWyQcsRf5gornhq5bNGq1zHOb3Zm4uYESDqYjc9VFxdSR+ZrOm46DmveKaCBIbF/dEcvQ6X/RQcQ+zeeVp25tPTkiMvwbDVHua+q7uEimBAInMRm7xdMGPQ2XbiOBLh2jAM7CQ9oHvcnRubX/AMlY8XexlMUphwETrHM2AVFxStVD6jKdQ1Gnsw0huUPIaYs74vevAMtEaBXweXVsgNLiQZLHDUkmTqN+ZPjyXLE4ltOm0ukycoJMghrjBIAjWLAyZjaV84bUo1I7V1SGS45IaItOaxNhPLddKeEL89IU+7TqOGUHQQ03M5vLobSFFcW12SwvaHNc4h7HEkNpmSTe06Ni2ql8RFWllAcMknK7u3A7wJy3jW0WsvL8EwUy0kEMc0ZZa2xGUm4IMRfwJFzCl8HfUa5rS60QyZtM92Y93aD1veFBT4rGw4gy3KQRlHeuZnOG6i/O3Iq64RhS1jmS0udBcO0yv2MguBB1mLKyxuM7MF76VENbEuNKmYG5s0lZvH4ik+qQQ99Rzsw2p3Etc4Ag2bAjYeJRXdvCzAtUeQTLC1rTBIklpJLpEjuk6aLlUrOe+HAgMIETckXIg7g92SYG6kcP9mWnLinve2XQxlv4gaIcSdm2AtqZiIU9/DaZ2j99dfNPJvStbSaZAFsoMMzHMdvX4dzlzGzlIw2EcXQ0yAZ2ylwnM4chn0PIPOy7u4cTPfHoR4yROulgOsqdSowP5hBtdoiIjSRrYeGwCmqu4nngbKNI1cS/vPguEnM4xZsTc9NlT0w97SHd1uYuDdbmxtsAAB1ud11ZRg5nOc934nmT5bDyXVWY/LG5fDxTZE3JJ1JuT4r2iLJiIiICIiAiIgIiIClcPd3o5iPv9lFXuk/KQeSRjnN42J2Joyqp9OPKyvyJUHE0bnqJ8xY/ZdnBfu08nl/Dtn8Uym9jmPsCCDNpB5FY1zxSmmQC24a6IBGxW44nh1QcVwzWsLnAHYDm46emvksefjdnpea2d2extFpu1Vb2wrV2CPZvqZoDSBcak7DyXJ/CKuvd/lCtqZDTl1tr3guWT5dnVvxHPhbj2jSHikQZD3TDSASJgG0wNN1t8BicRSd/vGR++em4T5gtDSPRZ/BcM7Ke1LS0ODajSxrgGuEsc1xuIidBpCv8NLCKDxZtmOGwGx/p5cvoI2HAcW2o7Mas7NkRffw8k4xLDDrg+67xN46gKPgKTcgay1odB96d/HkVX4bijg5+FxV8tw7T8rgfhN9dNQd1FT2Yn4HGMwF5FnatJ6deRK5NxAY4l3vAEMETcWuN9Y2idtVBxgLXNzmBBEgWPVpGkzMbGYOhMOtUpmMxqPgRqKYPjGZx/wCoJtdPld2asXywNhvaNzS6SYHZt5k6Alu/gpHHHCmzQEOAbrGUgy10jkZH+IrxhcTSpCWUaTTNiQXuJ096oXGVL4fgKVQZnsa46EXgHUy2YnfrM7rLG77McppmsTh6j4yMc5rhYNlzRAObSwgj0hS6AxQbmMMaIHetUaOcn4TvJ8gtjQw9MuaKgOSRIaALDQADZZvF8Rbi8Q0BgZSbOVm4guAzEXzHuyJ6KWeyy+6qa11RjmUW5yQy41Fy46C2nz8lY1MBWyw6bNHxCZ21M7yrajSawQxoaOQAA+S9rHS9Spw2DqZ3CpLmVWlryXTEix1mxMeqlO4VSzF0HMdb2/X5qYiuk6q91KhdE7ANA2AGgA2C8IiqCIiAiIgIiICIiAiIgIiICIiAiIgtcDUlscvpsvuIbaeV/wBfkoGDrZXX0NlaFbcMtd3n8+GsrPaqrG0QRz3WS40C86QG6D6nxW2qsiR5jw/y/RUfFMHuu7KTPHqjk4srhl0VkcbSJZSpDcl5/M45W+gaFYYmDiMXHu06HZjwz0x/6qLjO7WJ2aW/KF0w4nE4wfjbUaOpBD/o0+q8/LHVevhlKkUWZnU2H++w1MDq9rGkf+LvVSuHYnP/AAn2qMEA/iaP/YfMX5qrpPL8M1zTD8M+J3AnMw+sj/CrKowVQzEMEH4gPhcNf1HQhYti64S2oyYaXAAugamLmOqmcbw7MVhW4mh3nsbmkfFSNzY3lvveGZfeCcQGZsQH6x4RPlf5qiqcWfgsfVJMUBTD2s+EtLnEiOhzNjkAsVQ8FxQ1GOou+IA0idnwXNb4Ou3xcvnCKTapAc9wzaRH4Q4ag9fRRuOUGU67ux/l/wAOpTj8BJiPC7fFqjYfFFpzbgz5teT9CU0ba5/BmsEgl1tXHb6LzhqhYZFy0abvZ/8Apv71UjAY9tRkE6GPJ3un1so1ek8nuAlwJIgEw8agx8Lh9+ayxSrpjw5oc0yCJBVVU4YG1jVaBDpJ6O09DJPipnCMDiM3dov7OoC4tMTTfvbWD03vuVb0eFPe7IcjZmzniY3sJNlnlqxjFEi742iGPcwHMWmCR7s7gb2t6rgtbIREQEREBERAREQEREBERAREQEREBERAREQFZ4StmbG4+myrF7pVC0yFZdNXLx9eP6rGsJ8RoodZuYfvVSg8ESFwrDcef75rs4eTXa+HlcmFveeYyPEuHkEnWd1Wh+Svm/qBPgQM3ylbHFsDgstjsKczjG/0ssuXi23cHL27o3DTkrVWH3HEsPndp8jHkSu3DMf2DnNd7pdB6HY+W/QlQcQDmM7wflH2Xfh/DnYquGSRmguIEmBY+ZtHUhcdxsehOSXys+LYk08r2GC11j5GfJevaar/AG2hQfSY5z3ZmPa0FxBsdtrTfYrQYz2aoUKLQQ/EfxMozugWa6LNibjLBKmYZtYDJh8OKbRMBrIHmXQ2fGIWn6uHy3TDKqHh/shXq029uRSDWltu87JOYT8IgufudRZWjPZnA0iDUcXmZvUJju8qcWgK1ZwSq8TWrZZMlo7x0AvByzbXb6SqXCMOy5DnnXvO3392Foz9Zxzx3bsfS53yquFdixxZTpNcb9/IGwwe6HakkSG6idYFwp7OLFhc4Q4saYaYgmLTyAhfOKcSpMp5KYa2TctEAHkIu5yzTQSc2cOzgjKwyG7y4nbKNtyY1W/HO3HdndzdO8+17T/W9f7SNDGnUkDaBJA5rO/7ec42zCO80Fvdklw96DMXm+hEahUn9vLu72YvlAnZ0Hqfly6qZTYGtDRtcnmTEn0AA6AKzu2W6ffn+5PzREWTAREQEREBERAREQEREBERAREQEREBERAREQEREHSlVI8OX73XZzpuFFX1roWWOWmnl4Zn3nl4rqvrAFWboPTwXB2DB1J/7f16rpw55I4r6fPfhnMVw0veMvIADeZJ+62HstwXsRcAudcnkQRl8hfXU9AuNCkxu21419dvJSnY8xDRlH18Vyep5s8508c/l3+m4JL1ct/hoDjGsEAwodfi45yqJ1QnUryvOx9D+avSy9Z+WJOJ4+c+QNJcRPIageMSRcAxfkqriXEaxgAZpMQ2YBgHUjvWM6RZdcXhG1BDh4EWI8CvNLAtGrnuMzcgA2AJMRJOUfPmunD02GF3I58+fLOaqEwVSD3b9HGY3EkQL8vJc6OFr3AAY0m8ukkXtIkxdXIEL6t+o1bR8Nhct3HM6ImI9ApCIqgiIgIiICIiAiIgIiICIiAiIgIiICIiAiIgIiICIiAiIgIiICIiAiIgIiICIiAiIgIiICIiAiIgIiICIiAiIgIiICIiD/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54" name="AutoShape 2" descr="Resultado de imagen para sistema termodinamic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"/>
          <p:cNvSpPr txBox="1">
            <a:spLocks noChangeArrowheads="1"/>
          </p:cNvSpPr>
          <p:nvPr/>
        </p:nvSpPr>
        <p:spPr bwMode="auto">
          <a:xfrm>
            <a:off x="1219200" y="2355850"/>
            <a:ext cx="7696200" cy="5869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>
              <a:spcBef>
                <a:spcPts val="2000"/>
              </a:spcBef>
              <a:buClr>
                <a:srgbClr val="FFFFFF"/>
              </a:buClr>
              <a:buSzPct val="100000"/>
              <a:buFont typeface="Symbol" pitchFamily="18" charset="2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MX" sz="3200" dirty="0">
                <a:latin typeface="Symbol" pitchFamily="18" charset="2"/>
              </a:rPr>
              <a:t></a:t>
            </a:r>
            <a:r>
              <a:rPr lang="es-MX" sz="3200" dirty="0">
                <a:latin typeface="Times New Roman" pitchFamily="18" charset="0"/>
              </a:rPr>
              <a:t>Q = </a:t>
            </a:r>
            <a:r>
              <a:rPr lang="es-MX" sz="3200" dirty="0">
                <a:latin typeface="Symbol" pitchFamily="18" charset="2"/>
              </a:rPr>
              <a:t></a:t>
            </a:r>
            <a:r>
              <a:rPr lang="es-MX" sz="3200" dirty="0">
                <a:latin typeface="Times New Roman" pitchFamily="18" charset="0"/>
              </a:rPr>
              <a:t>U + </a:t>
            </a:r>
            <a:r>
              <a:rPr lang="es-MX" sz="3200" dirty="0">
                <a:latin typeface="Symbol" pitchFamily="18" charset="2"/>
              </a:rPr>
              <a:t></a:t>
            </a:r>
            <a:r>
              <a:rPr lang="es-MX" sz="3200" dirty="0">
                <a:latin typeface="Times New Roman" pitchFamily="18" charset="0"/>
              </a:rPr>
              <a:t>W      pero       </a:t>
            </a:r>
            <a:r>
              <a:rPr lang="es-MX" sz="3200" dirty="0">
                <a:latin typeface="Symbol" pitchFamily="18" charset="2"/>
              </a:rPr>
              <a:t></a:t>
            </a:r>
            <a:r>
              <a:rPr lang="es-MX" sz="3200" dirty="0">
                <a:latin typeface="Times New Roman" pitchFamily="18" charset="0"/>
              </a:rPr>
              <a:t>W = P </a:t>
            </a:r>
            <a:r>
              <a:rPr lang="es-MX" sz="3200" dirty="0">
                <a:latin typeface="Symbol" pitchFamily="18" charset="2"/>
              </a:rPr>
              <a:t></a:t>
            </a:r>
            <a:r>
              <a:rPr lang="es-MX" sz="3200" dirty="0">
                <a:latin typeface="Times New Roman" pitchFamily="18" charset="0"/>
              </a:rPr>
              <a:t>V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908050"/>
            <a:ext cx="8382000" cy="1447800"/>
          </a:xfrm>
          <a:ln/>
        </p:spPr>
        <p:txBody>
          <a:bodyPr>
            <a:norm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MX" sz="3000" b="1" i="1" dirty="0">
                <a:solidFill>
                  <a:srgbClr val="C00000"/>
                </a:solidFill>
              </a:rPr>
              <a:t>PROCESO ISOBÁRICO: </a:t>
            </a:r>
            <a:br>
              <a:rPr lang="es-MX" sz="3000" b="1" i="1" dirty="0">
                <a:solidFill>
                  <a:srgbClr val="C00000"/>
                </a:solidFill>
              </a:rPr>
            </a:br>
            <a:r>
              <a:rPr lang="es-MX" sz="3000" b="1" i="1" dirty="0">
                <a:solidFill>
                  <a:srgbClr val="C00000"/>
                </a:solidFill>
              </a:rPr>
              <a:t>PRESIÓN CONSTANTE, </a:t>
            </a:r>
            <a:r>
              <a:rPr lang="es-MX" sz="2800" dirty="0">
                <a:latin typeface="Symbol" pitchFamily="18" charset="2"/>
              </a:rPr>
              <a:t> </a:t>
            </a:r>
            <a:r>
              <a:rPr lang="es-MX" sz="3000" b="1" i="1" dirty="0">
                <a:solidFill>
                  <a:srgbClr val="C00000"/>
                </a:solidFill>
              </a:rPr>
              <a:t>P = 0</a:t>
            </a:r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1447800" y="3784600"/>
            <a:ext cx="1506538" cy="1138238"/>
          </a:xfrm>
          <a:prstGeom prst="roundRect">
            <a:avLst>
              <a:gd name="adj" fmla="val 139"/>
            </a:avLst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s-CO"/>
          </a:p>
        </p:txBody>
      </p:sp>
      <p:sp>
        <p:nvSpPr>
          <p:cNvPr id="6" name="AutoShape 6"/>
          <p:cNvSpPr>
            <a:spLocks noChangeArrowheads="1"/>
          </p:cNvSpPr>
          <p:nvPr/>
        </p:nvSpPr>
        <p:spPr bwMode="auto">
          <a:xfrm>
            <a:off x="5145088" y="3795713"/>
            <a:ext cx="1506537" cy="1138237"/>
          </a:xfrm>
          <a:prstGeom prst="roundRect">
            <a:avLst>
              <a:gd name="adj" fmla="val 139"/>
            </a:avLst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s-CO"/>
          </a:p>
        </p:txBody>
      </p:sp>
      <p:sp>
        <p:nvSpPr>
          <p:cNvPr id="7" name="Text Box 9"/>
          <p:cNvSpPr txBox="1">
            <a:spLocks noChangeArrowheads="1"/>
          </p:cNvSpPr>
          <p:nvPr/>
        </p:nvSpPr>
        <p:spPr bwMode="auto">
          <a:xfrm>
            <a:off x="1570038" y="4138613"/>
            <a:ext cx="1154112" cy="35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>
              <a:lnSpc>
                <a:spcPct val="95000"/>
              </a:lnSpc>
              <a:spcBef>
                <a:spcPct val="0"/>
              </a:spcBef>
              <a:buClr>
                <a:srgbClr val="008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MX" dirty="0">
                <a:latin typeface="Times New Roman" pitchFamily="18" charset="0"/>
              </a:rPr>
              <a:t>+</a:t>
            </a:r>
            <a:r>
              <a:rPr lang="es-MX" dirty="0">
                <a:latin typeface="Symbol" pitchFamily="18" charset="2"/>
              </a:rPr>
              <a:t></a:t>
            </a:r>
            <a:r>
              <a:rPr lang="es-MX" dirty="0">
                <a:latin typeface="Times New Roman" pitchFamily="18" charset="0"/>
              </a:rPr>
              <a:t>U</a:t>
            </a:r>
          </a:p>
        </p:txBody>
      </p:sp>
      <p:sp>
        <p:nvSpPr>
          <p:cNvPr id="8" name="Text Box 10"/>
          <p:cNvSpPr txBox="1">
            <a:spLocks noChangeArrowheads="1"/>
          </p:cNvSpPr>
          <p:nvPr/>
        </p:nvSpPr>
        <p:spPr bwMode="auto">
          <a:xfrm>
            <a:off x="5316538" y="4124325"/>
            <a:ext cx="1154112" cy="35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>
              <a:lnSpc>
                <a:spcPct val="95000"/>
              </a:lnSpc>
              <a:spcBef>
                <a:spcPct val="0"/>
              </a:spcBef>
              <a:buClr>
                <a:srgbClr val="008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MX">
                <a:latin typeface="Times New Roman" pitchFamily="18" charset="0"/>
              </a:rPr>
              <a:t> -</a:t>
            </a:r>
            <a:r>
              <a:rPr lang="es-MX">
                <a:latin typeface="Symbol" pitchFamily="18" charset="2"/>
              </a:rPr>
              <a:t></a:t>
            </a:r>
            <a:r>
              <a:rPr lang="es-MX">
                <a:latin typeface="Times New Roman" pitchFamily="18" charset="0"/>
              </a:rPr>
              <a:t>U</a:t>
            </a:r>
          </a:p>
        </p:txBody>
      </p:sp>
      <p:grpSp>
        <p:nvGrpSpPr>
          <p:cNvPr id="9" name="Group 25"/>
          <p:cNvGrpSpPr>
            <a:grpSpLocks/>
          </p:cNvGrpSpPr>
          <p:nvPr/>
        </p:nvGrpSpPr>
        <p:grpSpPr bwMode="auto">
          <a:xfrm>
            <a:off x="2092325" y="2971800"/>
            <a:ext cx="1050925" cy="1208088"/>
            <a:chOff x="1414" y="1488"/>
            <a:chExt cx="662" cy="761"/>
          </a:xfrm>
        </p:grpSpPr>
        <p:sp>
          <p:nvSpPr>
            <p:cNvPr id="10" name="Freeform 7"/>
            <p:cNvSpPr>
              <a:spLocks noChangeArrowheads="1"/>
            </p:cNvSpPr>
            <p:nvPr/>
          </p:nvSpPr>
          <p:spPr bwMode="auto">
            <a:xfrm>
              <a:off x="1414" y="1739"/>
              <a:ext cx="128" cy="510"/>
            </a:xfrm>
            <a:custGeom>
              <a:avLst/>
              <a:gdLst/>
              <a:ahLst/>
              <a:cxnLst>
                <a:cxn ang="0">
                  <a:pos x="141" y="0"/>
                </a:cxn>
                <a:cxn ang="0">
                  <a:pos x="141" y="1686"/>
                </a:cxn>
                <a:cxn ang="0">
                  <a:pos x="0" y="1686"/>
                </a:cxn>
                <a:cxn ang="0">
                  <a:pos x="282" y="2248"/>
                </a:cxn>
                <a:cxn ang="0">
                  <a:pos x="565" y="1686"/>
                </a:cxn>
                <a:cxn ang="0">
                  <a:pos x="424" y="1686"/>
                </a:cxn>
                <a:cxn ang="0">
                  <a:pos x="424" y="0"/>
                </a:cxn>
                <a:cxn ang="0">
                  <a:pos x="141" y="0"/>
                </a:cxn>
              </a:cxnLst>
              <a:rect l="0" t="0" r="r" b="b"/>
              <a:pathLst>
                <a:path w="566" h="2249">
                  <a:moveTo>
                    <a:pt x="141" y="0"/>
                  </a:moveTo>
                  <a:lnTo>
                    <a:pt x="141" y="1686"/>
                  </a:lnTo>
                  <a:lnTo>
                    <a:pt x="0" y="1686"/>
                  </a:lnTo>
                  <a:lnTo>
                    <a:pt x="282" y="2248"/>
                  </a:lnTo>
                  <a:lnTo>
                    <a:pt x="565" y="1686"/>
                  </a:lnTo>
                  <a:lnTo>
                    <a:pt x="424" y="1686"/>
                  </a:lnTo>
                  <a:lnTo>
                    <a:pt x="424" y="0"/>
                  </a:lnTo>
                  <a:lnTo>
                    <a:pt x="141" y="0"/>
                  </a:lnTo>
                </a:path>
              </a:pathLst>
            </a:custGeom>
            <a:solidFill>
              <a:srgbClr val="FF6600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CO"/>
            </a:p>
          </p:txBody>
        </p:sp>
        <p:sp>
          <p:nvSpPr>
            <p:cNvPr id="11" name="Text Box 11"/>
            <p:cNvSpPr txBox="1">
              <a:spLocks noChangeArrowheads="1"/>
            </p:cNvSpPr>
            <p:nvPr/>
          </p:nvSpPr>
          <p:spPr bwMode="auto">
            <a:xfrm>
              <a:off x="1537" y="1488"/>
              <a:ext cx="539" cy="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>
                <a:lnSpc>
                  <a:spcPct val="95000"/>
                </a:lnSpc>
                <a:spcBef>
                  <a:spcPct val="0"/>
                </a:spcBef>
                <a:buClr>
                  <a:srgbClr val="800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/>
                <a:t>Q</a:t>
              </a:r>
              <a:r>
                <a:rPr lang="es-MX" baseline="-25000"/>
                <a:t>IN</a:t>
              </a:r>
            </a:p>
          </p:txBody>
        </p:sp>
      </p:grpSp>
      <p:grpSp>
        <p:nvGrpSpPr>
          <p:cNvPr id="12" name="Group 24"/>
          <p:cNvGrpSpPr>
            <a:grpSpLocks/>
          </p:cNvGrpSpPr>
          <p:nvPr/>
        </p:nvGrpSpPr>
        <p:grpSpPr bwMode="auto">
          <a:xfrm>
            <a:off x="5811838" y="3027363"/>
            <a:ext cx="1458912" cy="1152525"/>
            <a:chOff x="3757" y="1523"/>
            <a:chExt cx="919" cy="726"/>
          </a:xfrm>
        </p:grpSpPr>
        <p:sp>
          <p:nvSpPr>
            <p:cNvPr id="13" name="Freeform 8"/>
            <p:cNvSpPr>
              <a:spLocks noChangeArrowheads="1"/>
            </p:cNvSpPr>
            <p:nvPr/>
          </p:nvSpPr>
          <p:spPr bwMode="auto">
            <a:xfrm>
              <a:off x="3757" y="1739"/>
              <a:ext cx="129" cy="510"/>
            </a:xfrm>
            <a:custGeom>
              <a:avLst/>
              <a:gdLst/>
              <a:ahLst/>
              <a:cxnLst>
                <a:cxn ang="0">
                  <a:pos x="142" y="2248"/>
                </a:cxn>
                <a:cxn ang="0">
                  <a:pos x="142" y="562"/>
                </a:cxn>
                <a:cxn ang="0">
                  <a:pos x="0" y="562"/>
                </a:cxn>
                <a:cxn ang="0">
                  <a:pos x="283" y="0"/>
                </a:cxn>
                <a:cxn ang="0">
                  <a:pos x="567" y="562"/>
                </a:cxn>
                <a:cxn ang="0">
                  <a:pos x="425" y="562"/>
                </a:cxn>
                <a:cxn ang="0">
                  <a:pos x="425" y="2248"/>
                </a:cxn>
                <a:cxn ang="0">
                  <a:pos x="142" y="2248"/>
                </a:cxn>
              </a:cxnLst>
              <a:rect l="0" t="0" r="r" b="b"/>
              <a:pathLst>
                <a:path w="568" h="2249">
                  <a:moveTo>
                    <a:pt x="142" y="2248"/>
                  </a:moveTo>
                  <a:lnTo>
                    <a:pt x="142" y="562"/>
                  </a:lnTo>
                  <a:lnTo>
                    <a:pt x="0" y="562"/>
                  </a:lnTo>
                  <a:lnTo>
                    <a:pt x="283" y="0"/>
                  </a:lnTo>
                  <a:lnTo>
                    <a:pt x="567" y="562"/>
                  </a:lnTo>
                  <a:lnTo>
                    <a:pt x="425" y="562"/>
                  </a:lnTo>
                  <a:lnTo>
                    <a:pt x="425" y="2248"/>
                  </a:lnTo>
                  <a:lnTo>
                    <a:pt x="142" y="2248"/>
                  </a:lnTo>
                </a:path>
              </a:pathLst>
            </a:custGeom>
            <a:solidFill>
              <a:srgbClr val="FF6600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CO"/>
            </a:p>
          </p:txBody>
        </p:sp>
        <p:sp>
          <p:nvSpPr>
            <p:cNvPr id="14" name="Text Box 12"/>
            <p:cNvSpPr txBox="1">
              <a:spLocks noChangeArrowheads="1"/>
            </p:cNvSpPr>
            <p:nvPr/>
          </p:nvSpPr>
          <p:spPr bwMode="auto">
            <a:xfrm>
              <a:off x="3957" y="1523"/>
              <a:ext cx="719" cy="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>
                <a:lnSpc>
                  <a:spcPct val="95000"/>
                </a:lnSpc>
                <a:spcBef>
                  <a:spcPct val="0"/>
                </a:spcBef>
                <a:buClr>
                  <a:srgbClr val="800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/>
                <a:t>Q</a:t>
              </a:r>
              <a:r>
                <a:rPr lang="es-MX" baseline="-25000"/>
                <a:t>OUT</a:t>
              </a:r>
            </a:p>
          </p:txBody>
        </p:sp>
      </p:grpSp>
      <p:grpSp>
        <p:nvGrpSpPr>
          <p:cNvPr id="15" name="Group 13"/>
          <p:cNvGrpSpPr>
            <a:grpSpLocks/>
          </p:cNvGrpSpPr>
          <p:nvPr/>
        </p:nvGrpSpPr>
        <p:grpSpPr bwMode="auto">
          <a:xfrm>
            <a:off x="685800" y="5327650"/>
            <a:ext cx="8153400" cy="1225550"/>
            <a:chOff x="432" y="2928"/>
            <a:chExt cx="5136" cy="772"/>
          </a:xfrm>
        </p:grpSpPr>
        <p:sp>
          <p:nvSpPr>
            <p:cNvPr id="16" name="AutoShape 14"/>
            <p:cNvSpPr>
              <a:spLocks noChangeArrowheads="1"/>
            </p:cNvSpPr>
            <p:nvPr/>
          </p:nvSpPr>
          <p:spPr bwMode="auto">
            <a:xfrm>
              <a:off x="432" y="2928"/>
              <a:ext cx="5136" cy="772"/>
            </a:xfrm>
            <a:prstGeom prst="roundRect">
              <a:avLst>
                <a:gd name="adj" fmla="val 125"/>
              </a:avLst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es-CO"/>
            </a:p>
          </p:txBody>
        </p:sp>
        <p:sp>
          <p:nvSpPr>
            <p:cNvPr id="17" name="Text Box 15"/>
            <p:cNvSpPr txBox="1">
              <a:spLocks noChangeArrowheads="1"/>
            </p:cNvSpPr>
            <p:nvPr/>
          </p:nvSpPr>
          <p:spPr bwMode="auto">
            <a:xfrm>
              <a:off x="432" y="2928"/>
              <a:ext cx="5136" cy="263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90000" tIns="46800" rIns="90000" bIns="46800">
              <a:spAutoFit/>
            </a:bodyPr>
            <a:lstStyle/>
            <a:p>
              <a:pPr algn="ctr">
                <a:spcBef>
                  <a:spcPct val="0"/>
                </a:spcBef>
                <a:buClr>
                  <a:srgbClr val="FFFFFF"/>
                </a:buClr>
                <a:buSzPct val="100000"/>
                <a:buFont typeface="Tahoma" pitchFamily="34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 sz="2100" dirty="0"/>
                <a:t>ENTRADA DE CALOR = W + AUMENTO EN ENERGÍA INTERNA</a:t>
              </a:r>
            </a:p>
          </p:txBody>
        </p:sp>
      </p:grpSp>
      <p:grpSp>
        <p:nvGrpSpPr>
          <p:cNvPr id="18" name="Group 16"/>
          <p:cNvGrpSpPr>
            <a:grpSpLocks/>
          </p:cNvGrpSpPr>
          <p:nvPr/>
        </p:nvGrpSpPr>
        <p:grpSpPr bwMode="auto">
          <a:xfrm>
            <a:off x="2667000" y="3733801"/>
            <a:ext cx="2286000" cy="1138238"/>
            <a:chOff x="1776" y="1968"/>
            <a:chExt cx="1440" cy="717"/>
          </a:xfrm>
        </p:grpSpPr>
        <p:sp>
          <p:nvSpPr>
            <p:cNvPr id="19" name="Text Box 17"/>
            <p:cNvSpPr txBox="1">
              <a:spLocks noChangeArrowheads="1"/>
            </p:cNvSpPr>
            <p:nvPr/>
          </p:nvSpPr>
          <p:spPr bwMode="auto">
            <a:xfrm>
              <a:off x="2064" y="1968"/>
              <a:ext cx="1152" cy="7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 algn="ctr">
                <a:spcBef>
                  <a:spcPts val="1875"/>
                </a:spcBef>
                <a:buClr>
                  <a:srgbClr val="FFFFFF"/>
                </a:buClr>
                <a:buSzPct val="100000"/>
                <a:buFont typeface="Tahoma" pitchFamily="34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 sz="2600"/>
                <a:t>Salida</a:t>
              </a:r>
            </a:p>
            <a:p>
              <a:pPr algn="ctr">
                <a:spcBef>
                  <a:spcPts val="1875"/>
                </a:spcBef>
                <a:buClr>
                  <a:srgbClr val="FFFFFF"/>
                </a:buClr>
                <a:buSzPct val="100000"/>
                <a:buFont typeface="Tahoma" pitchFamily="34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 sz="2600"/>
                <a:t>de trabajo</a:t>
              </a:r>
            </a:p>
          </p:txBody>
        </p:sp>
        <p:sp>
          <p:nvSpPr>
            <p:cNvPr id="20" name="Freeform 18"/>
            <p:cNvSpPr>
              <a:spLocks noChangeArrowheads="1"/>
            </p:cNvSpPr>
            <p:nvPr/>
          </p:nvSpPr>
          <p:spPr bwMode="auto">
            <a:xfrm>
              <a:off x="1776" y="2352"/>
              <a:ext cx="576" cy="144"/>
            </a:xfrm>
            <a:custGeom>
              <a:avLst/>
              <a:gdLst/>
              <a:ahLst/>
              <a:cxnLst>
                <a:cxn ang="0">
                  <a:pos x="0" y="159"/>
                </a:cxn>
                <a:cxn ang="0">
                  <a:pos x="1905" y="159"/>
                </a:cxn>
                <a:cxn ang="0">
                  <a:pos x="1905" y="0"/>
                </a:cxn>
                <a:cxn ang="0">
                  <a:pos x="2541" y="318"/>
                </a:cxn>
                <a:cxn ang="0">
                  <a:pos x="1905" y="636"/>
                </a:cxn>
                <a:cxn ang="0">
                  <a:pos x="1905" y="477"/>
                </a:cxn>
                <a:cxn ang="0">
                  <a:pos x="0" y="477"/>
                </a:cxn>
                <a:cxn ang="0">
                  <a:pos x="0" y="159"/>
                </a:cxn>
              </a:cxnLst>
              <a:rect l="0" t="0" r="r" b="b"/>
              <a:pathLst>
                <a:path w="2542" h="637">
                  <a:moveTo>
                    <a:pt x="0" y="159"/>
                  </a:moveTo>
                  <a:lnTo>
                    <a:pt x="1905" y="159"/>
                  </a:lnTo>
                  <a:lnTo>
                    <a:pt x="1905" y="0"/>
                  </a:lnTo>
                  <a:lnTo>
                    <a:pt x="2541" y="318"/>
                  </a:lnTo>
                  <a:lnTo>
                    <a:pt x="1905" y="636"/>
                  </a:lnTo>
                  <a:lnTo>
                    <a:pt x="1905" y="477"/>
                  </a:lnTo>
                  <a:lnTo>
                    <a:pt x="0" y="477"/>
                  </a:lnTo>
                  <a:lnTo>
                    <a:pt x="0" y="159"/>
                  </a:lnTo>
                </a:path>
              </a:pathLst>
            </a:custGeom>
            <a:solidFill>
              <a:srgbClr val="FF6600"/>
            </a:solidFill>
            <a:ln w="936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CO"/>
            </a:p>
          </p:txBody>
        </p:sp>
      </p:grpSp>
      <p:grpSp>
        <p:nvGrpSpPr>
          <p:cNvPr id="21" name="Group 23"/>
          <p:cNvGrpSpPr>
            <a:grpSpLocks/>
          </p:cNvGrpSpPr>
          <p:nvPr/>
        </p:nvGrpSpPr>
        <p:grpSpPr bwMode="auto">
          <a:xfrm>
            <a:off x="6096000" y="3733800"/>
            <a:ext cx="2743200" cy="1479550"/>
            <a:chOff x="4032" y="2016"/>
            <a:chExt cx="1344" cy="932"/>
          </a:xfrm>
        </p:grpSpPr>
        <p:sp>
          <p:nvSpPr>
            <p:cNvPr id="22" name="Freeform 20"/>
            <p:cNvSpPr>
              <a:spLocks noChangeArrowheads="1"/>
            </p:cNvSpPr>
            <p:nvPr/>
          </p:nvSpPr>
          <p:spPr bwMode="auto">
            <a:xfrm>
              <a:off x="4032" y="2304"/>
              <a:ext cx="576" cy="144"/>
            </a:xfrm>
            <a:custGeom>
              <a:avLst/>
              <a:gdLst/>
              <a:ahLst/>
              <a:cxnLst>
                <a:cxn ang="0">
                  <a:pos x="2541" y="477"/>
                </a:cxn>
                <a:cxn ang="0">
                  <a:pos x="636" y="477"/>
                </a:cxn>
                <a:cxn ang="0">
                  <a:pos x="636" y="636"/>
                </a:cxn>
                <a:cxn ang="0">
                  <a:pos x="0" y="318"/>
                </a:cxn>
                <a:cxn ang="0">
                  <a:pos x="636" y="0"/>
                </a:cxn>
                <a:cxn ang="0">
                  <a:pos x="636" y="159"/>
                </a:cxn>
                <a:cxn ang="0">
                  <a:pos x="2541" y="159"/>
                </a:cxn>
                <a:cxn ang="0">
                  <a:pos x="2541" y="477"/>
                </a:cxn>
              </a:cxnLst>
              <a:rect l="0" t="0" r="r" b="b"/>
              <a:pathLst>
                <a:path w="2542" h="637">
                  <a:moveTo>
                    <a:pt x="2541" y="477"/>
                  </a:moveTo>
                  <a:lnTo>
                    <a:pt x="636" y="477"/>
                  </a:lnTo>
                  <a:lnTo>
                    <a:pt x="636" y="636"/>
                  </a:lnTo>
                  <a:lnTo>
                    <a:pt x="0" y="318"/>
                  </a:lnTo>
                  <a:lnTo>
                    <a:pt x="636" y="0"/>
                  </a:lnTo>
                  <a:lnTo>
                    <a:pt x="636" y="159"/>
                  </a:lnTo>
                  <a:lnTo>
                    <a:pt x="2541" y="159"/>
                  </a:lnTo>
                  <a:lnTo>
                    <a:pt x="2541" y="477"/>
                  </a:lnTo>
                </a:path>
              </a:pathLst>
            </a:custGeom>
            <a:solidFill>
              <a:srgbClr val="FF6600"/>
            </a:solidFill>
            <a:ln w="936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CO"/>
            </a:p>
          </p:txBody>
        </p:sp>
        <p:sp>
          <p:nvSpPr>
            <p:cNvPr id="23" name="Text Box 21"/>
            <p:cNvSpPr txBox="1">
              <a:spLocks noChangeArrowheads="1"/>
            </p:cNvSpPr>
            <p:nvPr/>
          </p:nvSpPr>
          <p:spPr bwMode="auto">
            <a:xfrm>
              <a:off x="4512" y="2016"/>
              <a:ext cx="864" cy="9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 algn="ctr">
                <a:spcBef>
                  <a:spcPts val="1875"/>
                </a:spcBef>
                <a:buClr>
                  <a:srgbClr val="FFFFFF"/>
                </a:buClr>
                <a:buSzPct val="100000"/>
                <a:buFont typeface="Tahoma" pitchFamily="34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 sz="3000"/>
                <a:t>Entrada de trabajo</a:t>
              </a:r>
            </a:p>
          </p:txBody>
        </p:sp>
      </p:grpSp>
      <p:sp>
        <p:nvSpPr>
          <p:cNvPr id="24" name="Rectangle 26"/>
          <p:cNvSpPr>
            <a:spLocks noChangeArrowheads="1"/>
          </p:cNvSpPr>
          <p:nvPr/>
        </p:nvSpPr>
        <p:spPr bwMode="auto">
          <a:xfrm>
            <a:off x="906463" y="5937250"/>
            <a:ext cx="7704137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0"/>
              </a:spcBef>
              <a:buClr>
                <a:srgbClr val="FFFFFF"/>
              </a:buClr>
              <a:buSzPct val="100000"/>
              <a:buFont typeface="Tahoma" pitchFamily="34" charset="0"/>
              <a:buNone/>
            </a:pPr>
            <a:r>
              <a:rPr lang="es-MX" sz="2000" dirty="0"/>
              <a:t>SALIDA DE CALOR = W + DISMINUCIÓN EN ENERGÍA INTERNA</a:t>
            </a:r>
          </a:p>
        </p:txBody>
      </p:sp>
      <p:sp>
        <p:nvSpPr>
          <p:cNvPr id="30" name="AutoShape 4" descr="Resultado de imagen para turbin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31" name="AutoShape 6" descr="Resultado de imagen para turbin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32" name="AutoShape 8" descr="Resultado de imagen para turbin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33" name="AutoShape 10" descr="data:image/jpeg;base64,/9j/4AAQSkZJRgABAQAAAQABAAD/2wCEAAkGBxMTEhMUEhMVFBUUFxcYGBgYFxUZGBoZHhgYGhcfGxobHiggHholHxccITEkJSkrMC4uHB8zODMsNygtLisBCgoKDg0OGhAQGywkHCY0LCwsLC8sLCwsNCwsLCwsLCwsLCwsLCwsLCwsLCwsLCwsNSwvLCwsLCwsLCwsLCwsLP/AABEIAK0BIwMBIgACEQEDEQH/xAAbAAEAAwEBAQEAAAAAAAAAAAAABAUGAwIBB//EAEMQAAEDAgQDBQYEAwUIAwEAAAEAAhEDIQQSMUEFUWETInGBkQYyQqGxwVJy0fAjM2IUQ4Lh8RUkU3OSorLCY3TSB//EABkBAQEAAwEAAAAAAAAAAAAAAAABAgMEBf/EACgRAQEAAgEDAwIHAQAAAAAAAAABAhEDEiExBEFREyIyUmFxgZGhM//aAAwDAQACEQMRAD8A+oiICIiAiIgIiICIiAiL6QRqg+IiICKXheF1qhhlMnvAG+k3kxMCOasX+y2KbBFLOTPdD2gdCXHTwAPkro2o0Wsw3DMMaooupVgYMuLXZJiYzEiT+WV74n7Isa0Op1mtnTORlJmwBkEct/BNJtkEXH+1s7TsxcjN3gWFpgbQTZdlFEREBERAREQEXptMkEgWbqdh58+Q1OykNw7SCQ7ugd5/wjoPxHUdCggYquGNLjoI+Zj7rzhcSHmBHS9yNoGvrCrfabEACm1pDg7M42IIiWtkG4vPoo3BMU6SKRu1pcAY192OehmxmyitEi9VBBPiV5VQREQEREBERAREQEREBERAXcUmiMx1E225KFij3Y52289dV1LJABmJFySDbX18ELZPKQcgOhItrM/ay+Meb5Wg/wCGYXGiWNMw0mIvPXp4fPmrvhvEQYDmMIJhsCCdtdCZ2stefXJuTZhycdurdINLC1jpmA8f0UjCcCfeXS07HY82nadwtE7E02iYnpofOVxp8SL3EUoMC+51tfSNdlzTLnz8TTq1w4++0WhwBu4lSDwfDgw5rJMmLT1t5rjxCpXawksq1AZnswHHwgEGNtNlhsf7cOL8lKlJBh3aOgi4nuDfxPJWcGe95Z/0xvLhZqY/22xo4YEmmYLSRLJBBGtxdd6ftWcPZ7zVbcNDrvBH9Q1t+K/VZzAPmnEz2meYAEVMxfoNJn5qv4w8EF3Msqevdf8ANdctk15cv0sZl1Tt+nssOKf/ANDr1YbTaGNcSJ0I8IMh285lSYSu55rmq5zywUsrnEucJcZ7xkz3RvdVTB32jk8qbgnkVK4G9IHzDx+pUbYk8D9+sPE+n+qsFX8E/m1esj7/AGVgrEyERFWIiKThsG5xbYjN7oALnu/K3UjqYbrdBHY0kgAEk6AXJ8lNoYGxc8gNb7xLstNv56nP+lkuPQrhj+K0MMC3+Y/QsY6Widq1Zuv5GQLXMrOcdxtWo/JWe0lshrG92m0SRDGgDlrHjMq9oaW2N9qabTlwuVzhpVeGgM/5VMnu/mMuPRVmCxuQu97+IH5xm99zjLnwY70/ENL3UHD03OJBJs0kD3eQEzBi/wCEg81bYDAhjgKhdRc6Cx8NyE696BpfbS3nPK+A8PpVWlzGucBEvDpjxuXR1iIm6Yn2YcB2jA2qw5C0h2jhVYSJdGUkBwm243hXlKmXvLQBQx1IZmkWZXb9LgfKdiGyMFjwAa7GQ2cmKoR7p0zhp22+R0MXSbQK2Hptux73EkyCZb8/suasOL4AUyHMvSqXYddpifpOxG8qvUBERAREQEREBERAREQEReqbJMc0LdPbKM6+nX9F6qM9VMbTUd95PP6bfvqt/Fh1V53Ny3y4HDktJFgLE/vdSMF3MOI5mOev6qPgKhitOhykfMH7Ke2hNGmB8Ux5uP6qc2Vt06PT4THHfussJQigCdSJ9b/RSuEYTsmF29QyfD4fufNTMRQBcymNPt/oFG49i8oDWjvGAAPQLQ7EjB44vqZBtcnkFS+1/AXVWZ2htSowgtdHfiYcOZEHTmAYsrvhWE7FkTL3XeeZ5eA/eq+Y/iTR3Rd50j96oj8/pYo+DiYPSo27fUWUbH1g4GNDMfleMzfR7SFo/afB9yo57C2oGlwcNSWiRfR0fLosOKdWsYaCOgEm5DvSZjxTQ80bvBkXLTqOX6qZRaO1q/8AJP8A5tXGvgxQGapVaHN73Z5ml7oMwGjTXddH5hUig6dWue0NjX3czgRMi4EwdVBI4fmbUqP2YS53MCCJI1HpsrDgT6mIa57KcUxo99mn8u7vK3VV+F4i3Dtq1nmXCo+m8d6MwdmpgXAgAmI0k7lccf7Xvrdm1pLWCZB7zokRpAIgn3gDYXMrDLHbbhn0d5O/z5XIdL8pqMIMwdBbW/qu7KAIs9s/mb577fPa5hUOGJGUuq9lUJMkyBsPeE6AxEGLabdKfEnsJaHB1Rxzsc54DTtLSQBeIvCyxkxmpGGdyzvVbutM3DNptzuDiBuKbqjieTKQH/dUgcmyqTi3GKzmPDab6DHatJirUM27Wo+CR/SLdBquOP4jiXspPbVfTLpY4ZzJewgENMgNkEW+UKJVFc5XuqEESJqOc33hBymJ0OtiOlis7WGnAQQAHsZYmJOWefzHXrdesPg21peZc6AJ3gaXd4/vVXXCOHuqsJZRotcGAuqODnFzQ4tIbIsRlBta8wVWU8VUa2swsyvphzmzBzAjuutbLYjyItECK68OpU2OINIOa0kEdJykg7GRr9Fb1KbGAMec+Gre486sdexOxF/n/UD+ct4jiaeJa9jg6wzBxsdZknQ9dL8l+i8PqU6rMv8AdYiw/wDjqjSPP7LKMa5ilUdNAn/eMP36Dxq9o+G/ONDoRf3TPf8A2i0dljmjuP8A4WKZtexJH6/0j4iold7+zFT+/wAG/K6/vMmPEiPkHndTsJSY7EVKM/weIUjUZ/TUiXRyOrvHLqqi+weDGWphCZaRnoOPLVpnoTB6OPNZlzSCQRBFiOR3UvhONcMNTe7+Zgqxo1B/QDl57Alo1+LfSV7T4fLWLhpUAf56O9SJ81iqpREQEREBERAREQEREBS8AySTyURWXDm90nr9grGrmusXWsIafT1soGJqhsZvdkA+CsMToOp+xP2VRxRsiBuuzhn2WvMz3c5E2nSu8Dl91bYWl/Dw52Dmz5PUHhQGdk/GzL5wD9QrZgDQaLrF0lnU7jx3XO9TFaYW9d07NJHqB91HNEGsajvgs3xO/kPquvD3l4J0rMEPHOdCOhj1BVNU4kezrTZ1N1/Ajun5H0Wqt3skcQ4g4uFKiM1R2gG3MnkOqs+DcCbT7zznqHVx0HRo2HXU/JReB4cUaQe7+ZUAc8nUA3DfAfWeig8T4/fKHa2AGp9FP2E3jLGjNTfD2nUa/wChWH4h7PdpA7eqWXloIaOksYGtPpstIMJiHDM6mabT+Ox/6dfUKPiqBZBmWkxmGx6jY8ucJCsNxHg5wlFzqbGOY735BdlEkTqI8QLSZhaLG0yGnugFl4Glth0VsJvP+LcdD4beEFRMVSh0jeZ8d0sJWY9oKLGsuwtz1XHNL3SS0RDQ2IcGTrHeVNheH5KjCzOQ6SZHuQNpIcTOkDkVr8bh2PNJhpsuASYILjL6YzQRmAa0e9P0RuEaxuXLNOQYicpI+uV3zhNG2dbgWF1TvFxIeGOhoYSNJuSNbEi8LjJewNHaONId0iTI/DOWMoOhnUla4UGzoDyPP9D1CkUcMCdLfQn7HcfsXpTbJkva2HBlJgyuhx77zmDX5R7pcA1zi0SYIiSuLX0ZFUuqOOQZWmWDNlvfcEiwvrFlucRwllVmVwHiQHQdJ8RpOseCtuDeyOGLO0LG5ySHWl2YG8k3Pir0ptkvZ6s6IJkWiHSBYb+R3sZI0gzONcLLqXcJDgZYZiHwbGPxCR0cOi0fEOCNa4OYAAbO8OflEqM6lIe0m5ZmF9wYPnIafMq9h+UN4NUcC2mABMWa0E3PIxpFp3C03srgHszUDIztLmdHsvbrbRXb+J0acSACdb84Fzt3iFUN9pGHFUnNAgVWm3Iw0+pJUGgcwOr0XkHJi6Rp1B/UBvblLdOflU0y9mFpuN6mAxYHxXaXwQLfE4gRuArLiNYCkDP8nFAieU5ieW/+iiYkjPxJkCHsbUiLS1od4ayoLarhAMbjaQ93FUBUbrGZum0a5jryTHVBVwWFqTJb3CbHYjYn/h891wZiv4vDas97szTOl4pkH5umy90z/ulVl/4dQgTOzmxr0d0RVUiIiCIiAiIgIiICIiArXAjuDxP1VUrXBHuDz+qyx8tHqPwmKd7vn9FWVa8PAOjreB2/RT8Y73fH7H9FS8QvELs4/wDm87v9WVeYYBzI0LTbnzBXV/EmGKWMBaHWZW0aDtP4TMd7TwXOAabXssSNtjuPVZTj3tRVYHUKtNlWW92e65p2JixHS3iua+dvSxrbn2hZhXsOKqBtSk4Mc7/i0XWzADVwgEgbtH4lS4rjeHr1anYVJFVtQZdHd05mkt27s6r8zr4eu/vvJMAASZho0A5AclywjqjCS1zmm4OVxBM63Gyxs34bJlp+01cY/FGlTpHKXsa5zvwNyguMecRzIVthaNDCD+GJedXuu8+ew6CAvz72U4xlJc1r2sp0W08zzmzGW/EAJPck+KtW1cTiO/TaAw6Oe7KD4WJI6wtVns2ytHiuNl2qq6mK13BsRsQuWF4U7+9qt8GyfmY+imuwtIQDpuTJ+46qzSXbnSAc23eyiRzy7gwNRYza3oqvi9V1MEtgzYTABOrLkgAkWkk6WBJVycK2mZGkg3i7SNQD4mDB0XGrRbMPmAY5Hm03vaSNDYlVGH4lxp5awspuFRrBYwWyXuzCRckEkaC4Vth8ZnpseQQKgNiJIM94Abum88ssK4xXGMHTZEMJIIMGZPoL67BZXBccD8zWtblFW0gm5aJ0IOwtPkg0OEoE5LENqAwYcIPmOk+EBTcPYAkRaDpqDymxiR4DqqTDcTJaLt7rjlNpAyiwLu8BtEjlfRfTjWzr8UCLDQ/qmzTUms0bzqN9QfDlGnJTOFcYDS8SAO6Z8o+3zWMHFQOWxnxdA+iz2M4hUe+GVGw7KMlpy5c0yJkwG2tbMpsb7j3tA1zXU2Ol52Gov00UAY2QCT8TvTuFZ+pToBhb/Z3ZzoS4hsxEkSAR0i/nK9UWue3JT7z2WgToZ8hAt5DSbhW8ToueXEOENPmG9JFjccrQbzCo8KGDFUmBvfL2mziZ5kzO08tFqGYXsnPNZwlwEtJZYaFpDSTEGLleqPCKFN7KjDdpOUnaYIvrz1nXxQW3FHTSrdagb5wBpovmKdNbF/8A13g6/hBGvQqM+uHdkwb1M7vIfWPoF4q4kZcVU/ERTbG+xj/DBVFhhXSeHC9y92/Jp+k6/qrfhLWOo187srTVeZ8Cw262Pz11VRTIZWpDbCYcuP5i3LG2tjt8rSsO3LhKYJ94yfE3Hn3vkoqNUiTlmNp1jr1Xld6zGNbTg5nPGaNMrOfOTsuCSpYIiKoIiICIiAiIgKzwTu55n9fuqxTsAe64eB+v6K4+Wnnn2OPEKmnQ/wCX3VW+tBkiQrDHjX19Lqvqs1Xbxd8bHnZXWUpjMc6jTe9riGgFx0INtptJWGp4wvqF1Qy5xknnyHkNlrcVgnYii7DB7aZqQGPcSAHZgWtJ5OIy+e+iwdHDvpveyoIcxzmm9g5riDcdQVzcl1dPS4pubX1fEF1vkmH4ZUfo0rvw7EURGYhavC+0+FpNgZZWP1Phn9NT4PgtVog1DSYbm9ifDSYm/gtCOJ1H92k0OA5OZAHroqTiftjSqd3KXDk0kHyIULhftTQacrKRcXHVwYT6yfstdu+7OTTXYRlaoR3qYn+omPQK5xPAsQwTmpvGUOs4gxf8QA258lm+HcVZ2ga2kGvdoGtbOkn3dFoXcULgWyQcsRf5gornhq5bNGq1zHOb3Zm4uYESDqYjc9VFxdSR+ZrOm46DmveKaCBIbF/dEcvQ6X/RQcQ+zeeVp25tPTkiMvwbDVHua+q7uEimBAInMRm7xdMGPQ2XbiOBLh2jAM7CQ9oHvcnRubX/AMlY8XexlMUphwETrHM2AVFxStVD6jKdQ1Gnsw0huUPIaYs74vevAMtEaBXweXVsgNLiQZLHDUkmTqN+ZPjyXLE4ltOm0ukycoJMghrjBIAjWLAyZjaV84bUo1I7V1SGS45IaItOaxNhPLddKeEL89IU+7TqOGUHQQ03M5vLobSFFcW12SwvaHNc4h7HEkNpmSTe06Ni2ql8RFWllAcMknK7u3A7wJy3jW0WsvL8EwUy0kEMc0ZZa2xGUm4IMRfwJFzCl8HfUa5rS60QyZtM92Y93aD1veFBT4rGw4gy3KQRlHeuZnOG6i/O3Iq64RhS1jmS0udBcO0yv2MguBB1mLKyxuM7MF76VENbEuNKmYG5s0lZvH4ik+qQQ99Rzsw2p3Etc4Ag2bAjYeJRXdvCzAtUeQTLC1rTBIklpJLpEjuk6aLlUrOe+HAgMIETckXIg7g92SYG6kcP9mWnLinve2XQxlv4gaIcSdm2AtqZiIU9/DaZ2j99dfNPJvStbSaZAFsoMMzHMdvX4dzlzGzlIw2EcXQ0yAZ2ylwnM4chn0PIPOy7u4cTPfHoR4yROulgOsqdSowP5hBtdoiIjSRrYeGwCmqu4nngbKNI1cS/vPguEnM4xZsTc9NlT0w97SHd1uYuDdbmxtsAAB1ud11ZRg5nOc934nmT5bDyXVWY/LG5fDxTZE3JJ1JuT4r2iLJiIiICIiAiIgIiIClcPd3o5iPv9lFXuk/KQeSRjnN42J2Joyqp9OPKyvyJUHE0bnqJ8xY/ZdnBfu08nl/Dtn8Uym9jmPsCCDNpB5FY1zxSmmQC24a6IBGxW44nh1QcVwzWsLnAHYDm46emvksefjdnpea2d2extFpu1Vb2wrV2CPZvqZoDSBcak7DyXJ/CKuvd/lCtqZDTl1tr3guWT5dnVvxHPhbj2jSHikQZD3TDSASJgG0wNN1t8BicRSd/vGR++em4T5gtDSPRZ/BcM7Ke1LS0ODajSxrgGuEsc1xuIidBpCv8NLCKDxZtmOGwGx/p5cvoI2HAcW2o7Mas7NkRffw8k4xLDDrg+67xN46gKPgKTcgay1odB96d/HkVX4bijg5+FxV8tw7T8rgfhN9dNQd1FT2Yn4HGMwF5FnatJ6deRK5NxAY4l3vAEMETcWuN9Y2idtVBxgLXNzmBBEgWPVpGkzMbGYOhMOtUpmMxqPgRqKYPjGZx/wCoJtdPld2asXywNhvaNzS6SYHZt5k6Alu/gpHHHCmzQEOAbrGUgy10jkZH+IrxhcTSpCWUaTTNiQXuJ096oXGVL4fgKVQZnsa46EXgHUy2YnfrM7rLG77McppmsTh6j4yMc5rhYNlzRAObSwgj0hS6AxQbmMMaIHetUaOcn4TvJ8gtjQw9MuaKgOSRIaALDQADZZvF8Rbi8Q0BgZSbOVm4guAzEXzHuyJ6KWeyy+6qa11RjmUW5yQy41Fy46C2nz8lY1MBWyw6bNHxCZ21M7yrajSawQxoaOQAA+S9rHS9Spw2DqZ3CpLmVWlryXTEix1mxMeqlO4VSzF0HMdb2/X5qYiuk6q91KhdE7ANA2AGgA2C8IiqCIiAiIgIiICIiAiIgIiICIiAiIgtcDUlscvpsvuIbaeV/wBfkoGDrZXX0NlaFbcMtd3n8+GsrPaqrG0QRz3WS40C86QG6D6nxW2qsiR5jw/y/RUfFMHuu7KTPHqjk4srhl0VkcbSJZSpDcl5/M45W+gaFYYmDiMXHu06HZjwz0x/6qLjO7WJ2aW/KF0w4nE4wfjbUaOpBD/o0+q8/LHVevhlKkUWZnU2H++w1MDq9rGkf+LvVSuHYnP/AAn2qMEA/iaP/YfMX5qrpPL8M1zTD8M+J3AnMw+sj/CrKowVQzEMEH4gPhcNf1HQhYti64S2oyYaXAAugamLmOqmcbw7MVhW4mh3nsbmkfFSNzY3lvveGZfeCcQGZsQH6x4RPlf5qiqcWfgsfVJMUBTD2s+EtLnEiOhzNjkAsVQ8FxQ1GOou+IA0idnwXNb4Ou3xcvnCKTapAc9wzaRH4Q4ag9fRRuOUGU67ux/l/wAOpTj8BJiPC7fFqjYfFFpzbgz5teT9CU0ba5/BmsEgl1tXHb6LzhqhYZFy0abvZ/8Apv71UjAY9tRkE6GPJ3un1so1ek8nuAlwJIgEw8agx8Lh9+ayxSrpjw5oc0yCJBVVU4YG1jVaBDpJ6O09DJPipnCMDiM3dov7OoC4tMTTfvbWD03vuVb0eFPe7IcjZmzniY3sJNlnlqxjFEi742iGPcwHMWmCR7s7gb2t6rgtbIREQEREBERAREQEREBERAREQEREBERAREQFZ4StmbG4+myrF7pVC0yFZdNXLx9eP6rGsJ8RoodZuYfvVSg8ESFwrDcef75rs4eTXa+HlcmFveeYyPEuHkEnWd1Wh+Svm/qBPgQM3ylbHFsDgstjsKczjG/0ssuXi23cHL27o3DTkrVWH3HEsPndp8jHkSu3DMf2DnNd7pdB6HY+W/QlQcQDmM7wflH2Xfh/DnYquGSRmguIEmBY+ZtHUhcdxsehOSXys+LYk08r2GC11j5GfJevaar/AG2hQfSY5z3ZmPa0FxBsdtrTfYrQYz2aoUKLQQ/EfxMozugWa6LNibjLBKmYZtYDJh8OKbRMBrIHmXQ2fGIWn6uHy3TDKqHh/shXq029uRSDWltu87JOYT8IgufudRZWjPZnA0iDUcXmZvUJju8qcWgK1ZwSq8TWrZZMlo7x0AvByzbXb6SqXCMOy5DnnXvO3392Foz9Zxzx3bsfS53yquFdixxZTpNcb9/IGwwe6HakkSG6idYFwp7OLFhc4Q4saYaYgmLTyAhfOKcSpMp5KYa2TctEAHkIu5yzTQSc2cOzgjKwyG7y4nbKNtyY1W/HO3HdndzdO8+17T/W9f7SNDGnUkDaBJA5rO/7ec42zCO80Fvdklw96DMXm+hEahUn9vLu72YvlAnZ0Hqfly6qZTYGtDRtcnmTEn0AA6AKzu2W6ffn+5PzREWTAREQEREBERAREQEREBERAREQEREBERAREQEREHSlVI8OX73XZzpuFFX1roWWOWmnl4Zn3nl4rqvrAFWboPTwXB2DB1J/7f16rpw55I4r6fPfhnMVw0veMvIADeZJ+62HstwXsRcAudcnkQRl8hfXU9AuNCkxu21419dvJSnY8xDRlH18Vyep5s8508c/l3+m4JL1ct/hoDjGsEAwodfi45yqJ1QnUryvOx9D+avSy9Z+WJOJ4+c+QNJcRPIageMSRcAxfkqriXEaxgAZpMQ2YBgHUjvWM6RZdcXhG1BDh4EWI8CvNLAtGrnuMzcgA2AJMRJOUfPmunD02GF3I58+fLOaqEwVSD3b9HGY3EkQL8vJc6OFr3AAY0m8ukkXtIkxdXIEL6t+o1bR8Nhct3HM6ImI9ApCIqgiIgIiICIiAiIgIiICIiAiIgIiICIiAiIgIiICIiAiIgIiICIiAiIgIiICIiAiIgIiICIiAiIgIiICIiAiIgIiICIiD/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35" name="AutoShape 2" descr="Resultado de imagen para sistema termodinamic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Grp="1" noChangeArrowheads="1"/>
          </p:cNvSpPr>
          <p:nvPr>
            <p:ph type="title"/>
          </p:nvPr>
        </p:nvSpPr>
        <p:spPr>
          <a:xfrm>
            <a:off x="304800" y="990600"/>
            <a:ext cx="8686800" cy="1066800"/>
          </a:xfrm>
          <a:ln/>
        </p:spPr>
        <p:txBody>
          <a:bodyPr/>
          <a:lstStyle/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MX" sz="3400" b="1" i="1" dirty="0">
                <a:solidFill>
                  <a:srgbClr val="C00000"/>
                </a:solidFill>
              </a:rPr>
              <a:t>EJEMPLO ISOBÁRICO (Presión constante):</a:t>
            </a:r>
          </a:p>
        </p:txBody>
      </p:sp>
      <p:sp>
        <p:nvSpPr>
          <p:cNvPr id="4" name="Text Box 40"/>
          <p:cNvSpPr txBox="1">
            <a:spLocks noChangeArrowheads="1"/>
          </p:cNvSpPr>
          <p:nvPr/>
        </p:nvSpPr>
        <p:spPr bwMode="auto">
          <a:xfrm>
            <a:off x="609600" y="5152124"/>
            <a:ext cx="2667000" cy="12486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>
              <a:spcBef>
                <a:spcPts val="1875"/>
              </a:spcBef>
              <a:buClr>
                <a:srgbClr val="FFFFFF"/>
              </a:buClr>
              <a:buSzPct val="100000"/>
              <a:buFont typeface="Tahoma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MX" sz="2500"/>
              <a:t>La entrada de calor aumenta </a:t>
            </a:r>
            <a:r>
              <a:rPr lang="es-MX" sz="2500" i="1"/>
              <a:t>V</a:t>
            </a:r>
            <a:r>
              <a:rPr lang="es-MX" sz="2500"/>
              <a:t> con </a:t>
            </a:r>
            <a:r>
              <a:rPr lang="es-MX" sz="2500" i="1"/>
              <a:t>P </a:t>
            </a:r>
            <a:r>
              <a:rPr lang="es-MX" sz="2500"/>
              <a:t>constante</a:t>
            </a:r>
            <a:endParaRPr lang="es-MX" sz="2500" i="1"/>
          </a:p>
        </p:txBody>
      </p:sp>
      <p:sp>
        <p:nvSpPr>
          <p:cNvPr id="5" name="Text Box 41"/>
          <p:cNvSpPr txBox="1">
            <a:spLocks noChangeArrowheads="1"/>
          </p:cNvSpPr>
          <p:nvPr/>
        </p:nvSpPr>
        <p:spPr bwMode="auto">
          <a:xfrm>
            <a:off x="3657600" y="5075924"/>
            <a:ext cx="4419600" cy="12486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>
              <a:spcBef>
                <a:spcPts val="1875"/>
              </a:spcBef>
              <a:buClr>
                <a:srgbClr val="FFFFFF"/>
              </a:buClr>
              <a:buSzPct val="100000"/>
              <a:buFont typeface="Tahoma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MX" sz="2500" u="sng"/>
              <a:t>400 J</a:t>
            </a:r>
            <a:r>
              <a:rPr lang="es-MX" sz="2500"/>
              <a:t> de calor realizan </a:t>
            </a:r>
            <a:r>
              <a:rPr lang="es-MX" sz="2500" u="sng"/>
              <a:t>120 J</a:t>
            </a:r>
            <a:r>
              <a:rPr lang="es-MX" sz="2500"/>
              <a:t> de trabajo y aumentan la energía interna en </a:t>
            </a:r>
            <a:r>
              <a:rPr lang="es-MX" sz="2500" u="sng"/>
              <a:t>280 J</a:t>
            </a:r>
            <a:r>
              <a:rPr lang="es-MX" sz="2500"/>
              <a:t>.</a:t>
            </a:r>
          </a:p>
        </p:txBody>
      </p:sp>
      <p:grpSp>
        <p:nvGrpSpPr>
          <p:cNvPr id="6" name="Group 67"/>
          <p:cNvGrpSpPr>
            <a:grpSpLocks/>
          </p:cNvGrpSpPr>
          <p:nvPr/>
        </p:nvGrpSpPr>
        <p:grpSpPr bwMode="auto">
          <a:xfrm>
            <a:off x="533400" y="1951724"/>
            <a:ext cx="7924800" cy="2971800"/>
            <a:chOff x="336" y="768"/>
            <a:chExt cx="4992" cy="1872"/>
          </a:xfrm>
        </p:grpSpPr>
        <p:sp>
          <p:nvSpPr>
            <p:cNvPr id="7" name="AutoShape 3"/>
            <p:cNvSpPr>
              <a:spLocks noChangeArrowheads="1"/>
            </p:cNvSpPr>
            <p:nvPr/>
          </p:nvSpPr>
          <p:spPr bwMode="auto">
            <a:xfrm>
              <a:off x="336" y="768"/>
              <a:ext cx="4992" cy="1872"/>
            </a:xfrm>
            <a:prstGeom prst="roundRect">
              <a:avLst>
                <a:gd name="adj" fmla="val 51"/>
              </a:avLst>
            </a:prstGeom>
            <a:solidFill>
              <a:srgbClr val="800000"/>
            </a:solidFill>
            <a:ln w="38160">
              <a:solidFill>
                <a:srgbClr val="CC9900"/>
              </a:solidFill>
              <a:round/>
              <a:headEnd/>
              <a:tailEnd/>
            </a:ln>
            <a:effectLst>
              <a:outerShdw dist="107933" dir="2700000" algn="ctr" rotWithShape="0">
                <a:srgbClr val="4D4D4D"/>
              </a:outerShdw>
            </a:effectLst>
          </p:spPr>
          <p:txBody>
            <a:bodyPr wrap="none" anchor="ctr"/>
            <a:lstStyle/>
            <a:p>
              <a:endParaRPr lang="es-CO"/>
            </a:p>
          </p:txBody>
        </p:sp>
        <p:sp>
          <p:nvSpPr>
            <p:cNvPr id="8" name="Line 46"/>
            <p:cNvSpPr>
              <a:spLocks noChangeShapeType="1"/>
            </p:cNvSpPr>
            <p:nvPr/>
          </p:nvSpPr>
          <p:spPr bwMode="auto">
            <a:xfrm>
              <a:off x="2064" y="768"/>
              <a:ext cx="0" cy="1872"/>
            </a:xfrm>
            <a:prstGeom prst="line">
              <a:avLst/>
            </a:prstGeom>
            <a:noFill/>
            <a:ln w="57150">
              <a:solidFill>
                <a:srgbClr val="CC9900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es-CO"/>
            </a:p>
          </p:txBody>
        </p:sp>
        <p:grpSp>
          <p:nvGrpSpPr>
            <p:cNvPr id="9" name="Group 47"/>
            <p:cNvGrpSpPr>
              <a:grpSpLocks/>
            </p:cNvGrpSpPr>
            <p:nvPr/>
          </p:nvGrpSpPr>
          <p:grpSpPr bwMode="auto">
            <a:xfrm>
              <a:off x="480" y="912"/>
              <a:ext cx="1248" cy="1643"/>
              <a:chOff x="480" y="912"/>
              <a:chExt cx="1248" cy="1643"/>
            </a:xfrm>
          </p:grpSpPr>
          <p:sp>
            <p:nvSpPr>
              <p:cNvPr id="10" name="Rectangle 48"/>
              <p:cNvSpPr>
                <a:spLocks noChangeArrowheads="1"/>
              </p:cNvSpPr>
              <p:nvPr/>
            </p:nvSpPr>
            <p:spPr bwMode="auto">
              <a:xfrm>
                <a:off x="672" y="1248"/>
                <a:ext cx="96" cy="144"/>
              </a:xfrm>
              <a:prstGeom prst="rect">
                <a:avLst/>
              </a:prstGeom>
              <a:solidFill>
                <a:schemeClr val="bg2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CO"/>
              </a:p>
            </p:txBody>
          </p:sp>
          <p:sp>
            <p:nvSpPr>
              <p:cNvPr id="11" name="Rectangle 49"/>
              <p:cNvSpPr>
                <a:spLocks noChangeArrowheads="1"/>
              </p:cNvSpPr>
              <p:nvPr/>
            </p:nvSpPr>
            <p:spPr bwMode="auto">
              <a:xfrm>
                <a:off x="1440" y="1008"/>
                <a:ext cx="96" cy="144"/>
              </a:xfrm>
              <a:prstGeom prst="rect">
                <a:avLst/>
              </a:prstGeom>
              <a:solidFill>
                <a:schemeClr val="bg2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CO"/>
              </a:p>
            </p:txBody>
          </p:sp>
          <p:sp>
            <p:nvSpPr>
              <p:cNvPr id="12" name="AutoShape 50"/>
              <p:cNvSpPr>
                <a:spLocks noChangeArrowheads="1"/>
              </p:cNvSpPr>
              <p:nvPr/>
            </p:nvSpPr>
            <p:spPr bwMode="auto">
              <a:xfrm>
                <a:off x="576" y="1883"/>
                <a:ext cx="288" cy="96"/>
              </a:xfrm>
              <a:prstGeom prst="roundRect">
                <a:avLst>
                  <a:gd name="adj" fmla="val 1042"/>
                </a:avLst>
              </a:prstGeom>
              <a:solidFill>
                <a:srgbClr val="FFFFFF"/>
              </a:solidFill>
              <a:ln w="9360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s-CO"/>
              </a:p>
            </p:txBody>
          </p:sp>
          <p:sp>
            <p:nvSpPr>
              <p:cNvPr id="13" name="AutoShape 51"/>
              <p:cNvSpPr>
                <a:spLocks noChangeArrowheads="1"/>
              </p:cNvSpPr>
              <p:nvPr/>
            </p:nvSpPr>
            <p:spPr bwMode="auto">
              <a:xfrm>
                <a:off x="576" y="1595"/>
                <a:ext cx="288" cy="288"/>
              </a:xfrm>
              <a:prstGeom prst="roundRect">
                <a:avLst>
                  <a:gd name="adj" fmla="val 347"/>
                </a:avLst>
              </a:prstGeom>
              <a:solidFill>
                <a:srgbClr val="CC9900"/>
              </a:solidFill>
              <a:ln w="936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s-CO"/>
              </a:p>
            </p:txBody>
          </p:sp>
          <p:sp>
            <p:nvSpPr>
              <p:cNvPr id="14" name="AutoShape 52"/>
              <p:cNvSpPr>
                <a:spLocks noChangeArrowheads="1"/>
              </p:cNvSpPr>
              <p:nvPr/>
            </p:nvSpPr>
            <p:spPr bwMode="auto">
              <a:xfrm>
                <a:off x="576" y="1403"/>
                <a:ext cx="288" cy="192"/>
              </a:xfrm>
              <a:prstGeom prst="roundRect">
                <a:avLst>
                  <a:gd name="adj" fmla="val 519"/>
                </a:avLst>
              </a:prstGeom>
              <a:solidFill>
                <a:srgbClr val="006666"/>
              </a:solidFill>
              <a:ln w="9360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s-CO"/>
              </a:p>
            </p:txBody>
          </p:sp>
          <p:sp>
            <p:nvSpPr>
              <p:cNvPr id="15" name="AutoShape 53"/>
              <p:cNvSpPr>
                <a:spLocks noChangeArrowheads="1"/>
              </p:cNvSpPr>
              <p:nvPr/>
            </p:nvSpPr>
            <p:spPr bwMode="auto">
              <a:xfrm>
                <a:off x="1344" y="1877"/>
                <a:ext cx="288" cy="102"/>
              </a:xfrm>
              <a:prstGeom prst="roundRect">
                <a:avLst>
                  <a:gd name="adj" fmla="val 977"/>
                </a:avLst>
              </a:prstGeom>
              <a:solidFill>
                <a:srgbClr val="FFFFFF"/>
              </a:solidFill>
              <a:ln w="936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s-CO"/>
              </a:p>
            </p:txBody>
          </p:sp>
          <p:sp>
            <p:nvSpPr>
              <p:cNvPr id="16" name="AutoShape 54"/>
              <p:cNvSpPr>
                <a:spLocks noChangeArrowheads="1"/>
              </p:cNvSpPr>
              <p:nvPr/>
            </p:nvSpPr>
            <p:spPr bwMode="auto">
              <a:xfrm>
                <a:off x="1344" y="1355"/>
                <a:ext cx="288" cy="528"/>
              </a:xfrm>
              <a:prstGeom prst="roundRect">
                <a:avLst>
                  <a:gd name="adj" fmla="val 347"/>
                </a:avLst>
              </a:prstGeom>
              <a:solidFill>
                <a:srgbClr val="CC9900"/>
              </a:solidFill>
              <a:ln w="936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s-CO"/>
              </a:p>
            </p:txBody>
          </p:sp>
          <p:sp>
            <p:nvSpPr>
              <p:cNvPr id="17" name="AutoShape 55"/>
              <p:cNvSpPr>
                <a:spLocks noChangeArrowheads="1"/>
              </p:cNvSpPr>
              <p:nvPr/>
            </p:nvSpPr>
            <p:spPr bwMode="auto">
              <a:xfrm>
                <a:off x="1344" y="1163"/>
                <a:ext cx="288" cy="198"/>
              </a:xfrm>
              <a:prstGeom prst="roundRect">
                <a:avLst>
                  <a:gd name="adj" fmla="val 505"/>
                </a:avLst>
              </a:prstGeom>
              <a:solidFill>
                <a:srgbClr val="006666"/>
              </a:solidFill>
              <a:ln w="936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s-CO"/>
              </a:p>
            </p:txBody>
          </p:sp>
          <p:grpSp>
            <p:nvGrpSpPr>
              <p:cNvPr id="18" name="Group 56"/>
              <p:cNvGrpSpPr>
                <a:grpSpLocks/>
              </p:cNvGrpSpPr>
              <p:nvPr/>
            </p:nvGrpSpPr>
            <p:grpSpPr bwMode="auto">
              <a:xfrm>
                <a:off x="576" y="2027"/>
                <a:ext cx="200" cy="528"/>
                <a:chOff x="576" y="2027"/>
                <a:chExt cx="200" cy="528"/>
              </a:xfrm>
            </p:grpSpPr>
            <p:sp>
              <p:nvSpPr>
                <p:cNvPr id="27" name="AutoShape 57"/>
                <p:cNvSpPr>
                  <a:spLocks noChangeArrowheads="1"/>
                </p:cNvSpPr>
                <p:nvPr/>
              </p:nvSpPr>
              <p:spPr bwMode="auto">
                <a:xfrm>
                  <a:off x="576" y="2219"/>
                  <a:ext cx="192" cy="336"/>
                </a:xfrm>
                <a:prstGeom prst="roundRect">
                  <a:avLst>
                    <a:gd name="adj" fmla="val 519"/>
                  </a:avLst>
                </a:prstGeom>
                <a:solidFill>
                  <a:srgbClr val="FF6600"/>
                </a:solidFill>
                <a:ln w="936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s-CO"/>
                </a:p>
              </p:txBody>
            </p:sp>
            <p:sp>
              <p:nvSpPr>
                <p:cNvPr id="28" name="Freeform 58"/>
                <p:cNvSpPr>
                  <a:spLocks noChangeArrowheads="1"/>
                </p:cNvSpPr>
                <p:nvPr/>
              </p:nvSpPr>
              <p:spPr bwMode="auto">
                <a:xfrm>
                  <a:off x="624" y="2027"/>
                  <a:ext cx="152" cy="190"/>
                </a:xfrm>
                <a:custGeom>
                  <a:avLst/>
                  <a:gdLst/>
                  <a:ahLst/>
                  <a:cxnLst>
                    <a:cxn ang="0">
                      <a:pos x="277" y="839"/>
                    </a:cxn>
                    <a:cxn ang="0">
                      <a:pos x="110" y="781"/>
                    </a:cxn>
                    <a:cxn ang="0">
                      <a:pos x="0" y="393"/>
                    </a:cxn>
                    <a:cxn ang="0">
                      <a:pos x="110" y="225"/>
                    </a:cxn>
                    <a:cxn ang="0">
                      <a:pos x="335" y="0"/>
                    </a:cxn>
                    <a:cxn ang="0">
                      <a:pos x="613" y="393"/>
                    </a:cxn>
                    <a:cxn ang="0">
                      <a:pos x="671" y="560"/>
                    </a:cxn>
                    <a:cxn ang="0">
                      <a:pos x="277" y="839"/>
                    </a:cxn>
                    <a:cxn ang="0">
                      <a:pos x="277" y="839"/>
                    </a:cxn>
                  </a:cxnLst>
                  <a:rect l="0" t="0" r="r" b="b"/>
                  <a:pathLst>
                    <a:path w="672" h="840">
                      <a:moveTo>
                        <a:pt x="277" y="839"/>
                      </a:moveTo>
                      <a:cubicBezTo>
                        <a:pt x="221" y="821"/>
                        <a:pt x="145" y="825"/>
                        <a:pt x="110" y="781"/>
                      </a:cubicBezTo>
                      <a:cubicBezTo>
                        <a:pt x="26" y="675"/>
                        <a:pt x="44" y="521"/>
                        <a:pt x="0" y="393"/>
                      </a:cubicBezTo>
                      <a:cubicBezTo>
                        <a:pt x="35" y="335"/>
                        <a:pt x="66" y="278"/>
                        <a:pt x="110" y="225"/>
                      </a:cubicBezTo>
                      <a:cubicBezTo>
                        <a:pt x="181" y="145"/>
                        <a:pt x="335" y="0"/>
                        <a:pt x="335" y="0"/>
                      </a:cubicBezTo>
                      <a:cubicBezTo>
                        <a:pt x="613" y="97"/>
                        <a:pt x="480" y="0"/>
                        <a:pt x="613" y="393"/>
                      </a:cubicBezTo>
                      <a:cubicBezTo>
                        <a:pt x="631" y="450"/>
                        <a:pt x="671" y="560"/>
                        <a:pt x="671" y="560"/>
                      </a:cubicBezTo>
                      <a:cubicBezTo>
                        <a:pt x="538" y="688"/>
                        <a:pt x="405" y="710"/>
                        <a:pt x="277" y="839"/>
                      </a:cubicBezTo>
                      <a:lnTo>
                        <a:pt x="277" y="839"/>
                      </a:lnTo>
                    </a:path>
                  </a:pathLst>
                </a:custGeom>
                <a:solidFill>
                  <a:srgbClr val="FFFF00"/>
                </a:solidFill>
                <a:ln w="936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s-CO"/>
                </a:p>
              </p:txBody>
            </p:sp>
          </p:grpSp>
          <p:sp>
            <p:nvSpPr>
              <p:cNvPr id="19" name="Text Box 59"/>
              <p:cNvSpPr txBox="1">
                <a:spLocks noChangeArrowheads="1"/>
              </p:cNvSpPr>
              <p:nvPr/>
            </p:nvSpPr>
            <p:spPr bwMode="auto">
              <a:xfrm>
                <a:off x="768" y="2219"/>
                <a:ext cx="672" cy="2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90000" tIns="46800" rIns="90000" bIns="46800">
                <a:spAutoFit/>
              </a:bodyPr>
              <a:lstStyle/>
              <a:p>
                <a:pPr>
                  <a:spcBef>
                    <a:spcPts val="1500"/>
                  </a:spcBef>
                </a:pPr>
                <a:r>
                  <a:rPr lang="es-MX" sz="2400"/>
                  <a:t>400 J</a:t>
                </a:r>
                <a:endParaRPr lang="es-MX"/>
              </a:p>
            </p:txBody>
          </p:sp>
          <p:grpSp>
            <p:nvGrpSpPr>
              <p:cNvPr id="20" name="Group 60"/>
              <p:cNvGrpSpPr>
                <a:grpSpLocks/>
              </p:cNvGrpSpPr>
              <p:nvPr/>
            </p:nvGrpSpPr>
            <p:grpSpPr bwMode="auto">
              <a:xfrm>
                <a:off x="1392" y="2027"/>
                <a:ext cx="200" cy="528"/>
                <a:chOff x="1392" y="2027"/>
                <a:chExt cx="200" cy="528"/>
              </a:xfrm>
            </p:grpSpPr>
            <p:sp>
              <p:nvSpPr>
                <p:cNvPr id="25" name="AutoShape 61"/>
                <p:cNvSpPr>
                  <a:spLocks noChangeArrowheads="1"/>
                </p:cNvSpPr>
                <p:nvPr/>
              </p:nvSpPr>
              <p:spPr bwMode="auto">
                <a:xfrm>
                  <a:off x="1392" y="2219"/>
                  <a:ext cx="192" cy="336"/>
                </a:xfrm>
                <a:prstGeom prst="roundRect">
                  <a:avLst>
                    <a:gd name="adj" fmla="val 519"/>
                  </a:avLst>
                </a:prstGeom>
                <a:solidFill>
                  <a:srgbClr val="FF6600"/>
                </a:solidFill>
                <a:ln w="936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s-CO"/>
                </a:p>
              </p:txBody>
            </p:sp>
            <p:sp>
              <p:nvSpPr>
                <p:cNvPr id="26" name="Freeform 62"/>
                <p:cNvSpPr>
                  <a:spLocks noChangeArrowheads="1"/>
                </p:cNvSpPr>
                <p:nvPr/>
              </p:nvSpPr>
              <p:spPr bwMode="auto">
                <a:xfrm>
                  <a:off x="1440" y="2027"/>
                  <a:ext cx="152" cy="190"/>
                </a:xfrm>
                <a:custGeom>
                  <a:avLst/>
                  <a:gdLst/>
                  <a:ahLst/>
                  <a:cxnLst>
                    <a:cxn ang="0">
                      <a:pos x="277" y="839"/>
                    </a:cxn>
                    <a:cxn ang="0">
                      <a:pos x="110" y="781"/>
                    </a:cxn>
                    <a:cxn ang="0">
                      <a:pos x="0" y="393"/>
                    </a:cxn>
                    <a:cxn ang="0">
                      <a:pos x="110" y="225"/>
                    </a:cxn>
                    <a:cxn ang="0">
                      <a:pos x="335" y="0"/>
                    </a:cxn>
                    <a:cxn ang="0">
                      <a:pos x="613" y="393"/>
                    </a:cxn>
                    <a:cxn ang="0">
                      <a:pos x="671" y="560"/>
                    </a:cxn>
                    <a:cxn ang="0">
                      <a:pos x="277" y="839"/>
                    </a:cxn>
                    <a:cxn ang="0">
                      <a:pos x="277" y="839"/>
                    </a:cxn>
                  </a:cxnLst>
                  <a:rect l="0" t="0" r="r" b="b"/>
                  <a:pathLst>
                    <a:path w="672" h="840">
                      <a:moveTo>
                        <a:pt x="277" y="839"/>
                      </a:moveTo>
                      <a:cubicBezTo>
                        <a:pt x="221" y="821"/>
                        <a:pt x="145" y="825"/>
                        <a:pt x="110" y="781"/>
                      </a:cubicBezTo>
                      <a:cubicBezTo>
                        <a:pt x="26" y="675"/>
                        <a:pt x="44" y="521"/>
                        <a:pt x="0" y="393"/>
                      </a:cubicBezTo>
                      <a:cubicBezTo>
                        <a:pt x="35" y="335"/>
                        <a:pt x="66" y="278"/>
                        <a:pt x="110" y="225"/>
                      </a:cubicBezTo>
                      <a:cubicBezTo>
                        <a:pt x="181" y="145"/>
                        <a:pt x="335" y="0"/>
                        <a:pt x="335" y="0"/>
                      </a:cubicBezTo>
                      <a:cubicBezTo>
                        <a:pt x="613" y="97"/>
                        <a:pt x="480" y="0"/>
                        <a:pt x="613" y="393"/>
                      </a:cubicBezTo>
                      <a:cubicBezTo>
                        <a:pt x="631" y="450"/>
                        <a:pt x="671" y="560"/>
                        <a:pt x="671" y="560"/>
                      </a:cubicBezTo>
                      <a:cubicBezTo>
                        <a:pt x="538" y="688"/>
                        <a:pt x="405" y="710"/>
                        <a:pt x="277" y="839"/>
                      </a:cubicBezTo>
                      <a:lnTo>
                        <a:pt x="277" y="839"/>
                      </a:lnTo>
                    </a:path>
                  </a:pathLst>
                </a:custGeom>
                <a:solidFill>
                  <a:srgbClr val="FFFF00"/>
                </a:solidFill>
                <a:ln w="936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s-CO"/>
                </a:p>
              </p:txBody>
            </p:sp>
          </p:grpSp>
          <p:sp>
            <p:nvSpPr>
              <p:cNvPr id="21" name="AutoShape 63"/>
              <p:cNvSpPr>
                <a:spLocks noChangeArrowheads="1"/>
              </p:cNvSpPr>
              <p:nvPr/>
            </p:nvSpPr>
            <p:spPr bwMode="auto">
              <a:xfrm>
                <a:off x="480" y="971"/>
                <a:ext cx="96" cy="1008"/>
              </a:xfrm>
              <a:prstGeom prst="roundRect">
                <a:avLst>
                  <a:gd name="adj" fmla="val 1042"/>
                </a:avLst>
              </a:prstGeom>
              <a:solidFill>
                <a:srgbClr val="006666"/>
              </a:solidFill>
              <a:ln w="936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s-CO"/>
              </a:p>
            </p:txBody>
          </p:sp>
          <p:sp>
            <p:nvSpPr>
              <p:cNvPr id="22" name="AutoShape 64"/>
              <p:cNvSpPr>
                <a:spLocks noChangeArrowheads="1"/>
              </p:cNvSpPr>
              <p:nvPr/>
            </p:nvSpPr>
            <p:spPr bwMode="auto">
              <a:xfrm>
                <a:off x="864" y="960"/>
                <a:ext cx="96" cy="1008"/>
              </a:xfrm>
              <a:prstGeom prst="roundRect">
                <a:avLst>
                  <a:gd name="adj" fmla="val 1042"/>
                </a:avLst>
              </a:prstGeom>
              <a:solidFill>
                <a:srgbClr val="006666"/>
              </a:solidFill>
              <a:ln w="936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s-CO"/>
              </a:p>
            </p:txBody>
          </p:sp>
          <p:sp>
            <p:nvSpPr>
              <p:cNvPr id="23" name="AutoShape 65"/>
              <p:cNvSpPr>
                <a:spLocks noChangeArrowheads="1"/>
              </p:cNvSpPr>
              <p:nvPr/>
            </p:nvSpPr>
            <p:spPr bwMode="auto">
              <a:xfrm>
                <a:off x="1632" y="912"/>
                <a:ext cx="96" cy="1067"/>
              </a:xfrm>
              <a:prstGeom prst="roundRect">
                <a:avLst>
                  <a:gd name="adj" fmla="val 1042"/>
                </a:avLst>
              </a:prstGeom>
              <a:solidFill>
                <a:srgbClr val="006666"/>
              </a:solidFill>
              <a:ln w="936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s-CO"/>
              </a:p>
            </p:txBody>
          </p:sp>
          <p:sp>
            <p:nvSpPr>
              <p:cNvPr id="24" name="AutoShape 66"/>
              <p:cNvSpPr>
                <a:spLocks noChangeArrowheads="1"/>
              </p:cNvSpPr>
              <p:nvPr/>
            </p:nvSpPr>
            <p:spPr bwMode="auto">
              <a:xfrm>
                <a:off x="1248" y="912"/>
                <a:ext cx="96" cy="1067"/>
              </a:xfrm>
              <a:prstGeom prst="roundRect">
                <a:avLst>
                  <a:gd name="adj" fmla="val 1042"/>
                </a:avLst>
              </a:prstGeom>
              <a:solidFill>
                <a:srgbClr val="006666"/>
              </a:solidFill>
              <a:ln w="936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s-CO"/>
              </a:p>
            </p:txBody>
          </p:sp>
        </p:grpSp>
      </p:grpSp>
      <p:grpSp>
        <p:nvGrpSpPr>
          <p:cNvPr id="29" name="Group 85"/>
          <p:cNvGrpSpPr>
            <a:grpSpLocks/>
          </p:cNvGrpSpPr>
          <p:nvPr/>
        </p:nvGrpSpPr>
        <p:grpSpPr bwMode="auto">
          <a:xfrm>
            <a:off x="3581400" y="2027924"/>
            <a:ext cx="5029200" cy="2638425"/>
            <a:chOff x="2256" y="816"/>
            <a:chExt cx="3168" cy="1662"/>
          </a:xfrm>
        </p:grpSpPr>
        <p:sp>
          <p:nvSpPr>
            <p:cNvPr id="30" name="Line 69"/>
            <p:cNvSpPr>
              <a:spLocks noChangeShapeType="1"/>
            </p:cNvSpPr>
            <p:nvPr/>
          </p:nvSpPr>
          <p:spPr bwMode="auto">
            <a:xfrm>
              <a:off x="2688" y="1003"/>
              <a:ext cx="1" cy="984"/>
            </a:xfrm>
            <a:prstGeom prst="line">
              <a:avLst/>
            </a:prstGeom>
            <a:noFill/>
            <a:ln w="3816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31" name="Line 70"/>
            <p:cNvSpPr>
              <a:spLocks noChangeShapeType="1"/>
            </p:cNvSpPr>
            <p:nvPr/>
          </p:nvSpPr>
          <p:spPr bwMode="auto">
            <a:xfrm>
              <a:off x="2688" y="1988"/>
              <a:ext cx="1056" cy="1"/>
            </a:xfrm>
            <a:prstGeom prst="line">
              <a:avLst/>
            </a:prstGeom>
            <a:noFill/>
            <a:ln w="3816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32" name="Text Box 72"/>
            <p:cNvSpPr txBox="1">
              <a:spLocks noChangeArrowheads="1"/>
            </p:cNvSpPr>
            <p:nvPr/>
          </p:nvSpPr>
          <p:spPr bwMode="auto">
            <a:xfrm>
              <a:off x="3360" y="816"/>
              <a:ext cx="288" cy="3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ts val="1875"/>
                </a:spcBef>
              </a:pPr>
              <a:r>
                <a:rPr lang="es-MX" sz="3000"/>
                <a:t>B</a:t>
              </a:r>
              <a:endParaRPr lang="es-MX"/>
            </a:p>
          </p:txBody>
        </p:sp>
        <p:sp>
          <p:nvSpPr>
            <p:cNvPr id="33" name="Text Box 73"/>
            <p:cNvSpPr txBox="1">
              <a:spLocks noChangeArrowheads="1"/>
            </p:cNvSpPr>
            <p:nvPr/>
          </p:nvSpPr>
          <p:spPr bwMode="auto">
            <a:xfrm>
              <a:off x="2784" y="863"/>
              <a:ext cx="288" cy="3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ts val="1875"/>
                </a:spcBef>
              </a:pPr>
              <a:r>
                <a:rPr lang="es-MX" sz="3000"/>
                <a:t>A</a:t>
              </a:r>
              <a:endParaRPr lang="es-MX"/>
            </a:p>
          </p:txBody>
        </p:sp>
        <p:sp>
          <p:nvSpPr>
            <p:cNvPr id="34" name="Line 74"/>
            <p:cNvSpPr>
              <a:spLocks noChangeShapeType="1"/>
            </p:cNvSpPr>
            <p:nvPr/>
          </p:nvSpPr>
          <p:spPr bwMode="auto">
            <a:xfrm flipV="1">
              <a:off x="2928" y="1331"/>
              <a:ext cx="1" cy="658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35" name="Line 75"/>
            <p:cNvSpPr>
              <a:spLocks noChangeShapeType="1"/>
            </p:cNvSpPr>
            <p:nvPr/>
          </p:nvSpPr>
          <p:spPr bwMode="auto">
            <a:xfrm>
              <a:off x="2688" y="1285"/>
              <a:ext cx="288" cy="1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36" name="Line 76"/>
            <p:cNvSpPr>
              <a:spLocks noChangeShapeType="1"/>
            </p:cNvSpPr>
            <p:nvPr/>
          </p:nvSpPr>
          <p:spPr bwMode="auto">
            <a:xfrm>
              <a:off x="3504" y="1296"/>
              <a:ext cx="1" cy="692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37" name="Text Box 77"/>
            <p:cNvSpPr txBox="1">
              <a:spLocks noChangeArrowheads="1"/>
            </p:cNvSpPr>
            <p:nvPr/>
          </p:nvSpPr>
          <p:spPr bwMode="auto">
            <a:xfrm>
              <a:off x="2256" y="1097"/>
              <a:ext cx="288" cy="3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ts val="1875"/>
                </a:spcBef>
              </a:pPr>
              <a:r>
                <a:rPr lang="es-MX" sz="3000"/>
                <a:t>P</a:t>
              </a:r>
              <a:endParaRPr lang="es-MX"/>
            </a:p>
          </p:txBody>
        </p:sp>
        <p:sp>
          <p:nvSpPr>
            <p:cNvPr id="38" name="Text Box 78"/>
            <p:cNvSpPr txBox="1">
              <a:spLocks noChangeArrowheads="1"/>
            </p:cNvSpPr>
            <p:nvPr/>
          </p:nvSpPr>
          <p:spPr bwMode="auto">
            <a:xfrm>
              <a:off x="2784" y="2128"/>
              <a:ext cx="1008" cy="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ts val="750"/>
                </a:spcBef>
              </a:pPr>
              <a:r>
                <a:rPr lang="es-MX" sz="3000"/>
                <a:t>V</a:t>
              </a:r>
              <a:r>
                <a:rPr lang="es-MX" sz="3000" baseline="-25000"/>
                <a:t>1</a:t>
              </a:r>
              <a:r>
                <a:rPr lang="es-MX" sz="3000"/>
                <a:t>     V</a:t>
              </a:r>
              <a:r>
                <a:rPr lang="es-MX" sz="3000" baseline="-25000"/>
                <a:t>2</a:t>
              </a:r>
              <a:endParaRPr lang="es-MX"/>
            </a:p>
          </p:txBody>
        </p:sp>
        <p:grpSp>
          <p:nvGrpSpPr>
            <p:cNvPr id="39" name="Group 79"/>
            <p:cNvGrpSpPr>
              <a:grpSpLocks/>
            </p:cNvGrpSpPr>
            <p:nvPr/>
          </p:nvGrpSpPr>
          <p:grpSpPr bwMode="auto">
            <a:xfrm>
              <a:off x="3888" y="1050"/>
              <a:ext cx="1536" cy="797"/>
              <a:chOff x="3888" y="1050"/>
              <a:chExt cx="1536" cy="797"/>
            </a:xfrm>
          </p:grpSpPr>
          <p:sp>
            <p:nvSpPr>
              <p:cNvPr id="41" name="Text Box 80"/>
              <p:cNvSpPr txBox="1">
                <a:spLocks noChangeArrowheads="1"/>
              </p:cNvSpPr>
              <p:nvPr/>
            </p:nvSpPr>
            <p:spPr bwMode="auto">
              <a:xfrm>
                <a:off x="3888" y="1050"/>
                <a:ext cx="1488" cy="3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90000" tIns="46800" rIns="90000" bIns="46800">
                <a:spAutoFit/>
              </a:bodyPr>
              <a:lstStyle/>
              <a:p>
                <a:pPr>
                  <a:spcBef>
                    <a:spcPts val="1875"/>
                  </a:spcBef>
                </a:pPr>
                <a:r>
                  <a:rPr lang="es-MX" sz="3000"/>
                  <a:t> V</a:t>
                </a:r>
                <a:r>
                  <a:rPr lang="es-MX" sz="3000" baseline="-25000"/>
                  <a:t>A             </a:t>
                </a:r>
                <a:r>
                  <a:rPr lang="es-MX" sz="3000"/>
                  <a:t>V</a:t>
                </a:r>
                <a:r>
                  <a:rPr lang="es-MX" sz="3000" baseline="-25000"/>
                  <a:t>B</a:t>
                </a:r>
                <a:endParaRPr lang="es-MX"/>
              </a:p>
            </p:txBody>
          </p:sp>
          <p:sp>
            <p:nvSpPr>
              <p:cNvPr id="42" name="Text Box 81"/>
              <p:cNvSpPr txBox="1">
                <a:spLocks noChangeArrowheads="1"/>
              </p:cNvSpPr>
              <p:nvPr/>
            </p:nvSpPr>
            <p:spPr bwMode="auto">
              <a:xfrm>
                <a:off x="3936" y="1497"/>
                <a:ext cx="1488" cy="3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90000" tIns="46800" rIns="90000" bIns="46800">
                <a:spAutoFit/>
              </a:bodyPr>
              <a:lstStyle/>
              <a:p>
                <a:pPr>
                  <a:spcBef>
                    <a:spcPts val="1875"/>
                  </a:spcBef>
                </a:pPr>
                <a:r>
                  <a:rPr lang="es-MX" sz="3000"/>
                  <a:t> T</a:t>
                </a:r>
                <a:r>
                  <a:rPr lang="es-MX" sz="3000" baseline="-25000"/>
                  <a:t>A            </a:t>
                </a:r>
                <a:r>
                  <a:rPr lang="es-MX" sz="3000"/>
                  <a:t>T</a:t>
                </a:r>
                <a:r>
                  <a:rPr lang="es-MX" sz="3000" baseline="-25000"/>
                  <a:t> B</a:t>
                </a:r>
                <a:endParaRPr lang="es-MX"/>
              </a:p>
            </p:txBody>
          </p:sp>
          <p:sp>
            <p:nvSpPr>
              <p:cNvPr id="43" name="Text Box 82"/>
              <p:cNvSpPr txBox="1">
                <a:spLocks noChangeArrowheads="1"/>
              </p:cNvSpPr>
              <p:nvPr/>
            </p:nvSpPr>
            <p:spPr bwMode="auto">
              <a:xfrm>
                <a:off x="4416" y="1274"/>
                <a:ext cx="380" cy="34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90000" tIns="46800" rIns="90000" bIns="46800">
                <a:spAutoFit/>
              </a:bodyPr>
              <a:lstStyle/>
              <a:p>
                <a:pPr>
                  <a:spcBef>
                    <a:spcPts val="1875"/>
                  </a:spcBef>
                </a:pPr>
                <a:r>
                  <a:rPr lang="es-MX" sz="3000"/>
                  <a:t>=</a:t>
                </a:r>
                <a:endParaRPr lang="es-MX"/>
              </a:p>
            </p:txBody>
          </p:sp>
          <p:sp>
            <p:nvSpPr>
              <p:cNvPr id="44" name="Line 83"/>
              <p:cNvSpPr>
                <a:spLocks noChangeShapeType="1"/>
              </p:cNvSpPr>
              <p:nvPr/>
            </p:nvSpPr>
            <p:spPr bwMode="auto">
              <a:xfrm>
                <a:off x="3936" y="1452"/>
                <a:ext cx="432" cy="1"/>
              </a:xfrm>
              <a:prstGeom prst="line">
                <a:avLst/>
              </a:prstGeom>
              <a:noFill/>
              <a:ln w="38160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45" name="Line 84"/>
              <p:cNvSpPr>
                <a:spLocks noChangeShapeType="1"/>
              </p:cNvSpPr>
              <p:nvPr/>
            </p:nvSpPr>
            <p:spPr bwMode="auto">
              <a:xfrm>
                <a:off x="4777" y="1452"/>
                <a:ext cx="503" cy="1"/>
              </a:xfrm>
              <a:prstGeom prst="line">
                <a:avLst/>
              </a:prstGeom>
              <a:noFill/>
              <a:ln w="38160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s-CO"/>
              </a:p>
            </p:txBody>
          </p:sp>
        </p:grpSp>
        <p:sp>
          <p:nvSpPr>
            <p:cNvPr id="40" name="Line 71"/>
            <p:cNvSpPr>
              <a:spLocks noChangeShapeType="1"/>
            </p:cNvSpPr>
            <p:nvPr/>
          </p:nvSpPr>
          <p:spPr bwMode="auto">
            <a:xfrm>
              <a:off x="2928" y="1285"/>
              <a:ext cx="624" cy="11"/>
            </a:xfrm>
            <a:prstGeom prst="line">
              <a:avLst/>
            </a:prstGeom>
            <a:noFill/>
            <a:ln w="76200">
              <a:solidFill>
                <a:srgbClr val="99FF33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s-CO"/>
            </a:p>
          </p:txBody>
        </p:sp>
      </p:grpSp>
      <p:sp>
        <p:nvSpPr>
          <p:cNvPr id="51" name="AutoShape 4" descr="Resultado de imagen para turbin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52" name="AutoShape 6" descr="Resultado de imagen para turbin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53" name="AutoShape 8" descr="Resultado de imagen para turbin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54" name="AutoShape 10" descr="data:image/jpeg;base64,/9j/4AAQSkZJRgABAQAAAQABAAD/2wCEAAkGBxMTEhMUEhMVFBUUFxcYGBgYFxUZGBoZHhgYGhcfGxobHiggHholHxccITEkJSkrMC4uHB8zODMsNygtLisBCgoKDg0OGhAQGywkHCY0LCwsLC8sLCwsNCwsLCwsLCwsLCwsLCwsLCwsLCwsLCwsNSwvLCwsLCwsLCwsLCwsLP/AABEIAK0BIwMBIgACEQEDEQH/xAAbAAEAAwEBAQEAAAAAAAAAAAAABAUGAwIBB//EAEMQAAEDAgQDBQYEAwUIAwEAAAEAAhEDIQQSMUEFUWETInGBkQYyQqGxwVJy0fAjM2IUQ4Lh8RUkU3OSorLCY3TSB//EABkBAQEAAwEAAAAAAAAAAAAAAAABAgMEBf/EACgRAQEAAgEDAwIHAQAAAAAAAAABAhEDEiExBEFREyIyUmFxgZGhM//aAAwDAQACEQMRAD8A+oiICIiAiIgIiICIiAiL6QRqg+IiICKXheF1qhhlMnvAG+k3kxMCOasX+y2KbBFLOTPdD2gdCXHTwAPkro2o0Wsw3DMMaooupVgYMuLXZJiYzEiT+WV74n7Isa0Op1mtnTORlJmwBkEct/BNJtkEXH+1s7TsxcjN3gWFpgbQTZdlFEREBERAREQEXptMkEgWbqdh58+Q1OykNw7SCQ7ugd5/wjoPxHUdCggYquGNLjoI+Zj7rzhcSHmBHS9yNoGvrCrfabEACm1pDg7M42IIiWtkG4vPoo3BMU6SKRu1pcAY192OehmxmyitEi9VBBPiV5VQREQEREBERAREQEREBERAXcUmiMx1E225KFij3Y52289dV1LJABmJFySDbX18ELZPKQcgOhItrM/ay+Meb5Wg/wCGYXGiWNMw0mIvPXp4fPmrvhvEQYDmMIJhsCCdtdCZ2stefXJuTZhycdurdINLC1jpmA8f0UjCcCfeXS07HY82nadwtE7E02iYnpofOVxp8SL3EUoMC+51tfSNdlzTLnz8TTq1w4++0WhwBu4lSDwfDgw5rJMmLT1t5rjxCpXawksq1AZnswHHwgEGNtNlhsf7cOL8lKlJBh3aOgi4nuDfxPJWcGe95Z/0xvLhZqY/22xo4YEmmYLSRLJBBGtxdd6ftWcPZ7zVbcNDrvBH9Q1t+K/VZzAPmnEz2meYAEVMxfoNJn5qv4w8EF3Msqevdf8ANdctk15cv0sZl1Tt+nssOKf/ANDr1YbTaGNcSJ0I8IMh285lSYSu55rmq5zywUsrnEucJcZ7xkz3RvdVTB32jk8qbgnkVK4G9IHzDx+pUbYk8D9+sPE+n+qsFX8E/m1esj7/AGVgrEyERFWIiKThsG5xbYjN7oALnu/K3UjqYbrdBHY0kgAEk6AXJ8lNoYGxc8gNb7xLstNv56nP+lkuPQrhj+K0MMC3+Y/QsY6Widq1Zuv5GQLXMrOcdxtWo/JWe0lshrG92m0SRDGgDlrHjMq9oaW2N9qabTlwuVzhpVeGgM/5VMnu/mMuPRVmCxuQu97+IH5xm99zjLnwY70/ENL3UHD03OJBJs0kD3eQEzBi/wCEg81bYDAhjgKhdRc6Cx8NyE696BpfbS3nPK+A8PpVWlzGucBEvDpjxuXR1iIm6Yn2YcB2jA2qw5C0h2jhVYSJdGUkBwm243hXlKmXvLQBQx1IZmkWZXb9LgfKdiGyMFjwAa7GQ2cmKoR7p0zhp22+R0MXSbQK2Hptux73EkyCZb8/suasOL4AUyHMvSqXYddpifpOxG8qvUBERAREQEREBERAREQEReqbJMc0LdPbKM6+nX9F6qM9VMbTUd95PP6bfvqt/Fh1V53Ny3y4HDktJFgLE/vdSMF3MOI5mOev6qPgKhitOhykfMH7Ke2hNGmB8Ux5uP6qc2Vt06PT4THHfussJQigCdSJ9b/RSuEYTsmF29QyfD4fufNTMRQBcymNPt/oFG49i8oDWjvGAAPQLQ7EjB44vqZBtcnkFS+1/AXVWZ2htSowgtdHfiYcOZEHTmAYsrvhWE7FkTL3XeeZ5eA/eq+Y/iTR3Rd50j96oj8/pYo+DiYPSo27fUWUbH1g4GNDMfleMzfR7SFo/afB9yo57C2oGlwcNSWiRfR0fLosOKdWsYaCOgEm5DvSZjxTQ80bvBkXLTqOX6qZRaO1q/8AJP8A5tXGvgxQGapVaHN73Z5ml7oMwGjTXddH5hUig6dWue0NjX3czgRMi4EwdVBI4fmbUqP2YS53MCCJI1HpsrDgT6mIa57KcUxo99mn8u7vK3VV+F4i3Dtq1nmXCo+m8d6MwdmpgXAgAmI0k7lccf7Xvrdm1pLWCZB7zokRpAIgn3gDYXMrDLHbbhn0d5O/z5XIdL8pqMIMwdBbW/qu7KAIs9s/mb577fPa5hUOGJGUuq9lUJMkyBsPeE6AxEGLabdKfEnsJaHB1Rxzsc54DTtLSQBeIvCyxkxmpGGdyzvVbutM3DNptzuDiBuKbqjieTKQH/dUgcmyqTi3GKzmPDab6DHatJirUM27Wo+CR/SLdBquOP4jiXspPbVfTLpY4ZzJewgENMgNkEW+UKJVFc5XuqEESJqOc33hBymJ0OtiOlis7WGnAQQAHsZYmJOWefzHXrdesPg21peZc6AJ3gaXd4/vVXXCOHuqsJZRotcGAuqODnFzQ4tIbIsRlBta8wVWU8VUa2swsyvphzmzBzAjuutbLYjyItECK68OpU2OINIOa0kEdJykg7GRr9Fb1KbGAMec+Gre486sdexOxF/n/UD+ct4jiaeJa9jg6wzBxsdZknQ9dL8l+i8PqU6rMv8AdYiw/wDjqjSPP7LKMa5ilUdNAn/eMP36Dxq9o+G/ONDoRf3TPf8A2i0dljmjuP8A4WKZtexJH6/0j4iold7+zFT+/wAG/K6/vMmPEiPkHndTsJSY7EVKM/weIUjUZ/TUiXRyOrvHLqqi+weDGWphCZaRnoOPLVpnoTB6OPNZlzSCQRBFiOR3UvhONcMNTe7+Zgqxo1B/QDl57Alo1+LfSV7T4fLWLhpUAf56O9SJ81iqpREQEREBERAREQEREBS8AySTyURWXDm90nr9grGrmusXWsIafT1soGJqhsZvdkA+CsMToOp+xP2VRxRsiBuuzhn2WvMz3c5E2nSu8Dl91bYWl/Dw52Dmz5PUHhQGdk/GzL5wD9QrZgDQaLrF0lnU7jx3XO9TFaYW9d07NJHqB91HNEGsajvgs3xO/kPquvD3l4J0rMEPHOdCOhj1BVNU4kezrTZ1N1/Ajun5H0Wqt3skcQ4g4uFKiM1R2gG3MnkOqs+DcCbT7zznqHVx0HRo2HXU/JReB4cUaQe7+ZUAc8nUA3DfAfWeig8T4/fKHa2AGp9FP2E3jLGjNTfD2nUa/wChWH4h7PdpA7eqWXloIaOksYGtPpstIMJiHDM6mabT+Ox/6dfUKPiqBZBmWkxmGx6jY8ucJCsNxHg5wlFzqbGOY735BdlEkTqI8QLSZhaLG0yGnugFl4Glth0VsJvP+LcdD4beEFRMVSh0jeZ8d0sJWY9oKLGsuwtz1XHNL3SS0RDQ2IcGTrHeVNheH5KjCzOQ6SZHuQNpIcTOkDkVr8bh2PNJhpsuASYILjL6YzQRmAa0e9P0RuEaxuXLNOQYicpI+uV3zhNG2dbgWF1TvFxIeGOhoYSNJuSNbEi8LjJewNHaONId0iTI/DOWMoOhnUla4UGzoDyPP9D1CkUcMCdLfQn7HcfsXpTbJkva2HBlJgyuhx77zmDX5R7pcA1zi0SYIiSuLX0ZFUuqOOQZWmWDNlvfcEiwvrFlucRwllVmVwHiQHQdJ8RpOseCtuDeyOGLO0LG5ySHWl2YG8k3Pir0ptkvZ6s6IJkWiHSBYb+R3sZI0gzONcLLqXcJDgZYZiHwbGPxCR0cOi0fEOCNa4OYAAbO8OflEqM6lIe0m5ZmF9wYPnIafMq9h+UN4NUcC2mABMWa0E3PIxpFp3C03srgHszUDIztLmdHsvbrbRXb+J0acSACdb84Fzt3iFUN9pGHFUnNAgVWm3Iw0+pJUGgcwOr0XkHJi6Rp1B/UBvblLdOflU0y9mFpuN6mAxYHxXaXwQLfE4gRuArLiNYCkDP8nFAieU5ieW/+iiYkjPxJkCHsbUiLS1od4ayoLarhAMbjaQ93FUBUbrGZum0a5jryTHVBVwWFqTJb3CbHYjYn/h891wZiv4vDas97szTOl4pkH5umy90z/ulVl/4dQgTOzmxr0d0RVUiIiCIiAiIgIiICIiArXAjuDxP1VUrXBHuDz+qyx8tHqPwmKd7vn9FWVa8PAOjreB2/RT8Y73fH7H9FS8QvELs4/wDm87v9WVeYYBzI0LTbnzBXV/EmGKWMBaHWZW0aDtP4TMd7TwXOAabXssSNtjuPVZTj3tRVYHUKtNlWW92e65p2JixHS3iua+dvSxrbn2hZhXsOKqBtSk4Mc7/i0XWzADVwgEgbtH4lS4rjeHr1anYVJFVtQZdHd05mkt27s6r8zr4eu/vvJMAASZho0A5AclywjqjCS1zmm4OVxBM63Gyxs34bJlp+01cY/FGlTpHKXsa5zvwNyguMecRzIVthaNDCD+GJedXuu8+ew6CAvz72U4xlJc1r2sp0W08zzmzGW/EAJPck+KtW1cTiO/TaAw6Oe7KD4WJI6wtVns2ytHiuNl2qq6mK13BsRsQuWF4U7+9qt8GyfmY+imuwtIQDpuTJ+46qzSXbnSAc23eyiRzy7gwNRYza3oqvi9V1MEtgzYTABOrLkgAkWkk6WBJVycK2mZGkg3i7SNQD4mDB0XGrRbMPmAY5Hm03vaSNDYlVGH4lxp5awspuFRrBYwWyXuzCRckEkaC4Vth8ZnpseQQKgNiJIM94Abum88ssK4xXGMHTZEMJIIMGZPoL67BZXBccD8zWtblFW0gm5aJ0IOwtPkg0OEoE5LENqAwYcIPmOk+EBTcPYAkRaDpqDymxiR4DqqTDcTJaLt7rjlNpAyiwLu8BtEjlfRfTjWzr8UCLDQ/qmzTUms0bzqN9QfDlGnJTOFcYDS8SAO6Z8o+3zWMHFQOWxnxdA+iz2M4hUe+GVGw7KMlpy5c0yJkwG2tbMpsb7j3tA1zXU2Ol52Gov00UAY2QCT8TvTuFZ+pToBhb/Z3ZzoS4hsxEkSAR0i/nK9UWue3JT7z2WgToZ8hAt5DSbhW8ToueXEOENPmG9JFjccrQbzCo8KGDFUmBvfL2mziZ5kzO08tFqGYXsnPNZwlwEtJZYaFpDSTEGLleqPCKFN7KjDdpOUnaYIvrz1nXxQW3FHTSrdagb5wBpovmKdNbF/8A13g6/hBGvQqM+uHdkwb1M7vIfWPoF4q4kZcVU/ERTbG+xj/DBVFhhXSeHC9y92/Jp+k6/qrfhLWOo187srTVeZ8Cw262Pz11VRTIZWpDbCYcuP5i3LG2tjt8rSsO3LhKYJ94yfE3Hn3vkoqNUiTlmNp1jr1Xld6zGNbTg5nPGaNMrOfOTsuCSpYIiKoIiICIiAiIgKzwTu55n9fuqxTsAe64eB+v6K4+Wnnn2OPEKmnQ/wCX3VW+tBkiQrDHjX19Lqvqs1Xbxd8bHnZXWUpjMc6jTe9riGgFx0INtptJWGp4wvqF1Qy5xknnyHkNlrcVgnYii7DB7aZqQGPcSAHZgWtJ5OIy+e+iwdHDvpveyoIcxzmm9g5riDcdQVzcl1dPS4pubX1fEF1vkmH4ZUfo0rvw7EURGYhavC+0+FpNgZZWP1Phn9NT4PgtVog1DSYbm9ifDSYm/gtCOJ1H92k0OA5OZAHroqTiftjSqd3KXDk0kHyIULhftTQacrKRcXHVwYT6yfstdu+7OTTXYRlaoR3qYn+omPQK5xPAsQwTmpvGUOs4gxf8QA258lm+HcVZ2ga2kGvdoGtbOkn3dFoXcULgWyQcsRf5gornhq5bNGq1zHOb3Zm4uYESDqYjc9VFxdSR+ZrOm46DmveKaCBIbF/dEcvQ6X/RQcQ+zeeVp25tPTkiMvwbDVHua+q7uEimBAInMRm7xdMGPQ2XbiOBLh2jAM7CQ9oHvcnRubX/AMlY8XexlMUphwETrHM2AVFxStVD6jKdQ1Gnsw0huUPIaYs74vevAMtEaBXweXVsgNLiQZLHDUkmTqN+ZPjyXLE4ltOm0ukycoJMghrjBIAjWLAyZjaV84bUo1I7V1SGS45IaItOaxNhPLddKeEL89IU+7TqOGUHQQ03M5vLobSFFcW12SwvaHNc4h7HEkNpmSTe06Ni2ql8RFWllAcMknK7u3A7wJy3jW0WsvL8EwUy0kEMc0ZZa2xGUm4IMRfwJFzCl8HfUa5rS60QyZtM92Y93aD1veFBT4rGw4gy3KQRlHeuZnOG6i/O3Iq64RhS1jmS0udBcO0yv2MguBB1mLKyxuM7MF76VENbEuNKmYG5s0lZvH4ik+qQQ99Rzsw2p3Etc4Ag2bAjYeJRXdvCzAtUeQTLC1rTBIklpJLpEjuk6aLlUrOe+HAgMIETckXIg7g92SYG6kcP9mWnLinve2XQxlv4gaIcSdm2AtqZiIU9/DaZ2j99dfNPJvStbSaZAFsoMMzHMdvX4dzlzGzlIw2EcXQ0yAZ2ylwnM4chn0PIPOy7u4cTPfHoR4yROulgOsqdSowP5hBtdoiIjSRrYeGwCmqu4nngbKNI1cS/vPguEnM4xZsTc9NlT0w97SHd1uYuDdbmxtsAAB1ud11ZRg5nOc934nmT5bDyXVWY/LG5fDxTZE3JJ1JuT4r2iLJiIiICIiAiIgIiIClcPd3o5iPv9lFXuk/KQeSRjnN42J2Joyqp9OPKyvyJUHE0bnqJ8xY/ZdnBfu08nl/Dtn8Uym9jmPsCCDNpB5FY1zxSmmQC24a6IBGxW44nh1QcVwzWsLnAHYDm46emvksefjdnpea2d2extFpu1Vb2wrV2CPZvqZoDSBcak7DyXJ/CKuvd/lCtqZDTl1tr3guWT5dnVvxHPhbj2jSHikQZD3TDSASJgG0wNN1t8BicRSd/vGR++em4T5gtDSPRZ/BcM7Ke1LS0ODajSxrgGuEsc1xuIidBpCv8NLCKDxZtmOGwGx/p5cvoI2HAcW2o7Mas7NkRffw8k4xLDDrg+67xN46gKPgKTcgay1odB96d/HkVX4bijg5+FxV8tw7T8rgfhN9dNQd1FT2Yn4HGMwF5FnatJ6deRK5NxAY4l3vAEMETcWuN9Y2idtVBxgLXNzmBBEgWPVpGkzMbGYOhMOtUpmMxqPgRqKYPjGZx/wCoJtdPld2asXywNhvaNzS6SYHZt5k6Alu/gpHHHCmzQEOAbrGUgy10jkZH+IrxhcTSpCWUaTTNiQXuJ096oXGVL4fgKVQZnsa46EXgHUy2YnfrM7rLG77McppmsTh6j4yMc5rhYNlzRAObSwgj0hS6AxQbmMMaIHetUaOcn4TvJ8gtjQw9MuaKgOSRIaALDQADZZvF8Rbi8Q0BgZSbOVm4guAzEXzHuyJ6KWeyy+6qa11RjmUW5yQy41Fy46C2nz8lY1MBWyw6bNHxCZ21M7yrajSawQxoaOQAA+S9rHS9Spw2DqZ3CpLmVWlryXTEix1mxMeqlO4VSzF0HMdb2/X5qYiuk6q91KhdE7ANA2AGgA2C8IiqCIiAiIgIiICIiAiIgIiICIiAiIgtcDUlscvpsvuIbaeV/wBfkoGDrZXX0NlaFbcMtd3n8+GsrPaqrG0QRz3WS40C86QG6D6nxW2qsiR5jw/y/RUfFMHuu7KTPHqjk4srhl0VkcbSJZSpDcl5/M45W+gaFYYmDiMXHu06HZjwz0x/6qLjO7WJ2aW/KF0w4nE4wfjbUaOpBD/o0+q8/LHVevhlKkUWZnU2H++w1MDq9rGkf+LvVSuHYnP/AAn2qMEA/iaP/YfMX5qrpPL8M1zTD8M+J3AnMw+sj/CrKowVQzEMEH4gPhcNf1HQhYti64S2oyYaXAAugamLmOqmcbw7MVhW4mh3nsbmkfFSNzY3lvveGZfeCcQGZsQH6x4RPlf5qiqcWfgsfVJMUBTD2s+EtLnEiOhzNjkAsVQ8FxQ1GOou+IA0idnwXNb4Ou3xcvnCKTapAc9wzaRH4Q4ag9fRRuOUGU67ux/l/wAOpTj8BJiPC7fFqjYfFFpzbgz5teT9CU0ba5/BmsEgl1tXHb6LzhqhYZFy0abvZ/8Apv71UjAY9tRkE6GPJ3un1so1ek8nuAlwJIgEw8agx8Lh9+ayxSrpjw5oc0yCJBVVU4YG1jVaBDpJ6O09DJPipnCMDiM3dov7OoC4tMTTfvbWD03vuVb0eFPe7IcjZmzniY3sJNlnlqxjFEi742iGPcwHMWmCR7s7gb2t6rgtbIREQEREBERAREQEREBERAREQEREBERAREQFZ4StmbG4+myrF7pVC0yFZdNXLx9eP6rGsJ8RoodZuYfvVSg8ESFwrDcef75rs4eTXa+HlcmFveeYyPEuHkEnWd1Wh+Svm/qBPgQM3ylbHFsDgstjsKczjG/0ssuXi23cHL27o3DTkrVWH3HEsPndp8jHkSu3DMf2DnNd7pdB6HY+W/QlQcQDmM7wflH2Xfh/DnYquGSRmguIEmBY+ZtHUhcdxsehOSXys+LYk08r2GC11j5GfJevaar/AG2hQfSY5z3ZmPa0FxBsdtrTfYrQYz2aoUKLQQ/EfxMozugWa6LNibjLBKmYZtYDJh8OKbRMBrIHmXQ2fGIWn6uHy3TDKqHh/shXq029uRSDWltu87JOYT8IgufudRZWjPZnA0iDUcXmZvUJju8qcWgK1ZwSq8TWrZZMlo7x0AvByzbXb6SqXCMOy5DnnXvO3392Foz9Zxzx3bsfS53yquFdixxZTpNcb9/IGwwe6HakkSG6idYFwp7OLFhc4Q4saYaYgmLTyAhfOKcSpMp5KYa2TctEAHkIu5yzTQSc2cOzgjKwyG7y4nbKNtyY1W/HO3HdndzdO8+17T/W9f7SNDGnUkDaBJA5rO/7ec42zCO80Fvdklw96DMXm+hEahUn9vLu72YvlAnZ0Hqfly6qZTYGtDRtcnmTEn0AA6AKzu2W6ffn+5PzREWTAREQEREBERAREQEREBERAREQEREBERAREQEREHSlVI8OX73XZzpuFFX1roWWOWmnl4Zn3nl4rqvrAFWboPTwXB2DB1J/7f16rpw55I4r6fPfhnMVw0veMvIADeZJ+62HstwXsRcAudcnkQRl8hfXU9AuNCkxu21419dvJSnY8xDRlH18Vyep5s8508c/l3+m4JL1ct/hoDjGsEAwodfi45yqJ1QnUryvOx9D+avSy9Z+WJOJ4+c+QNJcRPIageMSRcAxfkqriXEaxgAZpMQ2YBgHUjvWM6RZdcXhG1BDh4EWI8CvNLAtGrnuMzcgA2AJMRJOUfPmunD02GF3I58+fLOaqEwVSD3b9HGY3EkQL8vJc6OFr3AAY0m8ukkXtIkxdXIEL6t+o1bR8Nhct3HM6ImI9ApCIqgiIgIiICIiAiIgIiICIiAiIgIiICIiAiIgIiICIiAiIgIiICIiAiIgIiICIiAiIgIiICIiAiIgIiICIiAiIgIiICIiD/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56" name="AutoShape 2" descr="Resultado de imagen para sistema termodinamic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2"/>
          <p:cNvSpPr>
            <a:spLocks noChangeArrowheads="1"/>
          </p:cNvSpPr>
          <p:nvPr/>
        </p:nvSpPr>
        <p:spPr bwMode="auto">
          <a:xfrm>
            <a:off x="533400" y="1981200"/>
            <a:ext cx="8153400" cy="2895600"/>
          </a:xfrm>
          <a:prstGeom prst="roundRect">
            <a:avLst>
              <a:gd name="adj" fmla="val 51"/>
            </a:avLst>
          </a:prstGeom>
          <a:solidFill>
            <a:srgbClr val="800000"/>
          </a:solidFill>
          <a:ln w="38160">
            <a:solidFill>
              <a:srgbClr val="CC9900"/>
            </a:solidFill>
            <a:round/>
            <a:headEnd/>
            <a:tailEnd/>
          </a:ln>
          <a:effectLst>
            <a:outerShdw dist="107933" dir="2700000" algn="ctr" rotWithShape="0">
              <a:srgbClr val="4D4D4D"/>
            </a:outerShdw>
          </a:effectLst>
        </p:spPr>
        <p:txBody>
          <a:bodyPr wrap="none" anchor="ctr"/>
          <a:lstStyle/>
          <a:p>
            <a:endParaRPr lang="es-CO"/>
          </a:p>
        </p:txBody>
      </p:sp>
      <p:sp>
        <p:nvSpPr>
          <p:cNvPr id="4" name="Rectangle 1"/>
          <p:cNvSpPr txBox="1">
            <a:spLocks noChangeArrowheads="1"/>
          </p:cNvSpPr>
          <p:nvPr/>
        </p:nvSpPr>
        <p:spPr>
          <a:xfrm>
            <a:off x="685800" y="914400"/>
            <a:ext cx="8382000" cy="1066800"/>
          </a:xfrm>
          <a:prstGeom prst="rect">
            <a:avLst/>
          </a:prstGeom>
          <a:ln/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s-MX" sz="36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TRABAJO ISOBÁRICO</a:t>
            </a:r>
          </a:p>
        </p:txBody>
      </p:sp>
      <p:grpSp>
        <p:nvGrpSpPr>
          <p:cNvPr id="5" name="Group 2"/>
          <p:cNvGrpSpPr>
            <a:grpSpLocks/>
          </p:cNvGrpSpPr>
          <p:nvPr/>
        </p:nvGrpSpPr>
        <p:grpSpPr bwMode="auto">
          <a:xfrm>
            <a:off x="1066800" y="2192338"/>
            <a:ext cx="1981201" cy="2608263"/>
            <a:chOff x="672" y="949"/>
            <a:chExt cx="1248" cy="1643"/>
          </a:xfrm>
        </p:grpSpPr>
        <p:sp>
          <p:nvSpPr>
            <p:cNvPr id="6" name="AutoShape 3"/>
            <p:cNvSpPr>
              <a:spLocks noChangeArrowheads="1"/>
            </p:cNvSpPr>
            <p:nvPr/>
          </p:nvSpPr>
          <p:spPr bwMode="auto">
            <a:xfrm>
              <a:off x="672" y="1008"/>
              <a:ext cx="96" cy="1008"/>
            </a:xfrm>
            <a:prstGeom prst="roundRect">
              <a:avLst>
                <a:gd name="adj" fmla="val 1042"/>
              </a:avLst>
            </a:prstGeom>
            <a:solidFill>
              <a:srgbClr val="006666"/>
            </a:solidFill>
            <a:ln w="9360">
              <a:solidFill>
                <a:srgbClr val="FFFF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CO"/>
            </a:p>
          </p:txBody>
        </p:sp>
        <p:sp>
          <p:nvSpPr>
            <p:cNvPr id="7" name="AutoShape 4"/>
            <p:cNvSpPr>
              <a:spLocks noChangeArrowheads="1"/>
            </p:cNvSpPr>
            <p:nvPr/>
          </p:nvSpPr>
          <p:spPr bwMode="auto">
            <a:xfrm>
              <a:off x="1056" y="1008"/>
              <a:ext cx="96" cy="1008"/>
            </a:xfrm>
            <a:prstGeom prst="roundRect">
              <a:avLst>
                <a:gd name="adj" fmla="val 1042"/>
              </a:avLst>
            </a:prstGeom>
            <a:solidFill>
              <a:srgbClr val="006666"/>
            </a:solidFill>
            <a:ln w="9360">
              <a:solidFill>
                <a:srgbClr val="FFFF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CO"/>
            </a:p>
          </p:txBody>
        </p:sp>
        <p:sp>
          <p:nvSpPr>
            <p:cNvPr id="8" name="AutoShape 5"/>
            <p:cNvSpPr>
              <a:spLocks noChangeArrowheads="1"/>
            </p:cNvSpPr>
            <p:nvPr/>
          </p:nvSpPr>
          <p:spPr bwMode="auto">
            <a:xfrm>
              <a:off x="768" y="1920"/>
              <a:ext cx="288" cy="96"/>
            </a:xfrm>
            <a:prstGeom prst="roundRect">
              <a:avLst>
                <a:gd name="adj" fmla="val 1042"/>
              </a:avLst>
            </a:prstGeom>
            <a:solidFill>
              <a:srgbClr val="FFFFFF"/>
            </a:solidFill>
            <a:ln w="9360">
              <a:solidFill>
                <a:srgbClr val="FFFF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CO"/>
            </a:p>
          </p:txBody>
        </p:sp>
        <p:sp>
          <p:nvSpPr>
            <p:cNvPr id="9" name="AutoShape 6"/>
            <p:cNvSpPr>
              <a:spLocks noChangeArrowheads="1"/>
            </p:cNvSpPr>
            <p:nvPr/>
          </p:nvSpPr>
          <p:spPr bwMode="auto">
            <a:xfrm>
              <a:off x="768" y="1632"/>
              <a:ext cx="288" cy="288"/>
            </a:xfrm>
            <a:prstGeom prst="roundRect">
              <a:avLst>
                <a:gd name="adj" fmla="val 347"/>
              </a:avLst>
            </a:prstGeom>
            <a:solidFill>
              <a:srgbClr val="CC9900"/>
            </a:solidFill>
            <a:ln w="9360">
              <a:solidFill>
                <a:srgbClr val="FFFF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CO"/>
            </a:p>
          </p:txBody>
        </p:sp>
        <p:sp>
          <p:nvSpPr>
            <p:cNvPr id="10" name="AutoShape 7"/>
            <p:cNvSpPr>
              <a:spLocks noChangeArrowheads="1"/>
            </p:cNvSpPr>
            <p:nvPr/>
          </p:nvSpPr>
          <p:spPr bwMode="auto">
            <a:xfrm>
              <a:off x="768" y="1440"/>
              <a:ext cx="288" cy="192"/>
            </a:xfrm>
            <a:prstGeom prst="roundRect">
              <a:avLst>
                <a:gd name="adj" fmla="val 519"/>
              </a:avLst>
            </a:prstGeom>
            <a:solidFill>
              <a:srgbClr val="006666"/>
            </a:solidFill>
            <a:ln w="9360">
              <a:solidFill>
                <a:srgbClr val="FFFF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CO"/>
            </a:p>
          </p:txBody>
        </p:sp>
        <p:grpSp>
          <p:nvGrpSpPr>
            <p:cNvPr id="11" name="Group 8"/>
            <p:cNvGrpSpPr>
              <a:grpSpLocks/>
            </p:cNvGrpSpPr>
            <p:nvPr/>
          </p:nvGrpSpPr>
          <p:grpSpPr bwMode="auto">
            <a:xfrm>
              <a:off x="1440" y="949"/>
              <a:ext cx="480" cy="1067"/>
              <a:chOff x="1440" y="949"/>
              <a:chExt cx="480" cy="1067"/>
            </a:xfrm>
          </p:grpSpPr>
          <p:sp>
            <p:nvSpPr>
              <p:cNvPr id="19" name="AutoShape 9"/>
              <p:cNvSpPr>
                <a:spLocks noChangeArrowheads="1"/>
              </p:cNvSpPr>
              <p:nvPr/>
            </p:nvSpPr>
            <p:spPr bwMode="auto">
              <a:xfrm>
                <a:off x="1440" y="949"/>
                <a:ext cx="96" cy="1067"/>
              </a:xfrm>
              <a:prstGeom prst="roundRect">
                <a:avLst>
                  <a:gd name="adj" fmla="val 1042"/>
                </a:avLst>
              </a:prstGeom>
              <a:solidFill>
                <a:srgbClr val="006666"/>
              </a:solidFill>
              <a:ln w="9360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s-CO"/>
              </a:p>
            </p:txBody>
          </p:sp>
          <p:sp>
            <p:nvSpPr>
              <p:cNvPr id="20" name="AutoShape 10"/>
              <p:cNvSpPr>
                <a:spLocks noChangeArrowheads="1"/>
              </p:cNvSpPr>
              <p:nvPr/>
            </p:nvSpPr>
            <p:spPr bwMode="auto">
              <a:xfrm>
                <a:off x="1824" y="949"/>
                <a:ext cx="96" cy="1067"/>
              </a:xfrm>
              <a:prstGeom prst="roundRect">
                <a:avLst>
                  <a:gd name="adj" fmla="val 1042"/>
                </a:avLst>
              </a:prstGeom>
              <a:solidFill>
                <a:srgbClr val="006666"/>
              </a:solidFill>
              <a:ln w="9360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s-CO"/>
              </a:p>
            </p:txBody>
          </p:sp>
          <p:sp>
            <p:nvSpPr>
              <p:cNvPr id="21" name="AutoShape 11"/>
              <p:cNvSpPr>
                <a:spLocks noChangeArrowheads="1"/>
              </p:cNvSpPr>
              <p:nvPr/>
            </p:nvSpPr>
            <p:spPr bwMode="auto">
              <a:xfrm>
                <a:off x="1536" y="1914"/>
                <a:ext cx="288" cy="102"/>
              </a:xfrm>
              <a:prstGeom prst="roundRect">
                <a:avLst>
                  <a:gd name="adj" fmla="val 977"/>
                </a:avLst>
              </a:prstGeom>
              <a:solidFill>
                <a:srgbClr val="FFFFFF"/>
              </a:solidFill>
              <a:ln w="9360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s-CO"/>
              </a:p>
            </p:txBody>
          </p:sp>
          <p:sp>
            <p:nvSpPr>
              <p:cNvPr id="22" name="AutoShape 12"/>
              <p:cNvSpPr>
                <a:spLocks noChangeArrowheads="1"/>
              </p:cNvSpPr>
              <p:nvPr/>
            </p:nvSpPr>
            <p:spPr bwMode="auto">
              <a:xfrm>
                <a:off x="1536" y="1392"/>
                <a:ext cx="288" cy="528"/>
              </a:xfrm>
              <a:prstGeom prst="roundRect">
                <a:avLst>
                  <a:gd name="adj" fmla="val 347"/>
                </a:avLst>
              </a:prstGeom>
              <a:solidFill>
                <a:srgbClr val="CC9900"/>
              </a:solidFill>
              <a:ln w="9360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s-CO"/>
              </a:p>
            </p:txBody>
          </p:sp>
          <p:sp>
            <p:nvSpPr>
              <p:cNvPr id="23" name="AutoShape 13"/>
              <p:cNvSpPr>
                <a:spLocks noChangeArrowheads="1"/>
              </p:cNvSpPr>
              <p:nvPr/>
            </p:nvSpPr>
            <p:spPr bwMode="auto">
              <a:xfrm>
                <a:off x="1536" y="1200"/>
                <a:ext cx="288" cy="198"/>
              </a:xfrm>
              <a:prstGeom prst="roundRect">
                <a:avLst>
                  <a:gd name="adj" fmla="val 505"/>
                </a:avLst>
              </a:prstGeom>
              <a:solidFill>
                <a:srgbClr val="006666"/>
              </a:solidFill>
              <a:ln w="9360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s-CO"/>
              </a:p>
            </p:txBody>
          </p:sp>
        </p:grpSp>
        <p:grpSp>
          <p:nvGrpSpPr>
            <p:cNvPr id="12" name="Group 14"/>
            <p:cNvGrpSpPr>
              <a:grpSpLocks/>
            </p:cNvGrpSpPr>
            <p:nvPr/>
          </p:nvGrpSpPr>
          <p:grpSpPr bwMode="auto">
            <a:xfrm>
              <a:off x="768" y="2064"/>
              <a:ext cx="200" cy="528"/>
              <a:chOff x="768" y="2064"/>
              <a:chExt cx="200" cy="528"/>
            </a:xfrm>
          </p:grpSpPr>
          <p:sp>
            <p:nvSpPr>
              <p:cNvPr id="17" name="AutoShape 15"/>
              <p:cNvSpPr>
                <a:spLocks noChangeArrowheads="1"/>
              </p:cNvSpPr>
              <p:nvPr/>
            </p:nvSpPr>
            <p:spPr bwMode="auto">
              <a:xfrm>
                <a:off x="768" y="2256"/>
                <a:ext cx="192" cy="336"/>
              </a:xfrm>
              <a:prstGeom prst="roundRect">
                <a:avLst>
                  <a:gd name="adj" fmla="val 519"/>
                </a:avLst>
              </a:prstGeom>
              <a:solidFill>
                <a:srgbClr val="FF6600"/>
              </a:solidFill>
              <a:ln w="936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s-CO"/>
              </a:p>
            </p:txBody>
          </p:sp>
          <p:sp>
            <p:nvSpPr>
              <p:cNvPr id="18" name="Freeform 16"/>
              <p:cNvSpPr>
                <a:spLocks noChangeArrowheads="1"/>
              </p:cNvSpPr>
              <p:nvPr/>
            </p:nvSpPr>
            <p:spPr bwMode="auto">
              <a:xfrm>
                <a:off x="816" y="2064"/>
                <a:ext cx="152" cy="190"/>
              </a:xfrm>
              <a:custGeom>
                <a:avLst/>
                <a:gdLst/>
                <a:ahLst/>
                <a:cxnLst>
                  <a:cxn ang="0">
                    <a:pos x="277" y="839"/>
                  </a:cxn>
                  <a:cxn ang="0">
                    <a:pos x="110" y="781"/>
                  </a:cxn>
                  <a:cxn ang="0">
                    <a:pos x="0" y="393"/>
                  </a:cxn>
                  <a:cxn ang="0">
                    <a:pos x="110" y="225"/>
                  </a:cxn>
                  <a:cxn ang="0">
                    <a:pos x="335" y="0"/>
                  </a:cxn>
                  <a:cxn ang="0">
                    <a:pos x="613" y="393"/>
                  </a:cxn>
                  <a:cxn ang="0">
                    <a:pos x="671" y="560"/>
                  </a:cxn>
                  <a:cxn ang="0">
                    <a:pos x="277" y="839"/>
                  </a:cxn>
                  <a:cxn ang="0">
                    <a:pos x="277" y="839"/>
                  </a:cxn>
                </a:cxnLst>
                <a:rect l="0" t="0" r="r" b="b"/>
                <a:pathLst>
                  <a:path w="672" h="840">
                    <a:moveTo>
                      <a:pt x="277" y="839"/>
                    </a:moveTo>
                    <a:cubicBezTo>
                      <a:pt x="221" y="821"/>
                      <a:pt x="145" y="825"/>
                      <a:pt x="110" y="781"/>
                    </a:cubicBezTo>
                    <a:cubicBezTo>
                      <a:pt x="26" y="675"/>
                      <a:pt x="44" y="521"/>
                      <a:pt x="0" y="393"/>
                    </a:cubicBezTo>
                    <a:cubicBezTo>
                      <a:pt x="35" y="335"/>
                      <a:pt x="66" y="278"/>
                      <a:pt x="110" y="225"/>
                    </a:cubicBezTo>
                    <a:cubicBezTo>
                      <a:pt x="181" y="145"/>
                      <a:pt x="335" y="0"/>
                      <a:pt x="335" y="0"/>
                    </a:cubicBezTo>
                    <a:cubicBezTo>
                      <a:pt x="613" y="97"/>
                      <a:pt x="480" y="0"/>
                      <a:pt x="613" y="393"/>
                    </a:cubicBezTo>
                    <a:cubicBezTo>
                      <a:pt x="631" y="450"/>
                      <a:pt x="671" y="560"/>
                      <a:pt x="671" y="560"/>
                    </a:cubicBezTo>
                    <a:cubicBezTo>
                      <a:pt x="538" y="688"/>
                      <a:pt x="405" y="710"/>
                      <a:pt x="277" y="839"/>
                    </a:cubicBezTo>
                    <a:lnTo>
                      <a:pt x="277" y="839"/>
                    </a:lnTo>
                  </a:path>
                </a:pathLst>
              </a:custGeom>
              <a:solidFill>
                <a:srgbClr val="FFFF00"/>
              </a:solidFill>
              <a:ln w="936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s-CO"/>
              </a:p>
            </p:txBody>
          </p:sp>
        </p:grpSp>
        <p:sp>
          <p:nvSpPr>
            <p:cNvPr id="13" name="Text Box 17"/>
            <p:cNvSpPr txBox="1">
              <a:spLocks noChangeArrowheads="1"/>
            </p:cNvSpPr>
            <p:nvPr/>
          </p:nvSpPr>
          <p:spPr bwMode="auto">
            <a:xfrm>
              <a:off x="960" y="2256"/>
              <a:ext cx="672" cy="2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ts val="1500"/>
                </a:spcBef>
                <a:buClr>
                  <a:srgbClr val="FFFFFF"/>
                </a:buClr>
                <a:buSzPct val="100000"/>
                <a:buFont typeface="Tahoma" pitchFamily="34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 sz="24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400 J</a:t>
              </a:r>
            </a:p>
          </p:txBody>
        </p:sp>
        <p:grpSp>
          <p:nvGrpSpPr>
            <p:cNvPr id="14" name="Group 18"/>
            <p:cNvGrpSpPr>
              <a:grpSpLocks/>
            </p:cNvGrpSpPr>
            <p:nvPr/>
          </p:nvGrpSpPr>
          <p:grpSpPr bwMode="auto">
            <a:xfrm>
              <a:off x="1584" y="2064"/>
              <a:ext cx="200" cy="528"/>
              <a:chOff x="1584" y="2064"/>
              <a:chExt cx="200" cy="528"/>
            </a:xfrm>
          </p:grpSpPr>
          <p:sp>
            <p:nvSpPr>
              <p:cNvPr id="15" name="AutoShape 19"/>
              <p:cNvSpPr>
                <a:spLocks noChangeArrowheads="1"/>
              </p:cNvSpPr>
              <p:nvPr/>
            </p:nvSpPr>
            <p:spPr bwMode="auto">
              <a:xfrm>
                <a:off x="1584" y="2256"/>
                <a:ext cx="192" cy="336"/>
              </a:xfrm>
              <a:prstGeom prst="roundRect">
                <a:avLst>
                  <a:gd name="adj" fmla="val 519"/>
                </a:avLst>
              </a:prstGeom>
              <a:solidFill>
                <a:srgbClr val="FF6600"/>
              </a:solidFill>
              <a:ln w="936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s-CO"/>
              </a:p>
            </p:txBody>
          </p:sp>
          <p:sp>
            <p:nvSpPr>
              <p:cNvPr id="16" name="Freeform 20"/>
              <p:cNvSpPr>
                <a:spLocks noChangeArrowheads="1"/>
              </p:cNvSpPr>
              <p:nvPr/>
            </p:nvSpPr>
            <p:spPr bwMode="auto">
              <a:xfrm>
                <a:off x="1632" y="2064"/>
                <a:ext cx="152" cy="190"/>
              </a:xfrm>
              <a:custGeom>
                <a:avLst/>
                <a:gdLst/>
                <a:ahLst/>
                <a:cxnLst>
                  <a:cxn ang="0">
                    <a:pos x="277" y="839"/>
                  </a:cxn>
                  <a:cxn ang="0">
                    <a:pos x="110" y="781"/>
                  </a:cxn>
                  <a:cxn ang="0">
                    <a:pos x="0" y="393"/>
                  </a:cxn>
                  <a:cxn ang="0">
                    <a:pos x="110" y="225"/>
                  </a:cxn>
                  <a:cxn ang="0">
                    <a:pos x="335" y="0"/>
                  </a:cxn>
                  <a:cxn ang="0">
                    <a:pos x="613" y="393"/>
                  </a:cxn>
                  <a:cxn ang="0">
                    <a:pos x="671" y="560"/>
                  </a:cxn>
                  <a:cxn ang="0">
                    <a:pos x="277" y="839"/>
                  </a:cxn>
                  <a:cxn ang="0">
                    <a:pos x="277" y="839"/>
                  </a:cxn>
                </a:cxnLst>
                <a:rect l="0" t="0" r="r" b="b"/>
                <a:pathLst>
                  <a:path w="672" h="840">
                    <a:moveTo>
                      <a:pt x="277" y="839"/>
                    </a:moveTo>
                    <a:cubicBezTo>
                      <a:pt x="221" y="821"/>
                      <a:pt x="145" y="825"/>
                      <a:pt x="110" y="781"/>
                    </a:cubicBezTo>
                    <a:cubicBezTo>
                      <a:pt x="26" y="675"/>
                      <a:pt x="44" y="521"/>
                      <a:pt x="0" y="393"/>
                    </a:cubicBezTo>
                    <a:cubicBezTo>
                      <a:pt x="35" y="335"/>
                      <a:pt x="66" y="278"/>
                      <a:pt x="110" y="225"/>
                    </a:cubicBezTo>
                    <a:cubicBezTo>
                      <a:pt x="181" y="145"/>
                      <a:pt x="335" y="0"/>
                      <a:pt x="335" y="0"/>
                    </a:cubicBezTo>
                    <a:cubicBezTo>
                      <a:pt x="613" y="97"/>
                      <a:pt x="480" y="0"/>
                      <a:pt x="613" y="393"/>
                    </a:cubicBezTo>
                    <a:cubicBezTo>
                      <a:pt x="631" y="450"/>
                      <a:pt x="671" y="560"/>
                      <a:pt x="671" y="560"/>
                    </a:cubicBezTo>
                    <a:cubicBezTo>
                      <a:pt x="538" y="688"/>
                      <a:pt x="405" y="710"/>
                      <a:pt x="277" y="839"/>
                    </a:cubicBezTo>
                    <a:lnTo>
                      <a:pt x="277" y="839"/>
                    </a:lnTo>
                  </a:path>
                </a:pathLst>
              </a:custGeom>
              <a:solidFill>
                <a:srgbClr val="FFFF00"/>
              </a:solidFill>
              <a:ln w="936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s-CO"/>
              </a:p>
            </p:txBody>
          </p:sp>
        </p:grpSp>
      </p:grpSp>
      <p:sp>
        <p:nvSpPr>
          <p:cNvPr id="24" name="Text Box 40"/>
          <p:cNvSpPr txBox="1">
            <a:spLocks noChangeArrowheads="1"/>
          </p:cNvSpPr>
          <p:nvPr/>
        </p:nvSpPr>
        <p:spPr bwMode="auto">
          <a:xfrm>
            <a:off x="1676400" y="5194300"/>
            <a:ext cx="6248400" cy="5561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ts val="1875"/>
              </a:spcBef>
              <a:buClr>
                <a:srgbClr val="FFFFFF"/>
              </a:buClr>
              <a:buSzPct val="100000"/>
              <a:buFont typeface="Tahoma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MX" sz="3000" dirty="0"/>
              <a:t>Trabajo = área bajo la curva PV</a:t>
            </a:r>
          </a:p>
        </p:txBody>
      </p:sp>
      <p:sp>
        <p:nvSpPr>
          <p:cNvPr id="25" name="AutoShape 44"/>
          <p:cNvSpPr>
            <a:spLocks noChangeArrowheads="1"/>
          </p:cNvSpPr>
          <p:nvPr/>
        </p:nvSpPr>
        <p:spPr bwMode="auto">
          <a:xfrm>
            <a:off x="3124200" y="6235700"/>
            <a:ext cx="3125788" cy="698500"/>
          </a:xfrm>
          <a:prstGeom prst="roundRect">
            <a:avLst>
              <a:gd name="adj" fmla="val 227"/>
            </a:avLst>
          </a:prstGeom>
          <a:noFill/>
          <a:ln w="38160">
            <a:noFill/>
            <a:round/>
            <a:headEnd/>
            <a:tailEnd/>
          </a:ln>
          <a:effectLst>
            <a:outerShdw dist="107933" dir="2700000" algn="ctr" rotWithShape="0">
              <a:srgbClr val="4D4D4D"/>
            </a:outerShdw>
          </a:effectLst>
        </p:spPr>
        <p:txBody>
          <a:bodyPr wrap="none" anchor="ctr"/>
          <a:lstStyle/>
          <a:p>
            <a:endParaRPr lang="es-CO"/>
          </a:p>
        </p:txBody>
      </p:sp>
      <p:grpSp>
        <p:nvGrpSpPr>
          <p:cNvPr id="26" name="Group 47"/>
          <p:cNvGrpSpPr>
            <a:grpSpLocks/>
          </p:cNvGrpSpPr>
          <p:nvPr/>
        </p:nvGrpSpPr>
        <p:grpSpPr bwMode="auto">
          <a:xfrm>
            <a:off x="3581400" y="2057400"/>
            <a:ext cx="5029200" cy="2613025"/>
            <a:chOff x="2256" y="864"/>
            <a:chExt cx="3168" cy="1646"/>
          </a:xfrm>
        </p:grpSpPr>
        <p:sp>
          <p:nvSpPr>
            <p:cNvPr id="27" name="Line 23"/>
            <p:cNvSpPr>
              <a:spLocks noChangeShapeType="1"/>
            </p:cNvSpPr>
            <p:nvPr/>
          </p:nvSpPr>
          <p:spPr bwMode="auto">
            <a:xfrm>
              <a:off x="2688" y="1008"/>
              <a:ext cx="1" cy="1008"/>
            </a:xfrm>
            <a:prstGeom prst="line">
              <a:avLst/>
            </a:prstGeom>
            <a:noFill/>
            <a:ln w="3816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8" name="Line 24"/>
            <p:cNvSpPr>
              <a:spLocks noChangeShapeType="1"/>
            </p:cNvSpPr>
            <p:nvPr/>
          </p:nvSpPr>
          <p:spPr bwMode="auto">
            <a:xfrm>
              <a:off x="2688" y="2016"/>
              <a:ext cx="1056" cy="1"/>
            </a:xfrm>
            <a:prstGeom prst="line">
              <a:avLst/>
            </a:prstGeom>
            <a:noFill/>
            <a:ln w="3816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9" name="Text Box 26"/>
            <p:cNvSpPr txBox="1">
              <a:spLocks noChangeArrowheads="1"/>
            </p:cNvSpPr>
            <p:nvPr/>
          </p:nvSpPr>
          <p:spPr bwMode="auto">
            <a:xfrm>
              <a:off x="3360" y="864"/>
              <a:ext cx="288" cy="3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ts val="1875"/>
                </a:spcBef>
                <a:buClr>
                  <a:srgbClr val="FFFFFF"/>
                </a:buClr>
                <a:buSzPct val="100000"/>
                <a:buFont typeface="Tahoma" pitchFamily="34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 sz="3000"/>
                <a:t>B</a:t>
              </a:r>
            </a:p>
          </p:txBody>
        </p:sp>
        <p:sp>
          <p:nvSpPr>
            <p:cNvPr id="30" name="Text Box 27"/>
            <p:cNvSpPr txBox="1">
              <a:spLocks noChangeArrowheads="1"/>
            </p:cNvSpPr>
            <p:nvPr/>
          </p:nvSpPr>
          <p:spPr bwMode="auto">
            <a:xfrm>
              <a:off x="2784" y="864"/>
              <a:ext cx="288" cy="3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ts val="1875"/>
                </a:spcBef>
                <a:buClr>
                  <a:srgbClr val="FFFFFF"/>
                </a:buClr>
                <a:buSzPct val="100000"/>
                <a:buFont typeface="Tahoma" pitchFamily="34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 sz="3000"/>
                <a:t>A</a:t>
              </a:r>
            </a:p>
          </p:txBody>
        </p:sp>
        <p:sp>
          <p:nvSpPr>
            <p:cNvPr id="31" name="Line 28"/>
            <p:cNvSpPr>
              <a:spLocks noChangeShapeType="1"/>
            </p:cNvSpPr>
            <p:nvPr/>
          </p:nvSpPr>
          <p:spPr bwMode="auto">
            <a:xfrm flipV="1">
              <a:off x="2928" y="1343"/>
              <a:ext cx="1" cy="674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32" name="Line 29"/>
            <p:cNvSpPr>
              <a:spLocks noChangeShapeType="1"/>
            </p:cNvSpPr>
            <p:nvPr/>
          </p:nvSpPr>
          <p:spPr bwMode="auto">
            <a:xfrm>
              <a:off x="2688" y="1296"/>
              <a:ext cx="288" cy="1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33" name="Line 30"/>
            <p:cNvSpPr>
              <a:spLocks noChangeShapeType="1"/>
            </p:cNvSpPr>
            <p:nvPr/>
          </p:nvSpPr>
          <p:spPr bwMode="auto">
            <a:xfrm>
              <a:off x="3504" y="1392"/>
              <a:ext cx="1" cy="624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34" name="Text Box 31"/>
            <p:cNvSpPr txBox="1">
              <a:spLocks noChangeArrowheads="1"/>
            </p:cNvSpPr>
            <p:nvPr/>
          </p:nvSpPr>
          <p:spPr bwMode="auto">
            <a:xfrm>
              <a:off x="2256" y="1104"/>
              <a:ext cx="288" cy="3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ts val="1875"/>
                </a:spcBef>
                <a:buClr>
                  <a:srgbClr val="FFFFFF"/>
                </a:buClr>
                <a:buSzPct val="100000"/>
                <a:buFont typeface="Tahoma" pitchFamily="34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 sz="3000"/>
                <a:t>P</a:t>
              </a:r>
            </a:p>
          </p:txBody>
        </p:sp>
        <p:sp>
          <p:nvSpPr>
            <p:cNvPr id="35" name="Text Box 32"/>
            <p:cNvSpPr txBox="1">
              <a:spLocks noChangeArrowheads="1"/>
            </p:cNvSpPr>
            <p:nvPr/>
          </p:nvSpPr>
          <p:spPr bwMode="auto">
            <a:xfrm>
              <a:off x="2784" y="2160"/>
              <a:ext cx="1008" cy="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ts val="750"/>
                </a:spcBef>
                <a:buClr>
                  <a:srgbClr val="FFFFFF"/>
                </a:buClr>
                <a:buSzPct val="100000"/>
                <a:buFont typeface="Tahoma" pitchFamily="34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 sz="3000"/>
                <a:t>V</a:t>
              </a:r>
              <a:r>
                <a:rPr lang="es-MX" sz="3000" baseline="-25000"/>
                <a:t>1</a:t>
              </a:r>
              <a:r>
                <a:rPr lang="es-MX" sz="3000"/>
                <a:t>     V</a:t>
              </a:r>
              <a:r>
                <a:rPr lang="es-MX" sz="3000" baseline="-25000"/>
                <a:t>2</a:t>
              </a:r>
            </a:p>
          </p:txBody>
        </p:sp>
        <p:grpSp>
          <p:nvGrpSpPr>
            <p:cNvPr id="36" name="Group 33"/>
            <p:cNvGrpSpPr>
              <a:grpSpLocks/>
            </p:cNvGrpSpPr>
            <p:nvPr/>
          </p:nvGrpSpPr>
          <p:grpSpPr bwMode="auto">
            <a:xfrm>
              <a:off x="3888" y="1104"/>
              <a:ext cx="1536" cy="808"/>
              <a:chOff x="3888" y="1104"/>
              <a:chExt cx="1536" cy="808"/>
            </a:xfrm>
          </p:grpSpPr>
          <p:sp>
            <p:nvSpPr>
              <p:cNvPr id="39" name="Text Box 34"/>
              <p:cNvSpPr txBox="1">
                <a:spLocks noChangeArrowheads="1"/>
              </p:cNvSpPr>
              <p:nvPr/>
            </p:nvSpPr>
            <p:spPr bwMode="auto">
              <a:xfrm>
                <a:off x="3888" y="1104"/>
                <a:ext cx="1488" cy="3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90000" tIns="46800" rIns="90000" bIns="46800">
                <a:spAutoFit/>
              </a:bodyPr>
              <a:lstStyle/>
              <a:p>
                <a:pPr>
                  <a:spcBef>
                    <a:spcPts val="1875"/>
                  </a:spcBef>
                  <a:buClr>
                    <a:srgbClr val="FFFFFF"/>
                  </a:buClr>
                  <a:buSzPct val="100000"/>
                  <a:buFont typeface="Tahoma" pitchFamily="34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s-MX" sz="3000"/>
                  <a:t> V</a:t>
                </a:r>
                <a:r>
                  <a:rPr lang="es-MX" sz="3000" baseline="-25000"/>
                  <a:t>A             </a:t>
                </a:r>
                <a:r>
                  <a:rPr lang="es-MX" sz="3000"/>
                  <a:t>V</a:t>
                </a:r>
                <a:r>
                  <a:rPr lang="es-MX" sz="3000" baseline="-25000"/>
                  <a:t>B</a:t>
                </a:r>
              </a:p>
            </p:txBody>
          </p:sp>
          <p:sp>
            <p:nvSpPr>
              <p:cNvPr id="40" name="Text Box 35"/>
              <p:cNvSpPr txBox="1">
                <a:spLocks noChangeArrowheads="1"/>
              </p:cNvSpPr>
              <p:nvPr/>
            </p:nvSpPr>
            <p:spPr bwMode="auto">
              <a:xfrm>
                <a:off x="3936" y="1562"/>
                <a:ext cx="1488" cy="3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90000" tIns="46800" rIns="90000" bIns="46800">
                <a:spAutoFit/>
              </a:bodyPr>
              <a:lstStyle/>
              <a:p>
                <a:pPr>
                  <a:spcBef>
                    <a:spcPts val="1875"/>
                  </a:spcBef>
                  <a:buClr>
                    <a:srgbClr val="FFFFFF"/>
                  </a:buClr>
                  <a:buSzPct val="100000"/>
                  <a:buFont typeface="Tahoma" pitchFamily="34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s-MX" sz="3000"/>
                  <a:t> T</a:t>
                </a:r>
                <a:r>
                  <a:rPr lang="es-MX" sz="3000" baseline="-25000"/>
                  <a:t>A            </a:t>
                </a:r>
                <a:r>
                  <a:rPr lang="es-MX" sz="3000"/>
                  <a:t>T</a:t>
                </a:r>
                <a:r>
                  <a:rPr lang="es-MX" sz="3000" baseline="-25000"/>
                  <a:t> B</a:t>
                </a:r>
              </a:p>
            </p:txBody>
          </p:sp>
          <p:sp>
            <p:nvSpPr>
              <p:cNvPr id="41" name="Text Box 36"/>
              <p:cNvSpPr txBox="1">
                <a:spLocks noChangeArrowheads="1"/>
              </p:cNvSpPr>
              <p:nvPr/>
            </p:nvSpPr>
            <p:spPr bwMode="auto">
              <a:xfrm>
                <a:off x="4416" y="1333"/>
                <a:ext cx="380" cy="34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90000" tIns="46800" rIns="90000" bIns="46800">
                <a:spAutoFit/>
              </a:bodyPr>
              <a:lstStyle/>
              <a:p>
                <a:pPr>
                  <a:spcBef>
                    <a:spcPts val="1875"/>
                  </a:spcBef>
                  <a:buClr>
                    <a:srgbClr val="FFFFFF"/>
                  </a:buClr>
                  <a:buSzPct val="100000"/>
                  <a:buFont typeface="Tahoma" pitchFamily="34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s-MX" sz="3000"/>
                  <a:t>=</a:t>
                </a:r>
              </a:p>
            </p:txBody>
          </p:sp>
          <p:sp>
            <p:nvSpPr>
              <p:cNvPr id="42" name="Line 37"/>
              <p:cNvSpPr>
                <a:spLocks noChangeShapeType="1"/>
              </p:cNvSpPr>
              <p:nvPr/>
            </p:nvSpPr>
            <p:spPr bwMode="auto">
              <a:xfrm>
                <a:off x="3936" y="1516"/>
                <a:ext cx="432" cy="1"/>
              </a:xfrm>
              <a:prstGeom prst="line">
                <a:avLst/>
              </a:prstGeom>
              <a:noFill/>
              <a:ln w="38160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43" name="Line 38"/>
              <p:cNvSpPr>
                <a:spLocks noChangeShapeType="1"/>
              </p:cNvSpPr>
              <p:nvPr/>
            </p:nvSpPr>
            <p:spPr bwMode="auto">
              <a:xfrm>
                <a:off x="4777" y="1516"/>
                <a:ext cx="503" cy="1"/>
              </a:xfrm>
              <a:prstGeom prst="line">
                <a:avLst/>
              </a:prstGeom>
              <a:noFill/>
              <a:ln w="38160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s-CO"/>
              </a:p>
            </p:txBody>
          </p:sp>
        </p:grpSp>
        <p:sp>
          <p:nvSpPr>
            <p:cNvPr id="37" name="AutoShape 39"/>
            <p:cNvSpPr>
              <a:spLocks noChangeArrowheads="1"/>
            </p:cNvSpPr>
            <p:nvPr/>
          </p:nvSpPr>
          <p:spPr bwMode="auto">
            <a:xfrm>
              <a:off x="2976" y="1344"/>
              <a:ext cx="480" cy="624"/>
            </a:xfrm>
            <a:prstGeom prst="roundRect">
              <a:avLst>
                <a:gd name="adj" fmla="val 208"/>
              </a:avLst>
            </a:prstGeom>
            <a:blipFill dpi="0" rotWithShape="0">
              <a:blip r:embed="rId2"/>
              <a:srcRect/>
              <a:tile tx="0" ty="0" sx="100000" sy="100000" flip="none" algn="tl"/>
            </a:blipFill>
            <a:ln w="9360">
              <a:solidFill>
                <a:srgbClr val="FFFF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CO"/>
            </a:p>
          </p:txBody>
        </p:sp>
        <p:sp>
          <p:nvSpPr>
            <p:cNvPr id="38" name="Line 25"/>
            <p:cNvSpPr>
              <a:spLocks noChangeShapeType="1"/>
            </p:cNvSpPr>
            <p:nvPr/>
          </p:nvSpPr>
          <p:spPr bwMode="auto">
            <a:xfrm>
              <a:off x="2928" y="1296"/>
              <a:ext cx="576" cy="1"/>
            </a:xfrm>
            <a:prstGeom prst="line">
              <a:avLst/>
            </a:prstGeom>
            <a:noFill/>
            <a:ln w="76200">
              <a:solidFill>
                <a:srgbClr val="99FF33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s-CO"/>
            </a:p>
          </p:txBody>
        </p:sp>
      </p:grpSp>
      <p:sp>
        <p:nvSpPr>
          <p:cNvPr id="44" name="Line 46"/>
          <p:cNvSpPr>
            <a:spLocks noChangeShapeType="1"/>
          </p:cNvSpPr>
          <p:nvPr/>
        </p:nvSpPr>
        <p:spPr bwMode="auto">
          <a:xfrm>
            <a:off x="3429000" y="1981200"/>
            <a:ext cx="0" cy="2895600"/>
          </a:xfrm>
          <a:prstGeom prst="line">
            <a:avLst/>
          </a:prstGeom>
          <a:noFill/>
          <a:ln w="57150">
            <a:solidFill>
              <a:srgbClr val="CC990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es-CO"/>
          </a:p>
        </p:txBody>
      </p:sp>
      <p:sp>
        <p:nvSpPr>
          <p:cNvPr id="45" name="Text Box 48"/>
          <p:cNvSpPr txBox="1">
            <a:spLocks noChangeArrowheads="1"/>
          </p:cNvSpPr>
          <p:nvPr/>
        </p:nvSpPr>
        <p:spPr bwMode="auto">
          <a:xfrm>
            <a:off x="6629400" y="3810000"/>
            <a:ext cx="1752600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s-MX">
                <a:effectLst>
                  <a:outerShdw blurRad="38100" dist="38100" dir="2700000" algn="tl">
                    <a:srgbClr val="000000"/>
                  </a:outerShdw>
                </a:effectLst>
              </a:rPr>
              <a:t>P</a:t>
            </a:r>
            <a:r>
              <a:rPr lang="es-MX" baseline="-25000">
                <a:effectLst>
                  <a:outerShdw blurRad="38100" dist="38100" dir="2700000" algn="tl">
                    <a:srgbClr val="000000"/>
                  </a:outerShdw>
                </a:effectLst>
              </a:rPr>
              <a:t>A </a:t>
            </a:r>
            <a:r>
              <a:rPr lang="es-MX">
                <a:effectLst>
                  <a:outerShdw blurRad="38100" dist="38100" dir="2700000" algn="tl">
                    <a:srgbClr val="000000"/>
                  </a:outerShdw>
                </a:effectLst>
              </a:rPr>
              <a:t>= P</a:t>
            </a:r>
            <a:r>
              <a:rPr lang="es-MX" baseline="-25000">
                <a:effectLst>
                  <a:outerShdw blurRad="38100" dist="38100" dir="2700000" algn="tl">
                    <a:srgbClr val="000000"/>
                  </a:outerShdw>
                </a:effectLst>
              </a:rPr>
              <a:t>B</a:t>
            </a:r>
            <a:endParaRPr lang="es-MX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grpSp>
        <p:nvGrpSpPr>
          <p:cNvPr id="46" name="Group 54"/>
          <p:cNvGrpSpPr>
            <a:grpSpLocks/>
          </p:cNvGrpSpPr>
          <p:nvPr/>
        </p:nvGrpSpPr>
        <p:grpSpPr bwMode="auto">
          <a:xfrm>
            <a:off x="3124200" y="5803900"/>
            <a:ext cx="3200400" cy="698500"/>
            <a:chOff x="1968" y="3408"/>
            <a:chExt cx="2016" cy="440"/>
          </a:xfrm>
        </p:grpSpPr>
        <p:sp>
          <p:nvSpPr>
            <p:cNvPr id="47" name="AutoShape 42"/>
            <p:cNvSpPr>
              <a:spLocks noChangeArrowheads="1"/>
            </p:cNvSpPr>
            <p:nvPr/>
          </p:nvSpPr>
          <p:spPr bwMode="auto">
            <a:xfrm>
              <a:off x="1968" y="3408"/>
              <a:ext cx="2016" cy="440"/>
            </a:xfrm>
            <a:prstGeom prst="roundRect">
              <a:avLst>
                <a:gd name="adj" fmla="val 227"/>
              </a:avLst>
            </a:prstGeom>
            <a:solidFill>
              <a:srgbClr val="FFFFCC"/>
            </a:solidFill>
            <a:ln w="38160">
              <a:noFill/>
              <a:round/>
              <a:headEnd/>
              <a:tailEnd/>
            </a:ln>
            <a:effectLst>
              <a:outerShdw dist="107933" dir="2700000" algn="ctr" rotWithShape="0">
                <a:srgbClr val="4D4D4D"/>
              </a:outerShdw>
            </a:effectLst>
          </p:spPr>
          <p:txBody>
            <a:bodyPr wrap="none" anchor="ctr"/>
            <a:lstStyle/>
            <a:p>
              <a:endParaRPr lang="es-CO"/>
            </a:p>
          </p:txBody>
        </p:sp>
        <p:sp>
          <p:nvSpPr>
            <p:cNvPr id="48" name="Rectangle 51"/>
            <p:cNvSpPr>
              <a:spLocks noChangeArrowheads="1"/>
            </p:cNvSpPr>
            <p:nvPr/>
          </p:nvSpPr>
          <p:spPr bwMode="auto">
            <a:xfrm>
              <a:off x="2016" y="3456"/>
              <a:ext cx="1920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r>
                <a:rPr lang="es-MX" sz="3400" i="1">
                  <a:latin typeface="Times New Roman" pitchFamily="18" charset="0"/>
                </a:rPr>
                <a:t>Trabajo = P </a:t>
              </a:r>
              <a:r>
                <a:rPr lang="es-MX" sz="3400" i="1">
                  <a:latin typeface="Symbol" pitchFamily="18" charset="2"/>
                </a:rPr>
                <a:t>D</a:t>
              </a:r>
              <a:r>
                <a:rPr lang="es-MX" sz="3400" i="1">
                  <a:latin typeface="Times New Roman" pitchFamily="18" charset="0"/>
                </a:rPr>
                <a:t>V</a:t>
              </a:r>
              <a:endParaRPr lang="es-MX" sz="3400"/>
            </a:p>
          </p:txBody>
        </p:sp>
      </p:grpSp>
      <p:sp>
        <p:nvSpPr>
          <p:cNvPr id="51" name="Text Box 6"/>
          <p:cNvSpPr txBox="1">
            <a:spLocks noChangeArrowheads="1"/>
          </p:cNvSpPr>
          <p:nvPr/>
        </p:nvSpPr>
        <p:spPr bwMode="auto">
          <a:xfrm>
            <a:off x="1524000" y="71439"/>
            <a:ext cx="2819399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s-CO" sz="2000" dirty="0">
                <a:solidFill>
                  <a:schemeClr val="bg1"/>
                </a:solidFill>
              </a:rPr>
              <a:t>Termodinámica</a:t>
            </a:r>
          </a:p>
          <a:p>
            <a:r>
              <a:rPr lang="es-ES" sz="2000" dirty="0">
                <a:solidFill>
                  <a:schemeClr val="bg1"/>
                </a:solidFill>
              </a:rPr>
              <a:t>Definiciones Básicas</a:t>
            </a:r>
          </a:p>
        </p:txBody>
      </p:sp>
      <p:sp>
        <p:nvSpPr>
          <p:cNvPr id="54" name="AutoShape 4" descr="Resultado de imagen para turbin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55" name="AutoShape 6" descr="Resultado de imagen para turbin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56" name="AutoShape 8" descr="Resultado de imagen para turbin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57" name="AutoShape 10" descr="data:image/jpeg;base64,/9j/4AAQSkZJRgABAQAAAQABAAD/2wCEAAkGBxMTEhMUEhMVFBUUFxcYGBgYFxUZGBoZHhgYGhcfGxobHiggHholHxccITEkJSkrMC4uHB8zODMsNygtLisBCgoKDg0OGhAQGywkHCY0LCwsLC8sLCwsNCwsLCwsLCwsLCwsLCwsLCwsLCwsLCwsNSwvLCwsLCwsLCwsLCwsLP/AABEIAK0BIwMBIgACEQEDEQH/xAAbAAEAAwEBAQEAAAAAAAAAAAAABAUGAwIBB//EAEMQAAEDAgQDBQYEAwUIAwEAAAEAAhEDIQQSMUEFUWETInGBkQYyQqGxwVJy0fAjM2IUQ4Lh8RUkU3OSorLCY3TSB//EABkBAQEAAwEAAAAAAAAAAAAAAAABAgMEBf/EACgRAQEAAgEDAwIHAQAAAAAAAAABAhEDEiExBEFREyIyUmFxgZGhM//aAAwDAQACEQMRAD8A+oiICIiAiIgIiICIiAiL6QRqg+IiICKXheF1qhhlMnvAG+k3kxMCOasX+y2KbBFLOTPdD2gdCXHTwAPkro2o0Wsw3DMMaooupVgYMuLXZJiYzEiT+WV74n7Isa0Op1mtnTORlJmwBkEct/BNJtkEXH+1s7TsxcjN3gWFpgbQTZdlFEREBERAREQEXptMkEgWbqdh58+Q1OykNw7SCQ7ugd5/wjoPxHUdCggYquGNLjoI+Zj7rzhcSHmBHS9yNoGvrCrfabEACm1pDg7M42IIiWtkG4vPoo3BMU6SKRu1pcAY192OehmxmyitEi9VBBPiV5VQREQEREBERAREQEREBERAXcUmiMx1E225KFij3Y52289dV1LJABmJFySDbX18ELZPKQcgOhItrM/ay+Meb5Wg/wCGYXGiWNMw0mIvPXp4fPmrvhvEQYDmMIJhsCCdtdCZ2stefXJuTZhycdurdINLC1jpmA8f0UjCcCfeXS07HY82nadwtE7E02iYnpofOVxp8SL3EUoMC+51tfSNdlzTLnz8TTq1w4++0WhwBu4lSDwfDgw5rJMmLT1t5rjxCpXawksq1AZnswHHwgEGNtNlhsf7cOL8lKlJBh3aOgi4nuDfxPJWcGe95Z/0xvLhZqY/22xo4YEmmYLSRLJBBGtxdd6ftWcPZ7zVbcNDrvBH9Q1t+K/VZzAPmnEz2meYAEVMxfoNJn5qv4w8EF3Msqevdf8ANdctk15cv0sZl1Tt+nssOKf/ANDr1YbTaGNcSJ0I8IMh285lSYSu55rmq5zywUsrnEucJcZ7xkz3RvdVTB32jk8qbgnkVK4G9IHzDx+pUbYk8D9+sPE+n+qsFX8E/m1esj7/AGVgrEyERFWIiKThsG5xbYjN7oALnu/K3UjqYbrdBHY0kgAEk6AXJ8lNoYGxc8gNb7xLstNv56nP+lkuPQrhj+K0MMC3+Y/QsY6Widq1Zuv5GQLXMrOcdxtWo/JWe0lshrG92m0SRDGgDlrHjMq9oaW2N9qabTlwuVzhpVeGgM/5VMnu/mMuPRVmCxuQu97+IH5xm99zjLnwY70/ENL3UHD03OJBJs0kD3eQEzBi/wCEg81bYDAhjgKhdRc6Cx8NyE696BpfbS3nPK+A8PpVWlzGucBEvDpjxuXR1iIm6Yn2YcB2jA2qw5C0h2jhVYSJdGUkBwm243hXlKmXvLQBQx1IZmkWZXb9LgfKdiGyMFjwAa7GQ2cmKoR7p0zhp22+R0MXSbQK2Hptux73EkyCZb8/suasOL4AUyHMvSqXYddpifpOxG8qvUBERAREQEREBERAREQEReqbJMc0LdPbKM6+nX9F6qM9VMbTUd95PP6bfvqt/Fh1V53Ny3y4HDktJFgLE/vdSMF3MOI5mOev6qPgKhitOhykfMH7Ke2hNGmB8Ux5uP6qc2Vt06PT4THHfussJQigCdSJ9b/RSuEYTsmF29QyfD4fufNTMRQBcymNPt/oFG49i8oDWjvGAAPQLQ7EjB44vqZBtcnkFS+1/AXVWZ2htSowgtdHfiYcOZEHTmAYsrvhWE7FkTL3XeeZ5eA/eq+Y/iTR3Rd50j96oj8/pYo+DiYPSo27fUWUbH1g4GNDMfleMzfR7SFo/afB9yo57C2oGlwcNSWiRfR0fLosOKdWsYaCOgEm5DvSZjxTQ80bvBkXLTqOX6qZRaO1q/8AJP8A5tXGvgxQGapVaHN73Z5ml7oMwGjTXddH5hUig6dWue0NjX3czgRMi4EwdVBI4fmbUqP2YS53MCCJI1HpsrDgT6mIa57KcUxo99mn8u7vK3VV+F4i3Dtq1nmXCo+m8d6MwdmpgXAgAmI0k7lccf7Xvrdm1pLWCZB7zokRpAIgn3gDYXMrDLHbbhn0d5O/z5XIdL8pqMIMwdBbW/qu7KAIs9s/mb577fPa5hUOGJGUuq9lUJMkyBsPeE6AxEGLabdKfEnsJaHB1Rxzsc54DTtLSQBeIvCyxkxmpGGdyzvVbutM3DNptzuDiBuKbqjieTKQH/dUgcmyqTi3GKzmPDab6DHatJirUM27Wo+CR/SLdBquOP4jiXspPbVfTLpY4ZzJewgENMgNkEW+UKJVFc5XuqEESJqOc33hBymJ0OtiOlis7WGnAQQAHsZYmJOWefzHXrdesPg21peZc6AJ3gaXd4/vVXXCOHuqsJZRotcGAuqODnFzQ4tIbIsRlBta8wVWU8VUa2swsyvphzmzBzAjuutbLYjyItECK68OpU2OINIOa0kEdJykg7GRr9Fb1KbGAMec+Gre486sdexOxF/n/UD+ct4jiaeJa9jg6wzBxsdZknQ9dL8l+i8PqU6rMv8AdYiw/wDjqjSPP7LKMa5ilUdNAn/eMP36Dxq9o+G/ONDoRf3TPf8A2i0dljmjuP8A4WKZtexJH6/0j4iold7+zFT+/wAG/K6/vMmPEiPkHndTsJSY7EVKM/weIUjUZ/TUiXRyOrvHLqqi+weDGWphCZaRnoOPLVpnoTB6OPNZlzSCQRBFiOR3UvhONcMNTe7+Zgqxo1B/QDl57Alo1+LfSV7T4fLWLhpUAf56O9SJ81iqpREQEREBERAREQEREBS8AySTyURWXDm90nr9grGrmusXWsIafT1soGJqhsZvdkA+CsMToOp+xP2VRxRsiBuuzhn2WvMz3c5E2nSu8Dl91bYWl/Dw52Dmz5PUHhQGdk/GzL5wD9QrZgDQaLrF0lnU7jx3XO9TFaYW9d07NJHqB91HNEGsajvgs3xO/kPquvD3l4J0rMEPHOdCOhj1BVNU4kezrTZ1N1/Ajun5H0Wqt3skcQ4g4uFKiM1R2gG3MnkOqs+DcCbT7zznqHVx0HRo2HXU/JReB4cUaQe7+ZUAc8nUA3DfAfWeig8T4/fKHa2AGp9FP2E3jLGjNTfD2nUa/wChWH4h7PdpA7eqWXloIaOksYGtPpstIMJiHDM6mabT+Ox/6dfUKPiqBZBmWkxmGx6jY8ucJCsNxHg5wlFzqbGOY735BdlEkTqI8QLSZhaLG0yGnugFl4Glth0VsJvP+LcdD4beEFRMVSh0jeZ8d0sJWY9oKLGsuwtz1XHNL3SS0RDQ2IcGTrHeVNheH5KjCzOQ6SZHuQNpIcTOkDkVr8bh2PNJhpsuASYILjL6YzQRmAa0e9P0RuEaxuXLNOQYicpI+uV3zhNG2dbgWF1TvFxIeGOhoYSNJuSNbEi8LjJewNHaONId0iTI/DOWMoOhnUla4UGzoDyPP9D1CkUcMCdLfQn7HcfsXpTbJkva2HBlJgyuhx77zmDX5R7pcA1zi0SYIiSuLX0ZFUuqOOQZWmWDNlvfcEiwvrFlucRwllVmVwHiQHQdJ8RpOseCtuDeyOGLO0LG5ySHWl2YG8k3Pir0ptkvZ6s6IJkWiHSBYb+R3sZI0gzONcLLqXcJDgZYZiHwbGPxCR0cOi0fEOCNa4OYAAbO8OflEqM6lIe0m5ZmF9wYPnIafMq9h+UN4NUcC2mABMWa0E3PIxpFp3C03srgHszUDIztLmdHsvbrbRXb+J0acSACdb84Fzt3iFUN9pGHFUnNAgVWm3Iw0+pJUGgcwOr0XkHJi6Rp1B/UBvblLdOflU0y9mFpuN6mAxYHxXaXwQLfE4gRuArLiNYCkDP8nFAieU5ieW/+iiYkjPxJkCHsbUiLS1od4ayoLarhAMbjaQ93FUBUbrGZum0a5jryTHVBVwWFqTJb3CbHYjYn/h891wZiv4vDas97szTOl4pkH5umy90z/ulVl/4dQgTOzmxr0d0RVUiIiCIiAiIgIiICIiArXAjuDxP1VUrXBHuDz+qyx8tHqPwmKd7vn9FWVa8PAOjreB2/RT8Y73fH7H9FS8QvELs4/wDm87v9WVeYYBzI0LTbnzBXV/EmGKWMBaHWZW0aDtP4TMd7TwXOAabXssSNtjuPVZTj3tRVYHUKtNlWW92e65p2JixHS3iua+dvSxrbn2hZhXsOKqBtSk4Mc7/i0XWzADVwgEgbtH4lS4rjeHr1anYVJFVtQZdHd05mkt27s6r8zr4eu/vvJMAASZho0A5AclywjqjCS1zmm4OVxBM63Gyxs34bJlp+01cY/FGlTpHKXsa5zvwNyguMecRzIVthaNDCD+GJedXuu8+ew6CAvz72U4xlJc1r2sp0W08zzmzGW/EAJPck+KtW1cTiO/TaAw6Oe7KD4WJI6wtVns2ytHiuNl2qq6mK13BsRsQuWF4U7+9qt8GyfmY+imuwtIQDpuTJ+46qzSXbnSAc23eyiRzy7gwNRYza3oqvi9V1MEtgzYTABOrLkgAkWkk6WBJVycK2mZGkg3i7SNQD4mDB0XGrRbMPmAY5Hm03vaSNDYlVGH4lxp5awspuFRrBYwWyXuzCRckEkaC4Vth8ZnpseQQKgNiJIM94Abum88ssK4xXGMHTZEMJIIMGZPoL67BZXBccD8zWtblFW0gm5aJ0IOwtPkg0OEoE5LENqAwYcIPmOk+EBTcPYAkRaDpqDymxiR4DqqTDcTJaLt7rjlNpAyiwLu8BtEjlfRfTjWzr8UCLDQ/qmzTUms0bzqN9QfDlGnJTOFcYDS8SAO6Z8o+3zWMHFQOWxnxdA+iz2M4hUe+GVGw7KMlpy5c0yJkwG2tbMpsb7j3tA1zXU2Ol52Gov00UAY2QCT8TvTuFZ+pToBhb/Z3ZzoS4hsxEkSAR0i/nK9UWue3JT7z2WgToZ8hAt5DSbhW8ToueXEOENPmG9JFjccrQbzCo8KGDFUmBvfL2mziZ5kzO08tFqGYXsnPNZwlwEtJZYaFpDSTEGLleqPCKFN7KjDdpOUnaYIvrz1nXxQW3FHTSrdagb5wBpovmKdNbF/8A13g6/hBGvQqM+uHdkwb1M7vIfWPoF4q4kZcVU/ERTbG+xj/DBVFhhXSeHC9y92/Jp+k6/qrfhLWOo187srTVeZ8Cw262Pz11VRTIZWpDbCYcuP5i3LG2tjt8rSsO3LhKYJ94yfE3Hn3vkoqNUiTlmNp1jr1Xld6zGNbTg5nPGaNMrOfOTsuCSpYIiKoIiICIiAiIgKzwTu55n9fuqxTsAe64eB+v6K4+Wnnn2OPEKmnQ/wCX3VW+tBkiQrDHjX19Lqvqs1Xbxd8bHnZXWUpjMc6jTe9riGgFx0INtptJWGp4wvqF1Qy5xknnyHkNlrcVgnYii7DB7aZqQGPcSAHZgWtJ5OIy+e+iwdHDvpveyoIcxzmm9g5riDcdQVzcl1dPS4pubX1fEF1vkmH4ZUfo0rvw7EURGYhavC+0+FpNgZZWP1Phn9NT4PgtVog1DSYbm9ifDSYm/gtCOJ1H92k0OA5OZAHroqTiftjSqd3KXDk0kHyIULhftTQacrKRcXHVwYT6yfstdu+7OTTXYRlaoR3qYn+omPQK5xPAsQwTmpvGUOs4gxf8QA258lm+HcVZ2ga2kGvdoGtbOkn3dFoXcULgWyQcsRf5gornhq5bNGq1zHOb3Zm4uYESDqYjc9VFxdSR+ZrOm46DmveKaCBIbF/dEcvQ6X/RQcQ+zeeVp25tPTkiMvwbDVHua+q7uEimBAInMRm7xdMGPQ2XbiOBLh2jAM7CQ9oHvcnRubX/AMlY8XexlMUphwETrHM2AVFxStVD6jKdQ1Gnsw0huUPIaYs74vevAMtEaBXweXVsgNLiQZLHDUkmTqN+ZPjyXLE4ltOm0ukycoJMghrjBIAjWLAyZjaV84bUo1I7V1SGS45IaItOaxNhPLddKeEL89IU+7TqOGUHQQ03M5vLobSFFcW12SwvaHNc4h7HEkNpmSTe06Ni2ql8RFWllAcMknK7u3A7wJy3jW0WsvL8EwUy0kEMc0ZZa2xGUm4IMRfwJFzCl8HfUa5rS60QyZtM92Y93aD1veFBT4rGw4gy3KQRlHeuZnOG6i/O3Iq64RhS1jmS0udBcO0yv2MguBB1mLKyxuM7MF76VENbEuNKmYG5s0lZvH4ik+qQQ99Rzsw2p3Etc4Ag2bAjYeJRXdvCzAtUeQTLC1rTBIklpJLpEjuk6aLlUrOe+HAgMIETckXIg7g92SYG6kcP9mWnLinve2XQxlv4gaIcSdm2AtqZiIU9/DaZ2j99dfNPJvStbSaZAFsoMMzHMdvX4dzlzGzlIw2EcXQ0yAZ2ylwnM4chn0PIPOy7u4cTPfHoR4yROulgOsqdSowP5hBtdoiIjSRrYeGwCmqu4nngbKNI1cS/vPguEnM4xZsTc9NlT0w97SHd1uYuDdbmxtsAAB1ud11ZRg5nOc934nmT5bDyXVWY/LG5fDxTZE3JJ1JuT4r2iLJiIiICIiAiIgIiIClcPd3o5iPv9lFXuk/KQeSRjnN42J2Joyqp9OPKyvyJUHE0bnqJ8xY/ZdnBfu08nl/Dtn8Uym9jmPsCCDNpB5FY1zxSmmQC24a6IBGxW44nh1QcVwzWsLnAHYDm46emvksefjdnpea2d2extFpu1Vb2wrV2CPZvqZoDSBcak7DyXJ/CKuvd/lCtqZDTl1tr3guWT5dnVvxHPhbj2jSHikQZD3TDSASJgG0wNN1t8BicRSd/vGR++em4T5gtDSPRZ/BcM7Ke1LS0ODajSxrgGuEsc1xuIidBpCv8NLCKDxZtmOGwGx/p5cvoI2HAcW2o7Mas7NkRffw8k4xLDDrg+67xN46gKPgKTcgay1odB96d/HkVX4bijg5+FxV8tw7T8rgfhN9dNQd1FT2Yn4HGMwF5FnatJ6deRK5NxAY4l3vAEMETcWuN9Y2idtVBxgLXNzmBBEgWPVpGkzMbGYOhMOtUpmMxqPgRqKYPjGZx/wCoJtdPld2asXywNhvaNzS6SYHZt5k6Alu/gpHHHCmzQEOAbrGUgy10jkZH+IrxhcTSpCWUaTTNiQXuJ096oXGVL4fgKVQZnsa46EXgHUy2YnfrM7rLG77McppmsTh6j4yMc5rhYNlzRAObSwgj0hS6AxQbmMMaIHetUaOcn4TvJ8gtjQw9MuaKgOSRIaALDQADZZvF8Rbi8Q0BgZSbOVm4guAzEXzHuyJ6KWeyy+6qa11RjmUW5yQy41Fy46C2nz8lY1MBWyw6bNHxCZ21M7yrajSawQxoaOQAA+S9rHS9Spw2DqZ3CpLmVWlryXTEix1mxMeqlO4VSzF0HMdb2/X5qYiuk6q91KhdE7ANA2AGgA2C8IiqCIiAiIgIiICIiAiIgIiICIiAiIgtcDUlscvpsvuIbaeV/wBfkoGDrZXX0NlaFbcMtd3n8+GsrPaqrG0QRz3WS40C86QG6D6nxW2qsiR5jw/y/RUfFMHuu7KTPHqjk4srhl0VkcbSJZSpDcl5/M45W+gaFYYmDiMXHu06HZjwz0x/6qLjO7WJ2aW/KF0w4nE4wfjbUaOpBD/o0+q8/LHVevhlKkUWZnU2H++w1MDq9rGkf+LvVSuHYnP/AAn2qMEA/iaP/YfMX5qrpPL8M1zTD8M+J3AnMw+sj/CrKowVQzEMEH4gPhcNf1HQhYti64S2oyYaXAAugamLmOqmcbw7MVhW4mh3nsbmkfFSNzY3lvveGZfeCcQGZsQH6x4RPlf5qiqcWfgsfVJMUBTD2s+EtLnEiOhzNjkAsVQ8FxQ1GOou+IA0idnwXNb4Ou3xcvnCKTapAc9wzaRH4Q4ag9fRRuOUGU67ux/l/wAOpTj8BJiPC7fFqjYfFFpzbgz5teT9CU0ba5/BmsEgl1tXHb6LzhqhYZFy0abvZ/8Apv71UjAY9tRkE6GPJ3un1so1ek8nuAlwJIgEw8agx8Lh9+ayxSrpjw5oc0yCJBVVU4YG1jVaBDpJ6O09DJPipnCMDiM3dov7OoC4tMTTfvbWD03vuVb0eFPe7IcjZmzniY3sJNlnlqxjFEi742iGPcwHMWmCR7s7gb2t6rgtbIREQEREBERAREQEREBERAREQEREBERAREQFZ4StmbG4+myrF7pVC0yFZdNXLx9eP6rGsJ8RoodZuYfvVSg8ESFwrDcef75rs4eTXa+HlcmFveeYyPEuHkEnWd1Wh+Svm/qBPgQM3ylbHFsDgstjsKczjG/0ssuXi23cHL27o3DTkrVWH3HEsPndp8jHkSu3DMf2DnNd7pdB6HY+W/QlQcQDmM7wflH2Xfh/DnYquGSRmguIEmBY+ZtHUhcdxsehOSXys+LYk08r2GC11j5GfJevaar/AG2hQfSY5z3ZmPa0FxBsdtrTfYrQYz2aoUKLQQ/EfxMozugWa6LNibjLBKmYZtYDJh8OKbRMBrIHmXQ2fGIWn6uHy3TDKqHh/shXq029uRSDWltu87JOYT8IgufudRZWjPZnA0iDUcXmZvUJju8qcWgK1ZwSq8TWrZZMlo7x0AvByzbXb6SqXCMOy5DnnXvO3392Foz9Zxzx3bsfS53yquFdixxZTpNcb9/IGwwe6HakkSG6idYFwp7OLFhc4Q4saYaYgmLTyAhfOKcSpMp5KYa2TctEAHkIu5yzTQSc2cOzgjKwyG7y4nbKNtyY1W/HO3HdndzdO8+17T/W9f7SNDGnUkDaBJA5rO/7ec42zCO80Fvdklw96DMXm+hEahUn9vLu72YvlAnZ0Hqfly6qZTYGtDRtcnmTEn0AA6AKzu2W6ffn+5PzREWTAREQEREBERAREQEREBERAREQEREBERAREQEREHSlVI8OX73XZzpuFFX1roWWOWmnl4Zn3nl4rqvrAFWboPTwXB2DB1J/7f16rpw55I4r6fPfhnMVw0veMvIADeZJ+62HstwXsRcAudcnkQRl8hfXU9AuNCkxu21419dvJSnY8xDRlH18Vyep5s8508c/l3+m4JL1ct/hoDjGsEAwodfi45yqJ1QnUryvOx9D+avSy9Z+WJOJ4+c+QNJcRPIageMSRcAxfkqriXEaxgAZpMQ2YBgHUjvWM6RZdcXhG1BDh4EWI8CvNLAtGrnuMzcgA2AJMRJOUfPmunD02GF3I58+fLOaqEwVSD3b9HGY3EkQL8vJc6OFr3AAY0m8ukkXtIkxdXIEL6t+o1bR8Nhct3HM6ImI9ApCIqgiIgIiICIiAiIgIiICIiAiIgIiICIiAiIgIiICIiAiIgIiICIiAiIgIiICIiAiIgIiICIiAiIgIiICIiAiIgIiICIiD/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59" name="AutoShape 2" descr="Resultado de imagen para sistema termodinamic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 txBox="1">
            <a:spLocks noChangeArrowheads="1"/>
          </p:cNvSpPr>
          <p:nvPr/>
        </p:nvSpPr>
        <p:spPr>
          <a:xfrm>
            <a:off x="381000" y="838200"/>
            <a:ext cx="8382000" cy="1447800"/>
          </a:xfrm>
          <a:prstGeom prst="rect">
            <a:avLst/>
          </a:prstGeom>
          <a:ln/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kumimoji="0" lang="es-MX" sz="30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uLnTx/>
                <a:uFillTx/>
                <a:latin typeface="+mj-lt"/>
                <a:ea typeface="+mj-ea"/>
                <a:cs typeface="+mj-cs"/>
              </a:rPr>
              <a:t>PROCESO ISOTÉRMICO: </a:t>
            </a:r>
            <a:br>
              <a:rPr kumimoji="0" lang="es-MX" sz="30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s-MX" sz="30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uLnTx/>
                <a:uFillTx/>
                <a:latin typeface="+mj-lt"/>
                <a:ea typeface="+mj-ea"/>
                <a:cs typeface="+mj-cs"/>
              </a:rPr>
              <a:t>TEMPERATURA CONSTANTE, </a:t>
            </a:r>
            <a:r>
              <a:rPr lang="es-MX" sz="2800" i="1" dirty="0">
                <a:solidFill>
                  <a:srgbClr val="C00000"/>
                </a:solidFill>
                <a:latin typeface="Symbol" pitchFamily="18" charset="2"/>
              </a:rPr>
              <a:t> </a:t>
            </a:r>
            <a:r>
              <a:rPr kumimoji="0" lang="es-MX" sz="30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uLnTx/>
                <a:uFillTx/>
                <a:latin typeface="+mj-lt"/>
                <a:ea typeface="+mj-ea"/>
                <a:cs typeface="+mj-cs"/>
              </a:rPr>
              <a:t>T = 0, </a:t>
            </a:r>
            <a:r>
              <a:rPr lang="es-MX" sz="2800" i="1" dirty="0">
                <a:solidFill>
                  <a:srgbClr val="C00000"/>
                </a:solidFill>
                <a:latin typeface="Symbol" pitchFamily="18" charset="2"/>
              </a:rPr>
              <a:t> </a:t>
            </a:r>
            <a:r>
              <a:rPr kumimoji="0" lang="es-MX" sz="30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uLnTx/>
                <a:uFillTx/>
                <a:latin typeface="+mj-lt"/>
                <a:ea typeface="+mj-ea"/>
                <a:cs typeface="+mj-cs"/>
              </a:rPr>
              <a:t>U = 0 </a:t>
            </a:r>
          </a:p>
        </p:txBody>
      </p:sp>
      <p:grpSp>
        <p:nvGrpSpPr>
          <p:cNvPr id="4" name="Group 27"/>
          <p:cNvGrpSpPr>
            <a:grpSpLocks/>
          </p:cNvGrpSpPr>
          <p:nvPr/>
        </p:nvGrpSpPr>
        <p:grpSpPr bwMode="auto">
          <a:xfrm>
            <a:off x="1066800" y="5181600"/>
            <a:ext cx="7543800" cy="1219200"/>
            <a:chOff x="672" y="2976"/>
            <a:chExt cx="4320" cy="768"/>
          </a:xfrm>
        </p:grpSpPr>
        <p:sp>
          <p:nvSpPr>
            <p:cNvPr id="5" name="AutoShape 3"/>
            <p:cNvSpPr>
              <a:spLocks noChangeArrowheads="1"/>
            </p:cNvSpPr>
            <p:nvPr/>
          </p:nvSpPr>
          <p:spPr bwMode="auto">
            <a:xfrm>
              <a:off x="672" y="2976"/>
              <a:ext cx="4320" cy="768"/>
            </a:xfrm>
            <a:prstGeom prst="roundRect">
              <a:avLst>
                <a:gd name="adj" fmla="val 157"/>
              </a:avLst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es-CO"/>
            </a:p>
          </p:txBody>
        </p:sp>
        <p:sp>
          <p:nvSpPr>
            <p:cNvPr id="6" name="Text Box 4"/>
            <p:cNvSpPr txBox="1">
              <a:spLocks noChangeArrowheads="1"/>
            </p:cNvSpPr>
            <p:nvPr/>
          </p:nvSpPr>
          <p:spPr bwMode="auto">
            <a:xfrm>
              <a:off x="672" y="2976"/>
              <a:ext cx="4320" cy="273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90000" tIns="46800" rIns="90000" bIns="46800">
              <a:spAutoFit/>
            </a:bodyPr>
            <a:lstStyle/>
            <a:p>
              <a:pPr algn="ctr">
                <a:spcBef>
                  <a:spcPct val="0"/>
                </a:spcBef>
                <a:buClr>
                  <a:srgbClr val="FFFFFF"/>
                </a:buClr>
                <a:buSzPct val="100000"/>
                <a:buFont typeface="Tahoma" pitchFamily="34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 sz="2200" i="1" dirty="0"/>
                <a:t>ENTRADA NETA DE CALOR =  SALIDA DE TRABAJO</a:t>
              </a:r>
            </a:p>
          </p:txBody>
        </p:sp>
      </p:grpSp>
      <p:grpSp>
        <p:nvGrpSpPr>
          <p:cNvPr id="7" name="Group 5"/>
          <p:cNvGrpSpPr>
            <a:grpSpLocks/>
          </p:cNvGrpSpPr>
          <p:nvPr/>
        </p:nvGrpSpPr>
        <p:grpSpPr bwMode="auto">
          <a:xfrm>
            <a:off x="1066800" y="2133600"/>
            <a:ext cx="7239000" cy="688975"/>
            <a:chOff x="768" y="1055"/>
            <a:chExt cx="4416" cy="434"/>
          </a:xfrm>
        </p:grpSpPr>
        <p:sp>
          <p:nvSpPr>
            <p:cNvPr id="8" name="Text Box 6"/>
            <p:cNvSpPr txBox="1">
              <a:spLocks noChangeArrowheads="1"/>
            </p:cNvSpPr>
            <p:nvPr/>
          </p:nvSpPr>
          <p:spPr bwMode="auto">
            <a:xfrm>
              <a:off x="768" y="1056"/>
              <a:ext cx="4416" cy="3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ts val="2000"/>
                </a:spcBef>
                <a:buClr>
                  <a:srgbClr val="FFFFFF"/>
                </a:buClr>
                <a:buSzPct val="100000"/>
                <a:buFont typeface="Symbol" pitchFamily="18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 sz="3200" dirty="0">
                  <a:latin typeface="Symbol" pitchFamily="18" charset="2"/>
                </a:rPr>
                <a:t></a:t>
              </a:r>
              <a:r>
                <a:rPr lang="es-MX" sz="3200" dirty="0"/>
                <a:t>Q = </a:t>
              </a:r>
              <a:r>
                <a:rPr lang="es-MX" sz="3200" dirty="0">
                  <a:latin typeface="Symbol" pitchFamily="18" charset="2"/>
                </a:rPr>
                <a:t></a:t>
              </a:r>
              <a:r>
                <a:rPr lang="es-MX" sz="3200" dirty="0"/>
                <a:t>U + </a:t>
              </a:r>
              <a:r>
                <a:rPr lang="es-MX" sz="3200" dirty="0">
                  <a:latin typeface="Symbol" pitchFamily="18" charset="2"/>
                </a:rPr>
                <a:t></a:t>
              </a:r>
              <a:r>
                <a:rPr lang="es-MX" sz="3200" dirty="0"/>
                <a:t>W      y</a:t>
              </a:r>
              <a:r>
                <a:rPr lang="es-MX" sz="3200" dirty="0">
                  <a:latin typeface="Symbol" pitchFamily="18" charset="2"/>
                </a:rPr>
                <a:t>         </a:t>
              </a:r>
              <a:r>
                <a:rPr lang="es-MX" sz="3200" dirty="0"/>
                <a:t>Q = </a:t>
              </a:r>
              <a:r>
                <a:rPr lang="es-MX" sz="3200" dirty="0">
                  <a:latin typeface="Symbol" pitchFamily="18" charset="2"/>
                </a:rPr>
                <a:t></a:t>
              </a:r>
              <a:r>
                <a:rPr lang="es-MX" sz="3200" dirty="0"/>
                <a:t>W</a:t>
              </a:r>
            </a:p>
          </p:txBody>
        </p:sp>
        <p:sp>
          <p:nvSpPr>
            <p:cNvPr id="9" name="Line 7"/>
            <p:cNvSpPr>
              <a:spLocks noChangeShapeType="1"/>
            </p:cNvSpPr>
            <p:nvPr/>
          </p:nvSpPr>
          <p:spPr bwMode="auto">
            <a:xfrm flipV="1">
              <a:off x="1440" y="1055"/>
              <a:ext cx="336" cy="43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s-CO"/>
            </a:p>
          </p:txBody>
        </p:sp>
      </p:grpSp>
      <p:sp>
        <p:nvSpPr>
          <p:cNvPr id="10" name="AutoShape 11"/>
          <p:cNvSpPr>
            <a:spLocks noChangeArrowheads="1"/>
          </p:cNvSpPr>
          <p:nvPr/>
        </p:nvSpPr>
        <p:spPr bwMode="auto">
          <a:xfrm>
            <a:off x="1600200" y="3614738"/>
            <a:ext cx="1506538" cy="1136650"/>
          </a:xfrm>
          <a:prstGeom prst="roundRect">
            <a:avLst>
              <a:gd name="adj" fmla="val 139"/>
            </a:avLst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s-CO"/>
          </a:p>
        </p:txBody>
      </p:sp>
      <p:sp>
        <p:nvSpPr>
          <p:cNvPr id="11" name="AutoShape 12"/>
          <p:cNvSpPr>
            <a:spLocks noChangeArrowheads="1"/>
          </p:cNvSpPr>
          <p:nvPr/>
        </p:nvSpPr>
        <p:spPr bwMode="auto">
          <a:xfrm>
            <a:off x="5297488" y="3625850"/>
            <a:ext cx="1506537" cy="1138238"/>
          </a:xfrm>
          <a:prstGeom prst="roundRect">
            <a:avLst>
              <a:gd name="adj" fmla="val 139"/>
            </a:avLst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s-CO"/>
          </a:p>
        </p:txBody>
      </p:sp>
      <p:sp>
        <p:nvSpPr>
          <p:cNvPr id="12" name="Text Box 15"/>
          <p:cNvSpPr txBox="1">
            <a:spLocks noChangeArrowheads="1"/>
          </p:cNvSpPr>
          <p:nvPr/>
        </p:nvSpPr>
        <p:spPr bwMode="auto">
          <a:xfrm>
            <a:off x="1951037" y="4038600"/>
            <a:ext cx="1325563" cy="371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>
              <a:spcBef>
                <a:spcPct val="0"/>
              </a:spcBef>
              <a:buClr>
                <a:srgbClr val="008000"/>
              </a:buClr>
              <a:buSzPct val="100000"/>
              <a:buFont typeface="Symbol" pitchFamily="18" charset="2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MX" dirty="0">
                <a:latin typeface="Symbol" pitchFamily="18" charset="2"/>
              </a:rPr>
              <a:t></a:t>
            </a:r>
            <a:r>
              <a:rPr lang="es-MX" dirty="0"/>
              <a:t>U = 0</a:t>
            </a:r>
          </a:p>
        </p:txBody>
      </p:sp>
      <p:sp>
        <p:nvSpPr>
          <p:cNvPr id="13" name="Text Box 16"/>
          <p:cNvSpPr txBox="1">
            <a:spLocks noChangeArrowheads="1"/>
          </p:cNvSpPr>
          <p:nvPr/>
        </p:nvSpPr>
        <p:spPr bwMode="auto">
          <a:xfrm>
            <a:off x="5543550" y="3985737"/>
            <a:ext cx="1543050" cy="35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>
              <a:lnSpc>
                <a:spcPct val="95000"/>
              </a:lnSpc>
              <a:spcBef>
                <a:spcPct val="0"/>
              </a:spcBef>
              <a:buClr>
                <a:srgbClr val="008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MX" dirty="0"/>
              <a:t> </a:t>
            </a:r>
            <a:r>
              <a:rPr lang="es-MX" dirty="0">
                <a:latin typeface="Symbol" pitchFamily="18" charset="2"/>
              </a:rPr>
              <a:t></a:t>
            </a:r>
            <a:r>
              <a:rPr lang="es-MX" dirty="0"/>
              <a:t>U = 0</a:t>
            </a:r>
          </a:p>
        </p:txBody>
      </p:sp>
      <p:sp>
        <p:nvSpPr>
          <p:cNvPr id="14" name="Text Box 17"/>
          <p:cNvSpPr txBox="1">
            <a:spLocks noChangeArrowheads="1"/>
          </p:cNvSpPr>
          <p:nvPr/>
        </p:nvSpPr>
        <p:spPr bwMode="auto">
          <a:xfrm>
            <a:off x="2439988" y="2819400"/>
            <a:ext cx="855662" cy="2699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>
              <a:lnSpc>
                <a:spcPct val="95000"/>
              </a:lnSpc>
              <a:spcBef>
                <a:spcPct val="0"/>
              </a:spcBef>
              <a:buClr>
                <a:srgbClr val="8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s-MX" baseline="-25000"/>
          </a:p>
        </p:txBody>
      </p:sp>
      <p:grpSp>
        <p:nvGrpSpPr>
          <p:cNvPr id="15" name="Group 24"/>
          <p:cNvGrpSpPr>
            <a:grpSpLocks/>
          </p:cNvGrpSpPr>
          <p:nvPr/>
        </p:nvGrpSpPr>
        <p:grpSpPr bwMode="auto">
          <a:xfrm>
            <a:off x="5962650" y="2971800"/>
            <a:ext cx="1274763" cy="1038225"/>
            <a:chOff x="3756" y="1584"/>
            <a:chExt cx="803" cy="654"/>
          </a:xfrm>
        </p:grpSpPr>
        <p:sp>
          <p:nvSpPr>
            <p:cNvPr id="16" name="Freeform 14"/>
            <p:cNvSpPr>
              <a:spLocks noChangeArrowheads="1"/>
            </p:cNvSpPr>
            <p:nvPr/>
          </p:nvSpPr>
          <p:spPr bwMode="auto">
            <a:xfrm>
              <a:off x="3756" y="1728"/>
              <a:ext cx="129" cy="510"/>
            </a:xfrm>
            <a:custGeom>
              <a:avLst/>
              <a:gdLst/>
              <a:ahLst/>
              <a:cxnLst>
                <a:cxn ang="0">
                  <a:pos x="142" y="2250"/>
                </a:cxn>
                <a:cxn ang="0">
                  <a:pos x="142" y="563"/>
                </a:cxn>
                <a:cxn ang="0">
                  <a:pos x="0" y="563"/>
                </a:cxn>
                <a:cxn ang="0">
                  <a:pos x="285" y="0"/>
                </a:cxn>
                <a:cxn ang="0">
                  <a:pos x="570" y="563"/>
                </a:cxn>
                <a:cxn ang="0">
                  <a:pos x="427" y="563"/>
                </a:cxn>
                <a:cxn ang="0">
                  <a:pos x="427" y="2250"/>
                </a:cxn>
                <a:cxn ang="0">
                  <a:pos x="142" y="2250"/>
                </a:cxn>
              </a:cxnLst>
              <a:rect l="0" t="0" r="r" b="b"/>
              <a:pathLst>
                <a:path w="571" h="2251">
                  <a:moveTo>
                    <a:pt x="142" y="2250"/>
                  </a:moveTo>
                  <a:lnTo>
                    <a:pt x="142" y="563"/>
                  </a:lnTo>
                  <a:lnTo>
                    <a:pt x="0" y="563"/>
                  </a:lnTo>
                  <a:lnTo>
                    <a:pt x="285" y="0"/>
                  </a:lnTo>
                  <a:lnTo>
                    <a:pt x="570" y="563"/>
                  </a:lnTo>
                  <a:lnTo>
                    <a:pt x="427" y="563"/>
                  </a:lnTo>
                  <a:lnTo>
                    <a:pt x="427" y="2250"/>
                  </a:lnTo>
                  <a:lnTo>
                    <a:pt x="142" y="2250"/>
                  </a:lnTo>
                </a:path>
              </a:pathLst>
            </a:custGeom>
            <a:solidFill>
              <a:srgbClr val="FF6600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CO"/>
            </a:p>
          </p:txBody>
        </p:sp>
        <p:sp>
          <p:nvSpPr>
            <p:cNvPr id="17" name="Text Box 18"/>
            <p:cNvSpPr txBox="1">
              <a:spLocks noChangeArrowheads="1"/>
            </p:cNvSpPr>
            <p:nvPr/>
          </p:nvSpPr>
          <p:spPr bwMode="auto">
            <a:xfrm>
              <a:off x="3840" y="1584"/>
              <a:ext cx="719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>
                <a:lnSpc>
                  <a:spcPct val="95000"/>
                </a:lnSpc>
                <a:spcBef>
                  <a:spcPct val="0"/>
                </a:spcBef>
                <a:buClr>
                  <a:srgbClr val="800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 sz="3000"/>
                <a:t>Q</a:t>
              </a:r>
              <a:r>
                <a:rPr lang="es-MX" sz="3000" baseline="-25000"/>
                <a:t>OUT</a:t>
              </a:r>
            </a:p>
          </p:txBody>
        </p:sp>
      </p:grpSp>
      <p:grpSp>
        <p:nvGrpSpPr>
          <p:cNvPr id="18" name="Group 26"/>
          <p:cNvGrpSpPr>
            <a:grpSpLocks/>
          </p:cNvGrpSpPr>
          <p:nvPr/>
        </p:nvGrpSpPr>
        <p:grpSpPr bwMode="auto">
          <a:xfrm>
            <a:off x="6477000" y="3657600"/>
            <a:ext cx="2438400" cy="1479550"/>
            <a:chOff x="4080" y="2016"/>
            <a:chExt cx="1296" cy="932"/>
          </a:xfrm>
        </p:grpSpPr>
        <p:sp>
          <p:nvSpPr>
            <p:cNvPr id="19" name="Text Box 10"/>
            <p:cNvSpPr txBox="1">
              <a:spLocks noChangeArrowheads="1"/>
            </p:cNvSpPr>
            <p:nvPr/>
          </p:nvSpPr>
          <p:spPr bwMode="auto">
            <a:xfrm>
              <a:off x="4512" y="2016"/>
              <a:ext cx="864" cy="9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 algn="ctr">
                <a:spcBef>
                  <a:spcPts val="1875"/>
                </a:spcBef>
                <a:buClr>
                  <a:srgbClr val="FFFFFF"/>
                </a:buClr>
                <a:buSzPct val="100000"/>
                <a:buFont typeface="Tahoma" pitchFamily="34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 sz="3000"/>
                <a:t>Entrada de trabajo</a:t>
              </a:r>
            </a:p>
          </p:txBody>
        </p:sp>
        <p:sp>
          <p:nvSpPr>
            <p:cNvPr id="20" name="Freeform 19"/>
            <p:cNvSpPr>
              <a:spLocks noChangeArrowheads="1"/>
            </p:cNvSpPr>
            <p:nvPr/>
          </p:nvSpPr>
          <p:spPr bwMode="auto">
            <a:xfrm>
              <a:off x="4080" y="2304"/>
              <a:ext cx="576" cy="144"/>
            </a:xfrm>
            <a:custGeom>
              <a:avLst/>
              <a:gdLst/>
              <a:ahLst/>
              <a:cxnLst>
                <a:cxn ang="0">
                  <a:pos x="2541" y="477"/>
                </a:cxn>
                <a:cxn ang="0">
                  <a:pos x="636" y="477"/>
                </a:cxn>
                <a:cxn ang="0">
                  <a:pos x="636" y="636"/>
                </a:cxn>
                <a:cxn ang="0">
                  <a:pos x="0" y="318"/>
                </a:cxn>
                <a:cxn ang="0">
                  <a:pos x="636" y="0"/>
                </a:cxn>
                <a:cxn ang="0">
                  <a:pos x="636" y="159"/>
                </a:cxn>
                <a:cxn ang="0">
                  <a:pos x="2541" y="159"/>
                </a:cxn>
                <a:cxn ang="0">
                  <a:pos x="2541" y="477"/>
                </a:cxn>
              </a:cxnLst>
              <a:rect l="0" t="0" r="r" b="b"/>
              <a:pathLst>
                <a:path w="2542" h="637">
                  <a:moveTo>
                    <a:pt x="2541" y="477"/>
                  </a:moveTo>
                  <a:lnTo>
                    <a:pt x="636" y="477"/>
                  </a:lnTo>
                  <a:lnTo>
                    <a:pt x="636" y="636"/>
                  </a:lnTo>
                  <a:lnTo>
                    <a:pt x="0" y="318"/>
                  </a:lnTo>
                  <a:lnTo>
                    <a:pt x="636" y="0"/>
                  </a:lnTo>
                  <a:lnTo>
                    <a:pt x="636" y="159"/>
                  </a:lnTo>
                  <a:lnTo>
                    <a:pt x="2541" y="159"/>
                  </a:lnTo>
                  <a:lnTo>
                    <a:pt x="2541" y="477"/>
                  </a:lnTo>
                </a:path>
              </a:pathLst>
            </a:custGeom>
            <a:solidFill>
              <a:srgbClr val="FF6600"/>
            </a:solidFill>
            <a:ln w="9360">
              <a:solidFill>
                <a:srgbClr val="FFFF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CO"/>
            </a:p>
          </p:txBody>
        </p:sp>
      </p:grpSp>
      <p:grpSp>
        <p:nvGrpSpPr>
          <p:cNvPr id="21" name="Group 25"/>
          <p:cNvGrpSpPr>
            <a:grpSpLocks/>
          </p:cNvGrpSpPr>
          <p:nvPr/>
        </p:nvGrpSpPr>
        <p:grpSpPr bwMode="auto">
          <a:xfrm>
            <a:off x="2819400" y="3581399"/>
            <a:ext cx="2286000" cy="1076325"/>
            <a:chOff x="1776" y="1968"/>
            <a:chExt cx="1440" cy="678"/>
          </a:xfrm>
        </p:grpSpPr>
        <p:sp>
          <p:nvSpPr>
            <p:cNvPr id="22" name="Text Box 9"/>
            <p:cNvSpPr txBox="1">
              <a:spLocks noChangeArrowheads="1"/>
            </p:cNvSpPr>
            <p:nvPr/>
          </p:nvSpPr>
          <p:spPr bwMode="auto">
            <a:xfrm>
              <a:off x="2064" y="1968"/>
              <a:ext cx="1152" cy="6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 algn="ctr">
                <a:spcBef>
                  <a:spcPts val="1875"/>
                </a:spcBef>
                <a:buClr>
                  <a:srgbClr val="FFFFFF"/>
                </a:buClr>
                <a:buSzPct val="100000"/>
                <a:buFont typeface="Tahoma" pitchFamily="34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 sz="3000"/>
                <a:t>Salida</a:t>
              </a:r>
            </a:p>
            <a:p>
              <a:pPr algn="ctr">
                <a:spcBef>
                  <a:spcPts val="1875"/>
                </a:spcBef>
                <a:buClr>
                  <a:srgbClr val="FFFFFF"/>
                </a:buClr>
                <a:buSzPct val="100000"/>
                <a:buFont typeface="Tahoma" pitchFamily="34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/>
                <a:t>de trabajo</a:t>
              </a:r>
            </a:p>
          </p:txBody>
        </p:sp>
        <p:sp>
          <p:nvSpPr>
            <p:cNvPr id="23" name="Freeform 20"/>
            <p:cNvSpPr>
              <a:spLocks noChangeArrowheads="1"/>
            </p:cNvSpPr>
            <p:nvPr/>
          </p:nvSpPr>
          <p:spPr bwMode="auto">
            <a:xfrm>
              <a:off x="1776" y="2352"/>
              <a:ext cx="576" cy="144"/>
            </a:xfrm>
            <a:custGeom>
              <a:avLst/>
              <a:gdLst/>
              <a:ahLst/>
              <a:cxnLst>
                <a:cxn ang="0">
                  <a:pos x="0" y="159"/>
                </a:cxn>
                <a:cxn ang="0">
                  <a:pos x="1905" y="159"/>
                </a:cxn>
                <a:cxn ang="0">
                  <a:pos x="1905" y="0"/>
                </a:cxn>
                <a:cxn ang="0">
                  <a:pos x="2541" y="318"/>
                </a:cxn>
                <a:cxn ang="0">
                  <a:pos x="1905" y="636"/>
                </a:cxn>
                <a:cxn ang="0">
                  <a:pos x="1905" y="477"/>
                </a:cxn>
                <a:cxn ang="0">
                  <a:pos x="0" y="477"/>
                </a:cxn>
                <a:cxn ang="0">
                  <a:pos x="0" y="159"/>
                </a:cxn>
              </a:cxnLst>
              <a:rect l="0" t="0" r="r" b="b"/>
              <a:pathLst>
                <a:path w="2542" h="637">
                  <a:moveTo>
                    <a:pt x="0" y="159"/>
                  </a:moveTo>
                  <a:lnTo>
                    <a:pt x="1905" y="159"/>
                  </a:lnTo>
                  <a:lnTo>
                    <a:pt x="1905" y="0"/>
                  </a:lnTo>
                  <a:lnTo>
                    <a:pt x="2541" y="318"/>
                  </a:lnTo>
                  <a:lnTo>
                    <a:pt x="1905" y="636"/>
                  </a:lnTo>
                  <a:lnTo>
                    <a:pt x="1905" y="477"/>
                  </a:lnTo>
                  <a:lnTo>
                    <a:pt x="0" y="477"/>
                  </a:lnTo>
                  <a:lnTo>
                    <a:pt x="0" y="159"/>
                  </a:lnTo>
                </a:path>
              </a:pathLst>
            </a:custGeom>
            <a:solidFill>
              <a:srgbClr val="FF6600"/>
            </a:solidFill>
            <a:ln w="936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CO"/>
            </a:p>
          </p:txBody>
        </p:sp>
      </p:grpSp>
      <p:grpSp>
        <p:nvGrpSpPr>
          <p:cNvPr id="24" name="Group 23"/>
          <p:cNvGrpSpPr>
            <a:grpSpLocks/>
          </p:cNvGrpSpPr>
          <p:nvPr/>
        </p:nvGrpSpPr>
        <p:grpSpPr bwMode="auto">
          <a:xfrm>
            <a:off x="2286000" y="2971800"/>
            <a:ext cx="955675" cy="1038225"/>
            <a:chOff x="1414" y="1584"/>
            <a:chExt cx="602" cy="654"/>
          </a:xfrm>
        </p:grpSpPr>
        <p:sp>
          <p:nvSpPr>
            <p:cNvPr id="25" name="Freeform 13"/>
            <p:cNvSpPr>
              <a:spLocks noChangeArrowheads="1"/>
            </p:cNvSpPr>
            <p:nvPr/>
          </p:nvSpPr>
          <p:spPr bwMode="auto">
            <a:xfrm>
              <a:off x="1414" y="1728"/>
              <a:ext cx="129" cy="510"/>
            </a:xfrm>
            <a:custGeom>
              <a:avLst/>
              <a:gdLst/>
              <a:ahLst/>
              <a:cxnLst>
                <a:cxn ang="0">
                  <a:pos x="141" y="0"/>
                </a:cxn>
                <a:cxn ang="0">
                  <a:pos x="141" y="1687"/>
                </a:cxn>
                <a:cxn ang="0">
                  <a:pos x="0" y="1687"/>
                </a:cxn>
                <a:cxn ang="0">
                  <a:pos x="283" y="2250"/>
                </a:cxn>
                <a:cxn ang="0">
                  <a:pos x="566" y="1687"/>
                </a:cxn>
                <a:cxn ang="0">
                  <a:pos x="424" y="1687"/>
                </a:cxn>
                <a:cxn ang="0">
                  <a:pos x="424" y="0"/>
                </a:cxn>
                <a:cxn ang="0">
                  <a:pos x="141" y="0"/>
                </a:cxn>
              </a:cxnLst>
              <a:rect l="0" t="0" r="r" b="b"/>
              <a:pathLst>
                <a:path w="567" h="2251">
                  <a:moveTo>
                    <a:pt x="141" y="0"/>
                  </a:moveTo>
                  <a:lnTo>
                    <a:pt x="141" y="1687"/>
                  </a:lnTo>
                  <a:lnTo>
                    <a:pt x="0" y="1687"/>
                  </a:lnTo>
                  <a:lnTo>
                    <a:pt x="283" y="2250"/>
                  </a:lnTo>
                  <a:lnTo>
                    <a:pt x="566" y="1687"/>
                  </a:lnTo>
                  <a:lnTo>
                    <a:pt x="424" y="1687"/>
                  </a:lnTo>
                  <a:lnTo>
                    <a:pt x="424" y="0"/>
                  </a:lnTo>
                  <a:lnTo>
                    <a:pt x="141" y="0"/>
                  </a:lnTo>
                </a:path>
              </a:pathLst>
            </a:custGeom>
            <a:solidFill>
              <a:srgbClr val="FF6600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CO"/>
            </a:p>
          </p:txBody>
        </p:sp>
        <p:sp>
          <p:nvSpPr>
            <p:cNvPr id="26" name="Rectangle 22"/>
            <p:cNvSpPr>
              <a:spLocks noChangeArrowheads="1"/>
            </p:cNvSpPr>
            <p:nvPr/>
          </p:nvSpPr>
          <p:spPr bwMode="auto">
            <a:xfrm>
              <a:off x="1488" y="1584"/>
              <a:ext cx="528" cy="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95000"/>
                </a:lnSpc>
                <a:spcBef>
                  <a:spcPct val="0"/>
                </a:spcBef>
                <a:buClr>
                  <a:srgbClr val="800000"/>
                </a:buClr>
                <a:buSzPct val="100000"/>
                <a:buFont typeface="Times New Roman" pitchFamily="18" charset="0"/>
                <a:buNone/>
              </a:pPr>
              <a:r>
                <a:rPr lang="es-MX" sz="3000"/>
                <a:t>Q</a:t>
              </a:r>
              <a:r>
                <a:rPr lang="es-MX" sz="3000" baseline="-25000"/>
                <a:t>IN</a:t>
              </a:r>
            </a:p>
          </p:txBody>
        </p:sp>
      </p:grpSp>
      <p:sp>
        <p:nvSpPr>
          <p:cNvPr id="27" name="Rectangle 28"/>
          <p:cNvSpPr>
            <a:spLocks noChangeArrowheads="1"/>
          </p:cNvSpPr>
          <p:nvPr/>
        </p:nvSpPr>
        <p:spPr bwMode="auto">
          <a:xfrm>
            <a:off x="1143000" y="5791200"/>
            <a:ext cx="6705600" cy="4270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  <a:buClr>
                <a:srgbClr val="FFFFFF"/>
              </a:buClr>
              <a:buSzPct val="100000"/>
              <a:buFont typeface="Tahoma" pitchFamily="34" charset="0"/>
              <a:buNone/>
            </a:pPr>
            <a:r>
              <a:rPr lang="es-MX" sz="2200" i="1"/>
              <a:t>ENTRADA DE TRABAJO =  SALIDA NETA DE CALOR</a:t>
            </a:r>
          </a:p>
        </p:txBody>
      </p:sp>
      <p:sp>
        <p:nvSpPr>
          <p:cNvPr id="35" name="AutoShape 4" descr="Resultado de imagen para turbin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36" name="AutoShape 6" descr="Resultado de imagen para turbin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37" name="AutoShape 8" descr="Resultado de imagen para turbin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38" name="AutoShape 10" descr="data:image/jpeg;base64,/9j/4AAQSkZJRgABAQAAAQABAAD/2wCEAAkGBxMTEhMUEhMVFBUUFxcYGBgYFxUZGBoZHhgYGhcfGxobHiggHholHxccITEkJSkrMC4uHB8zODMsNygtLisBCgoKDg0OGhAQGywkHCY0LCwsLC8sLCwsNCwsLCwsLCwsLCwsLCwsLCwsLCwsLCwsNSwvLCwsLCwsLCwsLCwsLP/AABEIAK0BIwMBIgACEQEDEQH/xAAbAAEAAwEBAQEAAAAAAAAAAAAABAUGAwIBB//EAEMQAAEDAgQDBQYEAwUIAwEAAAEAAhEDIQQSMUEFUWETInGBkQYyQqGxwVJy0fAjM2IUQ4Lh8RUkU3OSorLCY3TSB//EABkBAQEAAwEAAAAAAAAAAAAAAAABAgMEBf/EACgRAQEAAgEDAwIHAQAAAAAAAAABAhEDEiExBEFREyIyUmFxgZGhM//aAAwDAQACEQMRAD8A+oiICIiAiIgIiICIiAiL6QRqg+IiICKXheF1qhhlMnvAG+k3kxMCOasX+y2KbBFLOTPdD2gdCXHTwAPkro2o0Wsw3DMMaooupVgYMuLXZJiYzEiT+WV74n7Isa0Op1mtnTORlJmwBkEct/BNJtkEXH+1s7TsxcjN3gWFpgbQTZdlFEREBERAREQEXptMkEgWbqdh58+Q1OykNw7SCQ7ugd5/wjoPxHUdCggYquGNLjoI+Zj7rzhcSHmBHS9yNoGvrCrfabEACm1pDg7M42IIiWtkG4vPoo3BMU6SKRu1pcAY192OehmxmyitEi9VBBPiV5VQREQEREBERAREQEREBERAXcUmiMx1E225KFij3Y52289dV1LJABmJFySDbX18ELZPKQcgOhItrM/ay+Meb5Wg/wCGYXGiWNMw0mIvPXp4fPmrvhvEQYDmMIJhsCCdtdCZ2stefXJuTZhycdurdINLC1jpmA8f0UjCcCfeXS07HY82nadwtE7E02iYnpofOVxp8SL3EUoMC+51tfSNdlzTLnz8TTq1w4++0WhwBu4lSDwfDgw5rJMmLT1t5rjxCpXawksq1AZnswHHwgEGNtNlhsf7cOL8lKlJBh3aOgi4nuDfxPJWcGe95Z/0xvLhZqY/22xo4YEmmYLSRLJBBGtxdd6ftWcPZ7zVbcNDrvBH9Q1t+K/VZzAPmnEz2meYAEVMxfoNJn5qv4w8EF3Msqevdf8ANdctk15cv0sZl1Tt+nssOKf/ANDr1YbTaGNcSJ0I8IMh285lSYSu55rmq5zywUsrnEucJcZ7xkz3RvdVTB32jk8qbgnkVK4G9IHzDx+pUbYk8D9+sPE+n+qsFX8E/m1esj7/AGVgrEyERFWIiKThsG5xbYjN7oALnu/K3UjqYbrdBHY0kgAEk6AXJ8lNoYGxc8gNb7xLstNv56nP+lkuPQrhj+K0MMC3+Y/QsY6Widq1Zuv5GQLXMrOcdxtWo/JWe0lshrG92m0SRDGgDlrHjMq9oaW2N9qabTlwuVzhpVeGgM/5VMnu/mMuPRVmCxuQu97+IH5xm99zjLnwY70/ENL3UHD03OJBJs0kD3eQEzBi/wCEg81bYDAhjgKhdRc6Cx8NyE696BpfbS3nPK+A8PpVWlzGucBEvDpjxuXR1iIm6Yn2YcB2jA2qw5C0h2jhVYSJdGUkBwm243hXlKmXvLQBQx1IZmkWZXb9LgfKdiGyMFjwAa7GQ2cmKoR7p0zhp22+R0MXSbQK2Hptux73EkyCZb8/suasOL4AUyHMvSqXYddpifpOxG8qvUBERAREQEREBERAREQEReqbJMc0LdPbKM6+nX9F6qM9VMbTUd95PP6bfvqt/Fh1V53Ny3y4HDktJFgLE/vdSMF3MOI5mOev6qPgKhitOhykfMH7Ke2hNGmB8Ux5uP6qc2Vt06PT4THHfussJQigCdSJ9b/RSuEYTsmF29QyfD4fufNTMRQBcymNPt/oFG49i8oDWjvGAAPQLQ7EjB44vqZBtcnkFS+1/AXVWZ2htSowgtdHfiYcOZEHTmAYsrvhWE7FkTL3XeeZ5eA/eq+Y/iTR3Rd50j96oj8/pYo+DiYPSo27fUWUbH1g4GNDMfleMzfR7SFo/afB9yo57C2oGlwcNSWiRfR0fLosOKdWsYaCOgEm5DvSZjxTQ80bvBkXLTqOX6qZRaO1q/8AJP8A5tXGvgxQGapVaHN73Z5ml7oMwGjTXddH5hUig6dWue0NjX3czgRMi4EwdVBI4fmbUqP2YS53MCCJI1HpsrDgT6mIa57KcUxo99mn8u7vK3VV+F4i3Dtq1nmXCo+m8d6MwdmpgXAgAmI0k7lccf7Xvrdm1pLWCZB7zokRpAIgn3gDYXMrDLHbbhn0d5O/z5XIdL8pqMIMwdBbW/qu7KAIs9s/mb577fPa5hUOGJGUuq9lUJMkyBsPeE6AxEGLabdKfEnsJaHB1Rxzsc54DTtLSQBeIvCyxkxmpGGdyzvVbutM3DNptzuDiBuKbqjieTKQH/dUgcmyqTi3GKzmPDab6DHatJirUM27Wo+CR/SLdBquOP4jiXspPbVfTLpY4ZzJewgENMgNkEW+UKJVFc5XuqEESJqOc33hBymJ0OtiOlis7WGnAQQAHsZYmJOWefzHXrdesPg21peZc6AJ3gaXd4/vVXXCOHuqsJZRotcGAuqODnFzQ4tIbIsRlBta8wVWU8VUa2swsyvphzmzBzAjuutbLYjyItECK68OpU2OINIOa0kEdJykg7GRr9Fb1KbGAMec+Gre486sdexOxF/n/UD+ct4jiaeJa9jg6wzBxsdZknQ9dL8l+i8PqU6rMv8AdYiw/wDjqjSPP7LKMa5ilUdNAn/eMP36Dxq9o+G/ONDoRf3TPf8A2i0dljmjuP8A4WKZtexJH6/0j4iold7+zFT+/wAG/K6/vMmPEiPkHndTsJSY7EVKM/weIUjUZ/TUiXRyOrvHLqqi+weDGWphCZaRnoOPLVpnoTB6OPNZlzSCQRBFiOR3UvhONcMNTe7+Zgqxo1B/QDl57Alo1+LfSV7T4fLWLhpUAf56O9SJ81iqpREQEREBERAREQEREBS8AySTyURWXDm90nr9grGrmusXWsIafT1soGJqhsZvdkA+CsMToOp+xP2VRxRsiBuuzhn2WvMz3c5E2nSu8Dl91bYWl/Dw52Dmz5PUHhQGdk/GzL5wD9QrZgDQaLrF0lnU7jx3XO9TFaYW9d07NJHqB91HNEGsajvgs3xO/kPquvD3l4J0rMEPHOdCOhj1BVNU4kezrTZ1N1/Ajun5H0Wqt3skcQ4g4uFKiM1R2gG3MnkOqs+DcCbT7zznqHVx0HRo2HXU/JReB4cUaQe7+ZUAc8nUA3DfAfWeig8T4/fKHa2AGp9FP2E3jLGjNTfD2nUa/wChWH4h7PdpA7eqWXloIaOksYGtPpstIMJiHDM6mabT+Ox/6dfUKPiqBZBmWkxmGx6jY8ucJCsNxHg5wlFzqbGOY735BdlEkTqI8QLSZhaLG0yGnugFl4Glth0VsJvP+LcdD4beEFRMVSh0jeZ8d0sJWY9oKLGsuwtz1XHNL3SS0RDQ2IcGTrHeVNheH5KjCzOQ6SZHuQNpIcTOkDkVr8bh2PNJhpsuASYILjL6YzQRmAa0e9P0RuEaxuXLNOQYicpI+uV3zhNG2dbgWF1TvFxIeGOhoYSNJuSNbEi8LjJewNHaONId0iTI/DOWMoOhnUla4UGzoDyPP9D1CkUcMCdLfQn7HcfsXpTbJkva2HBlJgyuhx77zmDX5R7pcA1zi0SYIiSuLX0ZFUuqOOQZWmWDNlvfcEiwvrFlucRwllVmVwHiQHQdJ8RpOseCtuDeyOGLO0LG5ySHWl2YG8k3Pir0ptkvZ6s6IJkWiHSBYb+R3sZI0gzONcLLqXcJDgZYZiHwbGPxCR0cOi0fEOCNa4OYAAbO8OflEqM6lIe0m5ZmF9wYPnIafMq9h+UN4NUcC2mABMWa0E3PIxpFp3C03srgHszUDIztLmdHsvbrbRXb+J0acSACdb84Fzt3iFUN9pGHFUnNAgVWm3Iw0+pJUGgcwOr0XkHJi6Rp1B/UBvblLdOflU0y9mFpuN6mAxYHxXaXwQLfE4gRuArLiNYCkDP8nFAieU5ieW/+iiYkjPxJkCHsbUiLS1od4ayoLarhAMbjaQ93FUBUbrGZum0a5jryTHVBVwWFqTJb3CbHYjYn/h891wZiv4vDas97szTOl4pkH5umy90z/ulVl/4dQgTOzmxr0d0RVUiIiCIiAiIgIiICIiArXAjuDxP1VUrXBHuDz+qyx8tHqPwmKd7vn9FWVa8PAOjreB2/RT8Y73fH7H9FS8QvELs4/wDm87v9WVeYYBzI0LTbnzBXV/EmGKWMBaHWZW0aDtP4TMd7TwXOAabXssSNtjuPVZTj3tRVYHUKtNlWW92e65p2JixHS3iua+dvSxrbn2hZhXsOKqBtSk4Mc7/i0XWzADVwgEgbtH4lS4rjeHr1anYVJFVtQZdHd05mkt27s6r8zr4eu/vvJMAASZho0A5AclywjqjCS1zmm4OVxBM63Gyxs34bJlp+01cY/FGlTpHKXsa5zvwNyguMecRzIVthaNDCD+GJedXuu8+ew6CAvz72U4xlJc1r2sp0W08zzmzGW/EAJPck+KtW1cTiO/TaAw6Oe7KD4WJI6wtVns2ytHiuNl2qq6mK13BsRsQuWF4U7+9qt8GyfmY+imuwtIQDpuTJ+46qzSXbnSAc23eyiRzy7gwNRYza3oqvi9V1MEtgzYTABOrLkgAkWkk6WBJVycK2mZGkg3i7SNQD4mDB0XGrRbMPmAY5Hm03vaSNDYlVGH4lxp5awspuFRrBYwWyXuzCRckEkaC4Vth8ZnpseQQKgNiJIM94Abum88ssK4xXGMHTZEMJIIMGZPoL67BZXBccD8zWtblFW0gm5aJ0IOwtPkg0OEoE5LENqAwYcIPmOk+EBTcPYAkRaDpqDymxiR4DqqTDcTJaLt7rjlNpAyiwLu8BtEjlfRfTjWzr8UCLDQ/qmzTUms0bzqN9QfDlGnJTOFcYDS8SAO6Z8o+3zWMHFQOWxnxdA+iz2M4hUe+GVGw7KMlpy5c0yJkwG2tbMpsb7j3tA1zXU2Ol52Gov00UAY2QCT8TvTuFZ+pToBhb/Z3ZzoS4hsxEkSAR0i/nK9UWue3JT7z2WgToZ8hAt5DSbhW8ToueXEOENPmG9JFjccrQbzCo8KGDFUmBvfL2mziZ5kzO08tFqGYXsnPNZwlwEtJZYaFpDSTEGLleqPCKFN7KjDdpOUnaYIvrz1nXxQW3FHTSrdagb5wBpovmKdNbF/8A13g6/hBGvQqM+uHdkwb1M7vIfWPoF4q4kZcVU/ERTbG+xj/DBVFhhXSeHC9y92/Jp+k6/qrfhLWOo187srTVeZ8Cw262Pz11VRTIZWpDbCYcuP5i3LG2tjt8rSsO3LhKYJ94yfE3Hn3vkoqNUiTlmNp1jr1Xld6zGNbTg5nPGaNMrOfOTsuCSpYIiKoIiICIiAiIgKzwTu55n9fuqxTsAe64eB+v6K4+Wnnn2OPEKmnQ/wCX3VW+tBkiQrDHjX19Lqvqs1Xbxd8bHnZXWUpjMc6jTe9riGgFx0INtptJWGp4wvqF1Qy5xknnyHkNlrcVgnYii7DB7aZqQGPcSAHZgWtJ5OIy+e+iwdHDvpveyoIcxzmm9g5riDcdQVzcl1dPS4pubX1fEF1vkmH4ZUfo0rvw7EURGYhavC+0+FpNgZZWP1Phn9NT4PgtVog1DSYbm9ifDSYm/gtCOJ1H92k0OA5OZAHroqTiftjSqd3KXDk0kHyIULhftTQacrKRcXHVwYT6yfstdu+7OTTXYRlaoR3qYn+omPQK5xPAsQwTmpvGUOs4gxf8QA258lm+HcVZ2ga2kGvdoGtbOkn3dFoXcULgWyQcsRf5gornhq5bNGq1zHOb3Zm4uYESDqYjc9VFxdSR+ZrOm46DmveKaCBIbF/dEcvQ6X/RQcQ+zeeVp25tPTkiMvwbDVHua+q7uEimBAInMRm7xdMGPQ2XbiOBLh2jAM7CQ9oHvcnRubX/AMlY8XexlMUphwETrHM2AVFxStVD6jKdQ1Gnsw0huUPIaYs74vevAMtEaBXweXVsgNLiQZLHDUkmTqN+ZPjyXLE4ltOm0ukycoJMghrjBIAjWLAyZjaV84bUo1I7V1SGS45IaItOaxNhPLddKeEL89IU+7TqOGUHQQ03M5vLobSFFcW12SwvaHNc4h7HEkNpmSTe06Ni2ql8RFWllAcMknK7u3A7wJy3jW0WsvL8EwUy0kEMc0ZZa2xGUm4IMRfwJFzCl8HfUa5rS60QyZtM92Y93aD1veFBT4rGw4gy3KQRlHeuZnOG6i/O3Iq64RhS1jmS0udBcO0yv2MguBB1mLKyxuM7MF76VENbEuNKmYG5s0lZvH4ik+qQQ99Rzsw2p3Etc4Ag2bAjYeJRXdvCzAtUeQTLC1rTBIklpJLpEjuk6aLlUrOe+HAgMIETckXIg7g92SYG6kcP9mWnLinve2XQxlv4gaIcSdm2AtqZiIU9/DaZ2j99dfNPJvStbSaZAFsoMMzHMdvX4dzlzGzlIw2EcXQ0yAZ2ylwnM4chn0PIPOy7u4cTPfHoR4yROulgOsqdSowP5hBtdoiIjSRrYeGwCmqu4nngbKNI1cS/vPguEnM4xZsTc9NlT0w97SHd1uYuDdbmxtsAAB1ud11ZRg5nOc934nmT5bDyXVWY/LG5fDxTZE3JJ1JuT4r2iLJiIiICIiAiIgIiIClcPd3o5iPv9lFXuk/KQeSRjnN42J2Joyqp9OPKyvyJUHE0bnqJ8xY/ZdnBfu08nl/Dtn8Uym9jmPsCCDNpB5FY1zxSmmQC24a6IBGxW44nh1QcVwzWsLnAHYDm46emvksefjdnpea2d2extFpu1Vb2wrV2CPZvqZoDSBcak7DyXJ/CKuvd/lCtqZDTl1tr3guWT5dnVvxHPhbj2jSHikQZD3TDSASJgG0wNN1t8BicRSd/vGR++em4T5gtDSPRZ/BcM7Ke1LS0ODajSxrgGuEsc1xuIidBpCv8NLCKDxZtmOGwGx/p5cvoI2HAcW2o7Mas7NkRffw8k4xLDDrg+67xN46gKPgKTcgay1odB96d/HkVX4bijg5+FxV8tw7T8rgfhN9dNQd1FT2Yn4HGMwF5FnatJ6deRK5NxAY4l3vAEMETcWuN9Y2idtVBxgLXNzmBBEgWPVpGkzMbGYOhMOtUpmMxqPgRqKYPjGZx/wCoJtdPld2asXywNhvaNzS6SYHZt5k6Alu/gpHHHCmzQEOAbrGUgy10jkZH+IrxhcTSpCWUaTTNiQXuJ096oXGVL4fgKVQZnsa46EXgHUy2YnfrM7rLG77McppmsTh6j4yMc5rhYNlzRAObSwgj0hS6AxQbmMMaIHetUaOcn4TvJ8gtjQw9MuaKgOSRIaALDQADZZvF8Rbi8Q0BgZSbOVm4guAzEXzHuyJ6KWeyy+6qa11RjmUW5yQy41Fy46C2nz8lY1MBWyw6bNHxCZ21M7yrajSawQxoaOQAA+S9rHS9Spw2DqZ3CpLmVWlryXTEix1mxMeqlO4VSzF0HMdb2/X5qYiuk6q91KhdE7ANA2AGgA2C8IiqCIiAiIgIiICIiAiIgIiICIiAiIgtcDUlscvpsvuIbaeV/wBfkoGDrZXX0NlaFbcMtd3n8+GsrPaqrG0QRz3WS40C86QG6D6nxW2qsiR5jw/y/RUfFMHuu7KTPHqjk4srhl0VkcbSJZSpDcl5/M45W+gaFYYmDiMXHu06HZjwz0x/6qLjO7WJ2aW/KF0w4nE4wfjbUaOpBD/o0+q8/LHVevhlKkUWZnU2H++w1MDq9rGkf+LvVSuHYnP/AAn2qMEA/iaP/YfMX5qrpPL8M1zTD8M+J3AnMw+sj/CrKowVQzEMEH4gPhcNf1HQhYti64S2oyYaXAAugamLmOqmcbw7MVhW4mh3nsbmkfFSNzY3lvveGZfeCcQGZsQH6x4RPlf5qiqcWfgsfVJMUBTD2s+EtLnEiOhzNjkAsVQ8FxQ1GOou+IA0idnwXNb4Ou3xcvnCKTapAc9wzaRH4Q4ag9fRRuOUGU67ux/l/wAOpTj8BJiPC7fFqjYfFFpzbgz5teT9CU0ba5/BmsEgl1tXHb6LzhqhYZFy0abvZ/8Apv71UjAY9tRkE6GPJ3un1so1ek8nuAlwJIgEw8agx8Lh9+ayxSrpjw5oc0yCJBVVU4YG1jVaBDpJ6O09DJPipnCMDiM3dov7OoC4tMTTfvbWD03vuVb0eFPe7IcjZmzniY3sJNlnlqxjFEi742iGPcwHMWmCR7s7gb2t6rgtbIREQEREBERAREQEREBERAREQEREBERAREQFZ4StmbG4+myrF7pVC0yFZdNXLx9eP6rGsJ8RoodZuYfvVSg8ESFwrDcef75rs4eTXa+HlcmFveeYyPEuHkEnWd1Wh+Svm/qBPgQM3ylbHFsDgstjsKczjG/0ssuXi23cHL27o3DTkrVWH3HEsPndp8jHkSu3DMf2DnNd7pdB6HY+W/QlQcQDmM7wflH2Xfh/DnYquGSRmguIEmBY+ZtHUhcdxsehOSXys+LYk08r2GC11j5GfJevaar/AG2hQfSY5z3ZmPa0FxBsdtrTfYrQYz2aoUKLQQ/EfxMozugWa6LNibjLBKmYZtYDJh8OKbRMBrIHmXQ2fGIWn6uHy3TDKqHh/shXq029uRSDWltu87JOYT8IgufudRZWjPZnA0iDUcXmZvUJju8qcWgK1ZwSq8TWrZZMlo7x0AvByzbXb6SqXCMOy5DnnXvO3392Foz9Zxzx3bsfS53yquFdixxZTpNcb9/IGwwe6HakkSG6idYFwp7OLFhc4Q4saYaYgmLTyAhfOKcSpMp5KYa2TctEAHkIu5yzTQSc2cOzgjKwyG7y4nbKNtyY1W/HO3HdndzdO8+17T/W9f7SNDGnUkDaBJA5rO/7ec42zCO80Fvdklw96DMXm+hEahUn9vLu72YvlAnZ0Hqfly6qZTYGtDRtcnmTEn0AA6AKzu2W6ffn+5PzREWTAREQEREBERAREQEREBERAREQEREBERAREQEREHSlVI8OX73XZzpuFFX1roWWOWmnl4Zn3nl4rqvrAFWboPTwXB2DB1J/7f16rpw55I4r6fPfhnMVw0veMvIADeZJ+62HstwXsRcAudcnkQRl8hfXU9AuNCkxu21419dvJSnY8xDRlH18Vyep5s8508c/l3+m4JL1ct/hoDjGsEAwodfi45yqJ1QnUryvOx9D+avSy9Z+WJOJ4+c+QNJcRPIageMSRcAxfkqriXEaxgAZpMQ2YBgHUjvWM6RZdcXhG1BDh4EWI8CvNLAtGrnuMzcgA2AJMRJOUfPmunD02GF3I58+fLOaqEwVSD3b9HGY3EkQL8vJc6OFr3AAY0m8ukkXtIkxdXIEL6t+o1bR8Nhct3HM6ImI9ApCIqgiIgIiICIiAiIgIiICIiAiIgIiICIiAiIgIiICIiAiIgIiICIiAiIgIiICIiAiIgIiICIiAiIgIiICIiAiIgIiICIiD/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40" name="AutoShape 2" descr="Resultado de imagen para sistema termodinamic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4" descr="Resultado de imagen para turbin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9" name="AutoShape 6" descr="Resultado de imagen para turbin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10" name="AutoShape 8" descr="Resultado de imagen para turbin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11" name="AutoShape 10" descr="data:image/jpeg;base64,/9j/4AAQSkZJRgABAQAAAQABAAD/2wCEAAkGBxMTEhMUEhMVFBUUFxcYGBgYFxUZGBoZHhgYGhcfGxobHiggHholHxccITEkJSkrMC4uHB8zODMsNygtLisBCgoKDg0OGhAQGywkHCY0LCwsLC8sLCwsNCwsLCwsLCwsLCwsLCwsLCwsLCwsLCwsNSwvLCwsLCwsLCwsLCwsLP/AABEIAK0BIwMBIgACEQEDEQH/xAAbAAEAAwEBAQEAAAAAAAAAAAAABAUGAwIBB//EAEMQAAEDAgQDBQYEAwUIAwEAAAEAAhEDIQQSMUEFUWETInGBkQYyQqGxwVJy0fAjM2IUQ4Lh8RUkU3OSorLCY3TSB//EABkBAQEAAwEAAAAAAAAAAAAAAAABAgMEBf/EACgRAQEAAgEDAwIHAQAAAAAAAAABAhEDEiExBEFREyIyUmFxgZGhM//aAAwDAQACEQMRAD8A+oiICIiAiIgIiICIiAiL6QRqg+IiICKXheF1qhhlMnvAG+k3kxMCOasX+y2KbBFLOTPdD2gdCXHTwAPkro2o0Wsw3DMMaooupVgYMuLXZJiYzEiT+WV74n7Isa0Op1mtnTORlJmwBkEct/BNJtkEXH+1s7TsxcjN3gWFpgbQTZdlFEREBERAREQEXptMkEgWbqdh58+Q1OykNw7SCQ7ugd5/wjoPxHUdCggYquGNLjoI+Zj7rzhcSHmBHS9yNoGvrCrfabEACm1pDg7M42IIiWtkG4vPoo3BMU6SKRu1pcAY192OehmxmyitEi9VBBPiV5VQREQEREBERAREQEREBERAXcUmiMx1E225KFij3Y52289dV1LJABmJFySDbX18ELZPKQcgOhItrM/ay+Meb5Wg/wCGYXGiWNMw0mIvPXp4fPmrvhvEQYDmMIJhsCCdtdCZ2stefXJuTZhycdurdINLC1jpmA8f0UjCcCfeXS07HY82nadwtE7E02iYnpofOVxp8SL3EUoMC+51tfSNdlzTLnz8TTq1w4++0WhwBu4lSDwfDgw5rJMmLT1t5rjxCpXawksq1AZnswHHwgEGNtNlhsf7cOL8lKlJBh3aOgi4nuDfxPJWcGe95Z/0xvLhZqY/22xo4YEmmYLSRLJBBGtxdd6ftWcPZ7zVbcNDrvBH9Q1t+K/VZzAPmnEz2meYAEVMxfoNJn5qv4w8EF3Msqevdf8ANdctk15cv0sZl1Tt+nssOKf/ANDr1YbTaGNcSJ0I8IMh285lSYSu55rmq5zywUsrnEucJcZ7xkz3RvdVTB32jk8qbgnkVK4G9IHzDx+pUbYk8D9+sPE+n+qsFX8E/m1esj7/AGVgrEyERFWIiKThsG5xbYjN7oALnu/K3UjqYbrdBHY0kgAEk6AXJ8lNoYGxc8gNb7xLstNv56nP+lkuPQrhj+K0MMC3+Y/QsY6Widq1Zuv5GQLXMrOcdxtWo/JWe0lshrG92m0SRDGgDlrHjMq9oaW2N9qabTlwuVzhpVeGgM/5VMnu/mMuPRVmCxuQu97+IH5xm99zjLnwY70/ENL3UHD03OJBJs0kD3eQEzBi/wCEg81bYDAhjgKhdRc6Cx8NyE696BpfbS3nPK+A8PpVWlzGucBEvDpjxuXR1iIm6Yn2YcB2jA2qw5C0h2jhVYSJdGUkBwm243hXlKmXvLQBQx1IZmkWZXb9LgfKdiGyMFjwAa7GQ2cmKoR7p0zhp22+R0MXSbQK2Hptux73EkyCZb8/suasOL4AUyHMvSqXYddpifpOxG8qvUBERAREQEREBERAREQEReqbJMc0LdPbKM6+nX9F6qM9VMbTUd95PP6bfvqt/Fh1V53Ny3y4HDktJFgLE/vdSMF3MOI5mOev6qPgKhitOhykfMH7Ke2hNGmB8Ux5uP6qc2Vt06PT4THHfussJQigCdSJ9b/RSuEYTsmF29QyfD4fufNTMRQBcymNPt/oFG49i8oDWjvGAAPQLQ7EjB44vqZBtcnkFS+1/AXVWZ2htSowgtdHfiYcOZEHTmAYsrvhWE7FkTL3XeeZ5eA/eq+Y/iTR3Rd50j96oj8/pYo+DiYPSo27fUWUbH1g4GNDMfleMzfR7SFo/afB9yo57C2oGlwcNSWiRfR0fLosOKdWsYaCOgEm5DvSZjxTQ80bvBkXLTqOX6qZRaO1q/8AJP8A5tXGvgxQGapVaHN73Z5ml7oMwGjTXddH5hUig6dWue0NjX3czgRMi4EwdVBI4fmbUqP2YS53MCCJI1HpsrDgT6mIa57KcUxo99mn8u7vK3VV+F4i3Dtq1nmXCo+m8d6MwdmpgXAgAmI0k7lccf7Xvrdm1pLWCZB7zokRpAIgn3gDYXMrDLHbbhn0d5O/z5XIdL8pqMIMwdBbW/qu7KAIs9s/mb577fPa5hUOGJGUuq9lUJMkyBsPeE6AxEGLabdKfEnsJaHB1Rxzsc54DTtLSQBeIvCyxkxmpGGdyzvVbutM3DNptzuDiBuKbqjieTKQH/dUgcmyqTi3GKzmPDab6DHatJirUM27Wo+CR/SLdBquOP4jiXspPbVfTLpY4ZzJewgENMgNkEW+UKJVFc5XuqEESJqOc33hBymJ0OtiOlis7WGnAQQAHsZYmJOWefzHXrdesPg21peZc6AJ3gaXd4/vVXXCOHuqsJZRotcGAuqODnFzQ4tIbIsRlBta8wVWU8VUa2swsyvphzmzBzAjuutbLYjyItECK68OpU2OINIOa0kEdJykg7GRr9Fb1KbGAMec+Gre486sdexOxF/n/UD+ct4jiaeJa9jg6wzBxsdZknQ9dL8l+i8PqU6rMv8AdYiw/wDjqjSPP7LKMa5ilUdNAn/eMP36Dxq9o+G/ONDoRf3TPf8A2i0dljmjuP8A4WKZtexJH6/0j4iold7+zFT+/wAG/K6/vMmPEiPkHndTsJSY7EVKM/weIUjUZ/TUiXRyOrvHLqqi+weDGWphCZaRnoOPLVpnoTB6OPNZlzSCQRBFiOR3UvhONcMNTe7+Zgqxo1B/QDl57Alo1+LfSV7T4fLWLhpUAf56O9SJ81iqpREQEREBERAREQEREBS8AySTyURWXDm90nr9grGrmusXWsIafT1soGJqhsZvdkA+CsMToOp+xP2VRxRsiBuuzhn2WvMz3c5E2nSu8Dl91bYWl/Dw52Dmz5PUHhQGdk/GzL5wD9QrZgDQaLrF0lnU7jx3XO9TFaYW9d07NJHqB91HNEGsajvgs3xO/kPquvD3l4J0rMEPHOdCOhj1BVNU4kezrTZ1N1/Ajun5H0Wqt3skcQ4g4uFKiM1R2gG3MnkOqs+DcCbT7zznqHVx0HRo2HXU/JReB4cUaQe7+ZUAc8nUA3DfAfWeig8T4/fKHa2AGp9FP2E3jLGjNTfD2nUa/wChWH4h7PdpA7eqWXloIaOksYGtPpstIMJiHDM6mabT+Ox/6dfUKPiqBZBmWkxmGx6jY8ucJCsNxHg5wlFzqbGOY735BdlEkTqI8QLSZhaLG0yGnugFl4Glth0VsJvP+LcdD4beEFRMVSh0jeZ8d0sJWY9oKLGsuwtz1XHNL3SS0RDQ2IcGTrHeVNheH5KjCzOQ6SZHuQNpIcTOkDkVr8bh2PNJhpsuASYILjL6YzQRmAa0e9P0RuEaxuXLNOQYicpI+uV3zhNG2dbgWF1TvFxIeGOhoYSNJuSNbEi8LjJewNHaONId0iTI/DOWMoOhnUla4UGzoDyPP9D1CkUcMCdLfQn7HcfsXpTbJkva2HBlJgyuhx77zmDX5R7pcA1zi0SYIiSuLX0ZFUuqOOQZWmWDNlvfcEiwvrFlucRwllVmVwHiQHQdJ8RpOseCtuDeyOGLO0LG5ySHWl2YG8k3Pir0ptkvZ6s6IJkWiHSBYb+R3sZI0gzONcLLqXcJDgZYZiHwbGPxCR0cOi0fEOCNa4OYAAbO8OflEqM6lIe0m5ZmF9wYPnIafMq9h+UN4NUcC2mABMWa0E3PIxpFp3C03srgHszUDIztLmdHsvbrbRXb+J0acSACdb84Fzt3iFUN9pGHFUnNAgVWm3Iw0+pJUGgcwOr0XkHJi6Rp1B/UBvblLdOflU0y9mFpuN6mAxYHxXaXwQLfE4gRuArLiNYCkDP8nFAieU5ieW/+iiYkjPxJkCHsbUiLS1od4ayoLarhAMbjaQ93FUBUbrGZum0a5jryTHVBVwWFqTJb3CbHYjYn/h891wZiv4vDas97szTOl4pkH5umy90z/ulVl/4dQgTOzmxr0d0RVUiIiCIiAiIgIiICIiArXAjuDxP1VUrXBHuDz+qyx8tHqPwmKd7vn9FWVa8PAOjreB2/RT8Y73fH7H9FS8QvELs4/wDm87v9WVeYYBzI0LTbnzBXV/EmGKWMBaHWZW0aDtP4TMd7TwXOAabXssSNtjuPVZTj3tRVYHUKtNlWW92e65p2JixHS3iua+dvSxrbn2hZhXsOKqBtSk4Mc7/i0XWzADVwgEgbtH4lS4rjeHr1anYVJFVtQZdHd05mkt27s6r8zr4eu/vvJMAASZho0A5AclywjqjCS1zmm4OVxBM63Gyxs34bJlp+01cY/FGlTpHKXsa5zvwNyguMecRzIVthaNDCD+GJedXuu8+ew6CAvz72U4xlJc1r2sp0W08zzmzGW/EAJPck+KtW1cTiO/TaAw6Oe7KD4WJI6wtVns2ytHiuNl2qq6mK13BsRsQuWF4U7+9qt8GyfmY+imuwtIQDpuTJ+46qzSXbnSAc23eyiRzy7gwNRYza3oqvi9V1MEtgzYTABOrLkgAkWkk6WBJVycK2mZGkg3i7SNQD4mDB0XGrRbMPmAY5Hm03vaSNDYlVGH4lxp5awspuFRrBYwWyXuzCRckEkaC4Vth8ZnpseQQKgNiJIM94Abum88ssK4xXGMHTZEMJIIMGZPoL67BZXBccD8zWtblFW0gm5aJ0IOwtPkg0OEoE5LENqAwYcIPmOk+EBTcPYAkRaDpqDymxiR4DqqTDcTJaLt7rjlNpAyiwLu8BtEjlfRfTjWzr8UCLDQ/qmzTUms0bzqN9QfDlGnJTOFcYDS8SAO6Z8o+3zWMHFQOWxnxdA+iz2M4hUe+GVGw7KMlpy5c0yJkwG2tbMpsb7j3tA1zXU2Ol52Gov00UAY2QCT8TvTuFZ+pToBhb/Z3ZzoS4hsxEkSAR0i/nK9UWue3JT7z2WgToZ8hAt5DSbhW8ToueXEOENPmG9JFjccrQbzCo8KGDFUmBvfL2mziZ5kzO08tFqGYXsnPNZwlwEtJZYaFpDSTEGLleqPCKFN7KjDdpOUnaYIvrz1nXxQW3FHTSrdagb5wBpovmKdNbF/8A13g6/hBGvQqM+uHdkwb1M7vIfWPoF4q4kZcVU/ERTbG+xj/DBVFhhXSeHC9y92/Jp+k6/qrfhLWOo187srTVeZ8Cw262Pz11VRTIZWpDbCYcuP5i3LG2tjt8rSsO3LhKYJ94yfE3Hn3vkoqNUiTlmNp1jr1Xld6zGNbTg5nPGaNMrOfOTsuCSpYIiKoIiICIiAiIgKzwTu55n9fuqxTsAe64eB+v6K4+Wnnn2OPEKmnQ/wCX3VW+tBkiQrDHjX19Lqvqs1Xbxd8bHnZXWUpjMc6jTe9riGgFx0INtptJWGp4wvqF1Qy5xknnyHkNlrcVgnYii7DB7aZqQGPcSAHZgWtJ5OIy+e+iwdHDvpveyoIcxzmm9g5riDcdQVzcl1dPS4pubX1fEF1vkmH4ZUfo0rvw7EURGYhavC+0+FpNgZZWP1Phn9NT4PgtVog1DSYbm9ifDSYm/gtCOJ1H92k0OA5OZAHroqTiftjSqd3KXDk0kHyIULhftTQacrKRcXHVwYT6yfstdu+7OTTXYRlaoR3qYn+omPQK5xPAsQwTmpvGUOs4gxf8QA258lm+HcVZ2ga2kGvdoGtbOkn3dFoXcULgWyQcsRf5gornhq5bNGq1zHOb3Zm4uYESDqYjc9VFxdSR+ZrOm46DmveKaCBIbF/dEcvQ6X/RQcQ+zeeVp25tPTkiMvwbDVHua+q7uEimBAInMRm7xdMGPQ2XbiOBLh2jAM7CQ9oHvcnRubX/AMlY8XexlMUphwETrHM2AVFxStVD6jKdQ1Gnsw0huUPIaYs74vevAMtEaBXweXVsgNLiQZLHDUkmTqN+ZPjyXLE4ltOm0ukycoJMghrjBIAjWLAyZjaV84bUo1I7V1SGS45IaItOaxNhPLddKeEL89IU+7TqOGUHQQ03M5vLobSFFcW12SwvaHNc4h7HEkNpmSTe06Ni2ql8RFWllAcMknK7u3A7wJy3jW0WsvL8EwUy0kEMc0ZZa2xGUm4IMRfwJFzCl8HfUa5rS60QyZtM92Y93aD1veFBT4rGw4gy3KQRlHeuZnOG6i/O3Iq64RhS1jmS0udBcO0yv2MguBB1mLKyxuM7MF76VENbEuNKmYG5s0lZvH4ik+qQQ99Rzsw2p3Etc4Ag2bAjYeJRXdvCzAtUeQTLC1rTBIklpJLpEjuk6aLlUrOe+HAgMIETckXIg7g92SYG6kcP9mWnLinve2XQxlv4gaIcSdm2AtqZiIU9/DaZ2j99dfNPJvStbSaZAFsoMMzHMdvX4dzlzGzlIw2EcXQ0yAZ2ylwnM4chn0PIPOy7u4cTPfHoR4yROulgOsqdSowP5hBtdoiIjSRrYeGwCmqu4nngbKNI1cS/vPguEnM4xZsTc9NlT0w97SHd1uYuDdbmxtsAAB1ud11ZRg5nOc934nmT5bDyXVWY/LG5fDxTZE3JJ1JuT4r2iLJiIiICIiAiIgIiIClcPd3o5iPv9lFXuk/KQeSRjnN42J2Joyqp9OPKyvyJUHE0bnqJ8xY/ZdnBfu08nl/Dtn8Uym9jmPsCCDNpB5FY1zxSmmQC24a6IBGxW44nh1QcVwzWsLnAHYDm46emvksefjdnpea2d2extFpu1Vb2wrV2CPZvqZoDSBcak7DyXJ/CKuvd/lCtqZDTl1tr3guWT5dnVvxHPhbj2jSHikQZD3TDSASJgG0wNN1t8BicRSd/vGR++em4T5gtDSPRZ/BcM7Ke1LS0ODajSxrgGuEsc1xuIidBpCv8NLCKDxZtmOGwGx/p5cvoI2HAcW2o7Mas7NkRffw8k4xLDDrg+67xN46gKPgKTcgay1odB96d/HkVX4bijg5+FxV8tw7T8rgfhN9dNQd1FT2Yn4HGMwF5FnatJ6deRK5NxAY4l3vAEMETcWuN9Y2idtVBxgLXNzmBBEgWPVpGkzMbGYOhMOtUpmMxqPgRqKYPjGZx/wCoJtdPld2asXywNhvaNzS6SYHZt5k6Alu/gpHHHCmzQEOAbrGUgy10jkZH+IrxhcTSpCWUaTTNiQXuJ096oXGVL4fgKVQZnsa46EXgHUy2YnfrM7rLG77McppmsTh6j4yMc5rhYNlzRAObSwgj0hS6AxQbmMMaIHetUaOcn4TvJ8gtjQw9MuaKgOSRIaALDQADZZvF8Rbi8Q0BgZSbOVm4guAzEXzHuyJ6KWeyy+6qa11RjmUW5yQy41Fy46C2nz8lY1MBWyw6bNHxCZ21M7yrajSawQxoaOQAA+S9rHS9Spw2DqZ3CpLmVWlryXTEix1mxMeqlO4VSzF0HMdb2/X5qYiuk6q91KhdE7ANA2AGgA2C8IiqCIiAiIgIiICIiAiIgIiICIiAiIgtcDUlscvpsvuIbaeV/wBfkoGDrZXX0NlaFbcMtd3n8+GsrPaqrG0QRz3WS40C86QG6D6nxW2qsiR5jw/y/RUfFMHuu7KTPHqjk4srhl0VkcbSJZSpDcl5/M45W+gaFYYmDiMXHu06HZjwz0x/6qLjO7WJ2aW/KF0w4nE4wfjbUaOpBD/o0+q8/LHVevhlKkUWZnU2H++w1MDq9rGkf+LvVSuHYnP/AAn2qMEA/iaP/YfMX5qrpPL8M1zTD8M+J3AnMw+sj/CrKowVQzEMEH4gPhcNf1HQhYti64S2oyYaXAAugamLmOqmcbw7MVhW4mh3nsbmkfFSNzY3lvveGZfeCcQGZsQH6x4RPlf5qiqcWfgsfVJMUBTD2s+EtLnEiOhzNjkAsVQ8FxQ1GOou+IA0idnwXNb4Ou3xcvnCKTapAc9wzaRH4Q4ag9fRRuOUGU67ux/l/wAOpTj8BJiPC7fFqjYfFFpzbgz5teT9CU0ba5/BmsEgl1tXHb6LzhqhYZFy0abvZ/8Apv71UjAY9tRkE6GPJ3un1so1ek8nuAlwJIgEw8agx8Lh9+ayxSrpjw5oc0yCJBVVU4YG1jVaBDpJ6O09DJPipnCMDiM3dov7OoC4tMTTfvbWD03vuVb0eFPe7IcjZmzniY3sJNlnlqxjFEi742iGPcwHMWmCR7s7gb2t6rgtbIREQEREBERAREQEREBERAREQEREBERAREQFZ4StmbG4+myrF7pVC0yFZdNXLx9eP6rGsJ8RoodZuYfvVSg8ESFwrDcef75rs4eTXa+HlcmFveeYyPEuHkEnWd1Wh+Svm/qBPgQM3ylbHFsDgstjsKczjG/0ssuXi23cHL27o3DTkrVWH3HEsPndp8jHkSu3DMf2DnNd7pdB6HY+W/QlQcQDmM7wflH2Xfh/DnYquGSRmguIEmBY+ZtHUhcdxsehOSXys+LYk08r2GC11j5GfJevaar/AG2hQfSY5z3ZmPa0FxBsdtrTfYrQYz2aoUKLQQ/EfxMozugWa6LNibjLBKmYZtYDJh8OKbRMBrIHmXQ2fGIWn6uHy3TDKqHh/shXq029uRSDWltu87JOYT8IgufudRZWjPZnA0iDUcXmZvUJju8qcWgK1ZwSq8TWrZZMlo7x0AvByzbXb6SqXCMOy5DnnXvO3392Foz9Zxzx3bsfS53yquFdixxZTpNcb9/IGwwe6HakkSG6idYFwp7OLFhc4Q4saYaYgmLTyAhfOKcSpMp5KYa2TctEAHkIu5yzTQSc2cOzgjKwyG7y4nbKNtyY1W/HO3HdndzdO8+17T/W9f7SNDGnUkDaBJA5rO/7ec42zCO80Fvdklw96DMXm+hEahUn9vLu72YvlAnZ0Hqfly6qZTYGtDRtcnmTEn0AA6AKzu2W6ffn+5PzREWTAREQEREBERAREQEREBERAREQEREBERAREQEREHSlVI8OX73XZzpuFFX1roWWOWmnl4Zn3nl4rqvrAFWboPTwXB2DB1J/7f16rpw55I4r6fPfhnMVw0veMvIADeZJ+62HstwXsRcAudcnkQRl8hfXU9AuNCkxu21419dvJSnY8xDRlH18Vyep5s8508c/l3+m4JL1ct/hoDjGsEAwodfi45yqJ1QnUryvOx9D+avSy9Z+WJOJ4+c+QNJcRPIageMSRcAxfkqriXEaxgAZpMQ2YBgHUjvWM6RZdcXhG1BDh4EWI8CvNLAtGrnuMzcgA2AJMRJOUfPmunD02GF3I58+fLOaqEwVSD3b9HGY3EkQL8vJc6OFr3AAY0m8ukkXtIkxdXIEL6t+o1bR8Nhct3HM6ImI9ApCIqgiIgIiICIiAiIgIiICIiAiIgIiICIiAiIgIiICIiAiIgIiICIiAiIgIiICIiAiIgIiICIiAiIgIiICIiAiIgIiICIiD/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13" name="AutoShape 2" descr="Resultado de imagen para sistema termodinamic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25" name="Rectangle 1"/>
          <p:cNvSpPr>
            <a:spLocks noGrp="1" noChangeArrowheads="1"/>
          </p:cNvSpPr>
          <p:nvPr>
            <p:ph type="title"/>
          </p:nvPr>
        </p:nvSpPr>
        <p:spPr>
          <a:xfrm>
            <a:off x="762000" y="806491"/>
            <a:ext cx="8382000" cy="1066800"/>
          </a:xfrm>
          <a:ln/>
        </p:spPr>
        <p:txBody>
          <a:bodyPr>
            <a:normAutofit/>
          </a:bodyPr>
          <a:lstStyle/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MX" sz="3000" b="1" i="1" dirty="0">
                <a:solidFill>
                  <a:srgbClr val="C00000"/>
                </a:solidFill>
              </a:rPr>
              <a:t>EJEMPLO ISOTÉRMICO (T constante): </a:t>
            </a:r>
          </a:p>
        </p:txBody>
      </p:sp>
      <p:grpSp>
        <p:nvGrpSpPr>
          <p:cNvPr id="26" name="Group 2"/>
          <p:cNvGrpSpPr>
            <a:grpSpLocks/>
          </p:cNvGrpSpPr>
          <p:nvPr/>
        </p:nvGrpSpPr>
        <p:grpSpPr bwMode="auto">
          <a:xfrm>
            <a:off x="762000" y="5715000"/>
            <a:ext cx="2590800" cy="768350"/>
            <a:chOff x="576" y="3408"/>
            <a:chExt cx="1632" cy="484"/>
          </a:xfrm>
        </p:grpSpPr>
        <p:sp>
          <p:nvSpPr>
            <p:cNvPr id="27" name="AutoShape 3"/>
            <p:cNvSpPr>
              <a:spLocks noChangeArrowheads="1"/>
            </p:cNvSpPr>
            <p:nvPr/>
          </p:nvSpPr>
          <p:spPr bwMode="auto">
            <a:xfrm>
              <a:off x="576" y="3408"/>
              <a:ext cx="1632" cy="484"/>
            </a:xfrm>
            <a:prstGeom prst="roundRect">
              <a:avLst>
                <a:gd name="adj" fmla="val 204"/>
              </a:avLst>
            </a:prstGeom>
            <a:solidFill>
              <a:srgbClr val="FFFFCC"/>
            </a:solidFill>
            <a:ln w="38160">
              <a:solidFill>
                <a:srgbClr val="000000"/>
              </a:solidFill>
              <a:round/>
              <a:headEnd/>
              <a:tailEnd/>
            </a:ln>
            <a:effectLst>
              <a:outerShdw dist="107933" dir="2700000" algn="ctr" rotWithShape="0">
                <a:srgbClr val="4D4D4D"/>
              </a:outerShdw>
            </a:effectLst>
          </p:spPr>
          <p:txBody>
            <a:bodyPr wrap="none" anchor="ctr"/>
            <a:lstStyle/>
            <a:p>
              <a:endParaRPr lang="es-CO"/>
            </a:p>
          </p:txBody>
        </p:sp>
        <p:sp>
          <p:nvSpPr>
            <p:cNvPr id="28" name="Text Box 4"/>
            <p:cNvSpPr txBox="1">
              <a:spLocks noChangeArrowheads="1"/>
            </p:cNvSpPr>
            <p:nvPr/>
          </p:nvSpPr>
          <p:spPr bwMode="auto">
            <a:xfrm>
              <a:off x="576" y="3408"/>
              <a:ext cx="1632" cy="4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182880" tIns="137160" rIns="182880" bIns="137160">
              <a:spAutoFit/>
            </a:bodyPr>
            <a:lstStyle/>
            <a:p>
              <a:pPr>
                <a:spcBef>
                  <a:spcPts val="1875"/>
                </a:spcBef>
                <a:buClr>
                  <a:srgbClr val="4D4D4D"/>
                </a:buClr>
                <a:buSzPct val="100000"/>
                <a:buFont typeface="Tahoma" pitchFamily="34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 sz="3000" i="1"/>
                <a:t> P</a:t>
              </a:r>
              <a:r>
                <a:rPr lang="es-MX" sz="3000" i="1" baseline="-25000"/>
                <a:t>A</a:t>
              </a:r>
              <a:r>
                <a:rPr lang="es-MX" sz="3000" i="1"/>
                <a:t>V</a:t>
              </a:r>
              <a:r>
                <a:rPr lang="es-MX" sz="3000" i="1" baseline="-25000"/>
                <a:t>A </a:t>
              </a:r>
              <a:r>
                <a:rPr lang="es-MX" sz="3000" i="1"/>
                <a:t>=</a:t>
              </a:r>
              <a:r>
                <a:rPr lang="es-MX" sz="3000" i="1" baseline="-25000"/>
                <a:t>  </a:t>
              </a:r>
              <a:r>
                <a:rPr lang="es-MX" sz="3000" i="1"/>
                <a:t>P</a:t>
              </a:r>
              <a:r>
                <a:rPr lang="es-MX" sz="3000" i="1" baseline="-25000"/>
                <a:t>B</a:t>
              </a:r>
              <a:r>
                <a:rPr lang="es-MX" sz="3000" i="1"/>
                <a:t>V</a:t>
              </a:r>
              <a:r>
                <a:rPr lang="es-MX" sz="3000" i="1" baseline="-25000"/>
                <a:t>B</a:t>
              </a:r>
            </a:p>
          </p:txBody>
        </p:sp>
      </p:grpSp>
      <p:sp>
        <p:nvSpPr>
          <p:cNvPr id="29" name="Text Box 5"/>
          <p:cNvSpPr txBox="1">
            <a:spLocks noChangeArrowheads="1"/>
          </p:cNvSpPr>
          <p:nvPr/>
        </p:nvSpPr>
        <p:spPr bwMode="auto">
          <a:xfrm>
            <a:off x="4114800" y="5378491"/>
            <a:ext cx="4191000" cy="1492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>
              <a:spcBef>
                <a:spcPts val="1875"/>
              </a:spcBef>
              <a:buClr>
                <a:srgbClr val="FFFFFF"/>
              </a:buClr>
              <a:buSzPct val="100000"/>
              <a:buFont typeface="Tahoma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MX" sz="2500" dirty="0"/>
              <a:t>Lenta compresión a temperatura constante:   </a:t>
            </a:r>
          </a:p>
          <a:p>
            <a:pPr>
              <a:spcBef>
                <a:spcPts val="1875"/>
              </a:spcBef>
              <a:buClr>
                <a:srgbClr val="FFFFFF"/>
              </a:buClr>
              <a:buSzPct val="100000"/>
              <a:buFont typeface="Tahoma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MX" sz="2500" dirty="0"/>
              <a:t>-- No hay cambio en U.</a:t>
            </a:r>
          </a:p>
        </p:txBody>
      </p:sp>
      <p:grpSp>
        <p:nvGrpSpPr>
          <p:cNvPr id="30" name="Group 43"/>
          <p:cNvGrpSpPr>
            <a:grpSpLocks/>
          </p:cNvGrpSpPr>
          <p:nvPr/>
        </p:nvGrpSpPr>
        <p:grpSpPr bwMode="auto">
          <a:xfrm>
            <a:off x="457200" y="1797091"/>
            <a:ext cx="7772400" cy="3429000"/>
            <a:chOff x="384" y="768"/>
            <a:chExt cx="4896" cy="2160"/>
          </a:xfrm>
        </p:grpSpPr>
        <p:sp>
          <p:nvSpPr>
            <p:cNvPr id="31" name="AutoShape 22"/>
            <p:cNvSpPr>
              <a:spLocks noChangeArrowheads="1"/>
            </p:cNvSpPr>
            <p:nvPr/>
          </p:nvSpPr>
          <p:spPr bwMode="auto">
            <a:xfrm>
              <a:off x="384" y="768"/>
              <a:ext cx="4896" cy="2160"/>
            </a:xfrm>
            <a:prstGeom prst="roundRect">
              <a:avLst>
                <a:gd name="adj" fmla="val 46"/>
              </a:avLst>
            </a:prstGeom>
            <a:solidFill>
              <a:srgbClr val="800000"/>
            </a:solidFill>
            <a:ln w="38160">
              <a:solidFill>
                <a:srgbClr val="CC9900"/>
              </a:solidFill>
              <a:round/>
              <a:headEnd/>
              <a:tailEnd/>
            </a:ln>
            <a:effectLst>
              <a:outerShdw dist="107933" dir="2700000" algn="ctr" rotWithShape="0">
                <a:srgbClr val="4D4D4D"/>
              </a:outerShdw>
            </a:effectLst>
          </p:spPr>
          <p:txBody>
            <a:bodyPr wrap="none" anchor="ctr"/>
            <a:lstStyle/>
            <a:p>
              <a:endParaRPr lang="es-CO"/>
            </a:p>
          </p:txBody>
        </p:sp>
        <p:sp>
          <p:nvSpPr>
            <p:cNvPr id="32" name="AutoShape 7"/>
            <p:cNvSpPr>
              <a:spLocks noChangeArrowheads="1"/>
            </p:cNvSpPr>
            <p:nvPr/>
          </p:nvSpPr>
          <p:spPr bwMode="auto">
            <a:xfrm>
              <a:off x="624" y="968"/>
              <a:ext cx="122" cy="1347"/>
            </a:xfrm>
            <a:prstGeom prst="roundRect">
              <a:avLst>
                <a:gd name="adj" fmla="val 630"/>
              </a:avLst>
            </a:prstGeom>
            <a:solidFill>
              <a:schemeClr val="accent1"/>
            </a:solidFill>
            <a:ln w="9360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s-CO"/>
            </a:p>
          </p:txBody>
        </p:sp>
        <p:sp>
          <p:nvSpPr>
            <p:cNvPr id="33" name="AutoShape 8"/>
            <p:cNvSpPr>
              <a:spLocks noChangeArrowheads="1"/>
            </p:cNvSpPr>
            <p:nvPr/>
          </p:nvSpPr>
          <p:spPr bwMode="auto">
            <a:xfrm>
              <a:off x="1111" y="968"/>
              <a:ext cx="122" cy="1347"/>
            </a:xfrm>
            <a:prstGeom prst="roundRect">
              <a:avLst>
                <a:gd name="adj" fmla="val 630"/>
              </a:avLst>
            </a:prstGeom>
            <a:solidFill>
              <a:schemeClr val="accent1"/>
            </a:solidFill>
            <a:ln w="9360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s-CO"/>
            </a:p>
          </p:txBody>
        </p:sp>
        <p:sp>
          <p:nvSpPr>
            <p:cNvPr id="34" name="AutoShape 9"/>
            <p:cNvSpPr>
              <a:spLocks noChangeArrowheads="1"/>
            </p:cNvSpPr>
            <p:nvPr/>
          </p:nvSpPr>
          <p:spPr bwMode="auto">
            <a:xfrm>
              <a:off x="746" y="2186"/>
              <a:ext cx="365" cy="129"/>
            </a:xfrm>
            <a:prstGeom prst="roundRect">
              <a:avLst>
                <a:gd name="adj" fmla="val 606"/>
              </a:avLst>
            </a:prstGeom>
            <a:solidFill>
              <a:schemeClr val="accent1"/>
            </a:solidFill>
            <a:ln w="9360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s-CO"/>
            </a:p>
          </p:txBody>
        </p:sp>
        <p:sp>
          <p:nvSpPr>
            <p:cNvPr id="35" name="AutoShape 10"/>
            <p:cNvSpPr>
              <a:spLocks noChangeArrowheads="1"/>
            </p:cNvSpPr>
            <p:nvPr/>
          </p:nvSpPr>
          <p:spPr bwMode="auto">
            <a:xfrm>
              <a:off x="746" y="1527"/>
              <a:ext cx="365" cy="667"/>
            </a:xfrm>
            <a:prstGeom prst="roundRect">
              <a:avLst>
                <a:gd name="adj" fmla="val 208"/>
              </a:avLst>
            </a:prstGeom>
            <a:solidFill>
              <a:srgbClr val="CC9900"/>
            </a:solidFill>
            <a:ln w="936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CO"/>
            </a:p>
          </p:txBody>
        </p:sp>
        <p:sp>
          <p:nvSpPr>
            <p:cNvPr id="36" name="AutoShape 11"/>
            <p:cNvSpPr>
              <a:spLocks noChangeArrowheads="1"/>
            </p:cNvSpPr>
            <p:nvPr/>
          </p:nvSpPr>
          <p:spPr bwMode="auto">
            <a:xfrm>
              <a:off x="746" y="1285"/>
              <a:ext cx="365" cy="250"/>
            </a:xfrm>
            <a:prstGeom prst="roundRect">
              <a:avLst>
                <a:gd name="adj" fmla="val 310"/>
              </a:avLst>
            </a:prstGeom>
            <a:solidFill>
              <a:schemeClr val="accent1"/>
            </a:solidFill>
            <a:ln w="936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CO"/>
            </a:p>
          </p:txBody>
        </p:sp>
        <p:sp>
          <p:nvSpPr>
            <p:cNvPr id="37" name="Freeform 12"/>
            <p:cNvSpPr>
              <a:spLocks noChangeArrowheads="1"/>
            </p:cNvSpPr>
            <p:nvPr/>
          </p:nvSpPr>
          <p:spPr bwMode="auto">
            <a:xfrm>
              <a:off x="844" y="816"/>
              <a:ext cx="182" cy="485"/>
            </a:xfrm>
            <a:custGeom>
              <a:avLst/>
              <a:gdLst/>
              <a:ahLst/>
              <a:cxnLst>
                <a:cxn ang="0">
                  <a:pos x="261" y="0"/>
                </a:cxn>
                <a:cxn ang="0">
                  <a:pos x="261" y="2045"/>
                </a:cxn>
                <a:cxn ang="0">
                  <a:pos x="0" y="2045"/>
                </a:cxn>
                <a:cxn ang="0">
                  <a:pos x="523" y="2727"/>
                </a:cxn>
                <a:cxn ang="0">
                  <a:pos x="1046" y="2045"/>
                </a:cxn>
                <a:cxn ang="0">
                  <a:pos x="784" y="2045"/>
                </a:cxn>
                <a:cxn ang="0">
                  <a:pos x="784" y="0"/>
                </a:cxn>
                <a:cxn ang="0">
                  <a:pos x="261" y="0"/>
                </a:cxn>
              </a:cxnLst>
              <a:rect l="0" t="0" r="r" b="b"/>
              <a:pathLst>
                <a:path w="1047" h="2728">
                  <a:moveTo>
                    <a:pt x="261" y="0"/>
                  </a:moveTo>
                  <a:lnTo>
                    <a:pt x="261" y="2045"/>
                  </a:lnTo>
                  <a:lnTo>
                    <a:pt x="0" y="2045"/>
                  </a:lnTo>
                  <a:lnTo>
                    <a:pt x="523" y="2727"/>
                  </a:lnTo>
                  <a:lnTo>
                    <a:pt x="1046" y="2045"/>
                  </a:lnTo>
                  <a:lnTo>
                    <a:pt x="784" y="2045"/>
                  </a:lnTo>
                  <a:lnTo>
                    <a:pt x="784" y="0"/>
                  </a:lnTo>
                  <a:lnTo>
                    <a:pt x="261" y="0"/>
                  </a:lnTo>
                </a:path>
              </a:pathLst>
            </a:custGeom>
            <a:solidFill>
              <a:srgbClr val="FF6600"/>
            </a:solidFill>
            <a:ln w="936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CO"/>
            </a:p>
          </p:txBody>
        </p:sp>
        <p:sp>
          <p:nvSpPr>
            <p:cNvPr id="38" name="AutoShape 14"/>
            <p:cNvSpPr>
              <a:spLocks noChangeArrowheads="1"/>
            </p:cNvSpPr>
            <p:nvPr/>
          </p:nvSpPr>
          <p:spPr bwMode="auto">
            <a:xfrm>
              <a:off x="1488" y="1020"/>
              <a:ext cx="122" cy="1273"/>
            </a:xfrm>
            <a:prstGeom prst="roundRect">
              <a:avLst>
                <a:gd name="adj" fmla="val 630"/>
              </a:avLst>
            </a:prstGeom>
            <a:solidFill>
              <a:schemeClr val="accent1"/>
            </a:solidFill>
            <a:ln w="9360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s-CO"/>
            </a:p>
          </p:txBody>
        </p:sp>
        <p:sp>
          <p:nvSpPr>
            <p:cNvPr id="39" name="AutoShape 15"/>
            <p:cNvSpPr>
              <a:spLocks noChangeArrowheads="1"/>
            </p:cNvSpPr>
            <p:nvPr/>
          </p:nvSpPr>
          <p:spPr bwMode="auto">
            <a:xfrm>
              <a:off x="1968" y="1008"/>
              <a:ext cx="132" cy="1286"/>
            </a:xfrm>
            <a:prstGeom prst="roundRect">
              <a:avLst>
                <a:gd name="adj" fmla="val 630"/>
              </a:avLst>
            </a:prstGeom>
            <a:solidFill>
              <a:schemeClr val="accent1"/>
            </a:solidFill>
            <a:ln w="9360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s-CO"/>
            </a:p>
          </p:txBody>
        </p:sp>
        <p:sp>
          <p:nvSpPr>
            <p:cNvPr id="40" name="AutoShape 16"/>
            <p:cNvSpPr>
              <a:spLocks noChangeArrowheads="1"/>
            </p:cNvSpPr>
            <p:nvPr/>
          </p:nvSpPr>
          <p:spPr bwMode="auto">
            <a:xfrm>
              <a:off x="1610" y="2172"/>
              <a:ext cx="365" cy="121"/>
            </a:xfrm>
            <a:prstGeom prst="roundRect">
              <a:avLst>
                <a:gd name="adj" fmla="val 648"/>
              </a:avLst>
            </a:prstGeom>
            <a:solidFill>
              <a:schemeClr val="accent1"/>
            </a:solidFill>
            <a:ln w="9360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s-CO"/>
            </a:p>
          </p:txBody>
        </p:sp>
        <p:sp>
          <p:nvSpPr>
            <p:cNvPr id="41" name="AutoShape 17"/>
            <p:cNvSpPr>
              <a:spLocks noChangeArrowheads="1"/>
            </p:cNvSpPr>
            <p:nvPr/>
          </p:nvSpPr>
          <p:spPr bwMode="auto">
            <a:xfrm>
              <a:off x="1610" y="1808"/>
              <a:ext cx="365" cy="364"/>
            </a:xfrm>
            <a:prstGeom prst="roundRect">
              <a:avLst>
                <a:gd name="adj" fmla="val 213"/>
              </a:avLst>
            </a:prstGeom>
            <a:solidFill>
              <a:srgbClr val="CC9900"/>
            </a:solidFill>
            <a:ln w="936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CO"/>
            </a:p>
          </p:txBody>
        </p:sp>
        <p:sp>
          <p:nvSpPr>
            <p:cNvPr id="42" name="AutoShape 18"/>
            <p:cNvSpPr>
              <a:spLocks noChangeArrowheads="1"/>
            </p:cNvSpPr>
            <p:nvPr/>
          </p:nvSpPr>
          <p:spPr bwMode="auto">
            <a:xfrm>
              <a:off x="1610" y="1566"/>
              <a:ext cx="365" cy="242"/>
            </a:xfrm>
            <a:prstGeom prst="roundRect">
              <a:avLst>
                <a:gd name="adj" fmla="val 324"/>
              </a:avLst>
            </a:prstGeom>
            <a:solidFill>
              <a:schemeClr val="accent1"/>
            </a:solidFill>
            <a:ln w="936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CO"/>
            </a:p>
          </p:txBody>
        </p:sp>
        <p:sp>
          <p:nvSpPr>
            <p:cNvPr id="43" name="Freeform 19"/>
            <p:cNvSpPr>
              <a:spLocks noChangeArrowheads="1"/>
            </p:cNvSpPr>
            <p:nvPr/>
          </p:nvSpPr>
          <p:spPr bwMode="auto">
            <a:xfrm>
              <a:off x="1732" y="960"/>
              <a:ext cx="122" cy="485"/>
            </a:xfrm>
            <a:custGeom>
              <a:avLst/>
              <a:gdLst/>
              <a:ahLst/>
              <a:cxnLst>
                <a:cxn ang="0">
                  <a:pos x="174" y="0"/>
                </a:cxn>
                <a:cxn ang="0">
                  <a:pos x="174" y="2044"/>
                </a:cxn>
                <a:cxn ang="0">
                  <a:pos x="0" y="2044"/>
                </a:cxn>
                <a:cxn ang="0">
                  <a:pos x="348" y="2726"/>
                </a:cxn>
                <a:cxn ang="0">
                  <a:pos x="696" y="2044"/>
                </a:cxn>
                <a:cxn ang="0">
                  <a:pos x="522" y="2044"/>
                </a:cxn>
                <a:cxn ang="0">
                  <a:pos x="522" y="0"/>
                </a:cxn>
                <a:cxn ang="0">
                  <a:pos x="174" y="0"/>
                </a:cxn>
              </a:cxnLst>
              <a:rect l="0" t="0" r="r" b="b"/>
              <a:pathLst>
                <a:path w="697" h="2727">
                  <a:moveTo>
                    <a:pt x="174" y="0"/>
                  </a:moveTo>
                  <a:lnTo>
                    <a:pt x="174" y="2044"/>
                  </a:lnTo>
                  <a:lnTo>
                    <a:pt x="0" y="2044"/>
                  </a:lnTo>
                  <a:lnTo>
                    <a:pt x="348" y="2726"/>
                  </a:lnTo>
                  <a:lnTo>
                    <a:pt x="696" y="2044"/>
                  </a:lnTo>
                  <a:lnTo>
                    <a:pt x="522" y="2044"/>
                  </a:lnTo>
                  <a:lnTo>
                    <a:pt x="522" y="0"/>
                  </a:lnTo>
                  <a:lnTo>
                    <a:pt x="174" y="0"/>
                  </a:lnTo>
                </a:path>
              </a:pathLst>
            </a:custGeom>
            <a:solidFill>
              <a:srgbClr val="FF6600"/>
            </a:solidFill>
            <a:ln w="936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CO"/>
            </a:p>
          </p:txBody>
        </p:sp>
        <p:sp>
          <p:nvSpPr>
            <p:cNvPr id="44" name="Line 41"/>
            <p:cNvSpPr>
              <a:spLocks noChangeShapeType="1"/>
            </p:cNvSpPr>
            <p:nvPr/>
          </p:nvSpPr>
          <p:spPr bwMode="auto">
            <a:xfrm>
              <a:off x="2592" y="768"/>
              <a:ext cx="0" cy="2160"/>
            </a:xfrm>
            <a:prstGeom prst="line">
              <a:avLst/>
            </a:prstGeom>
            <a:noFill/>
            <a:ln w="57150">
              <a:solidFill>
                <a:srgbClr val="CC9900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es-CO"/>
            </a:p>
          </p:txBody>
        </p:sp>
      </p:grpSp>
      <p:sp>
        <p:nvSpPr>
          <p:cNvPr id="45" name="Text Box 20"/>
          <p:cNvSpPr txBox="1">
            <a:spLocks noChangeArrowheads="1"/>
          </p:cNvSpPr>
          <p:nvPr/>
        </p:nvSpPr>
        <p:spPr bwMode="auto">
          <a:xfrm>
            <a:off x="838200" y="4464091"/>
            <a:ext cx="2590800" cy="5869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ts val="2000"/>
              </a:spcBef>
              <a:buClr>
                <a:srgbClr val="FFFF00"/>
              </a:buClr>
              <a:buSzPct val="100000"/>
              <a:buFont typeface="Symbol" pitchFamily="18" charset="2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MX" sz="3200" i="1">
                <a:latin typeface="Symbol" pitchFamily="18" charset="2"/>
              </a:rPr>
              <a:t></a:t>
            </a:r>
            <a:r>
              <a:rPr lang="es-MX" sz="3200" i="1"/>
              <a:t>U = </a:t>
            </a:r>
            <a:r>
              <a:rPr lang="es-MX" sz="3200" i="1">
                <a:latin typeface="Symbol" pitchFamily="18" charset="2"/>
              </a:rPr>
              <a:t></a:t>
            </a:r>
            <a:r>
              <a:rPr lang="es-MX" sz="3200" i="1"/>
              <a:t>T</a:t>
            </a:r>
            <a:r>
              <a:rPr lang="es-MX" sz="3200"/>
              <a:t> = 0</a:t>
            </a:r>
          </a:p>
        </p:txBody>
      </p:sp>
      <p:grpSp>
        <p:nvGrpSpPr>
          <p:cNvPr id="46" name="Group 44"/>
          <p:cNvGrpSpPr>
            <a:grpSpLocks/>
          </p:cNvGrpSpPr>
          <p:nvPr/>
        </p:nvGrpSpPr>
        <p:grpSpPr bwMode="auto">
          <a:xfrm>
            <a:off x="4419600" y="1898691"/>
            <a:ext cx="3862388" cy="3052763"/>
            <a:chOff x="2880" y="832"/>
            <a:chExt cx="2433" cy="1923"/>
          </a:xfrm>
        </p:grpSpPr>
        <p:sp>
          <p:nvSpPr>
            <p:cNvPr id="47" name="Line 45"/>
            <p:cNvSpPr>
              <a:spLocks noChangeShapeType="1"/>
            </p:cNvSpPr>
            <p:nvPr/>
          </p:nvSpPr>
          <p:spPr bwMode="auto">
            <a:xfrm>
              <a:off x="3314" y="881"/>
              <a:ext cx="1" cy="1334"/>
            </a:xfrm>
            <a:prstGeom prst="line">
              <a:avLst/>
            </a:prstGeom>
            <a:noFill/>
            <a:ln w="3816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48" name="Line 46"/>
            <p:cNvSpPr>
              <a:spLocks noChangeShapeType="1"/>
            </p:cNvSpPr>
            <p:nvPr/>
          </p:nvSpPr>
          <p:spPr bwMode="auto">
            <a:xfrm>
              <a:off x="3312" y="2196"/>
              <a:ext cx="1795" cy="1"/>
            </a:xfrm>
            <a:prstGeom prst="line">
              <a:avLst/>
            </a:prstGeom>
            <a:noFill/>
            <a:ln w="3816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49" name="Text Box 47"/>
            <p:cNvSpPr txBox="1">
              <a:spLocks noChangeArrowheads="1"/>
            </p:cNvSpPr>
            <p:nvPr/>
          </p:nvSpPr>
          <p:spPr bwMode="auto">
            <a:xfrm>
              <a:off x="4800" y="1490"/>
              <a:ext cx="513" cy="3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ts val="1875"/>
                </a:spcBef>
                <a:buClr>
                  <a:srgbClr val="FFFFFF"/>
                </a:buClr>
                <a:buSzPct val="100000"/>
                <a:buFont typeface="Tahoma" pitchFamily="34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 sz="3000"/>
                <a:t>B</a:t>
              </a:r>
            </a:p>
          </p:txBody>
        </p:sp>
        <p:sp>
          <p:nvSpPr>
            <p:cNvPr id="50" name="Text Box 48"/>
            <p:cNvSpPr txBox="1">
              <a:spLocks noChangeArrowheads="1"/>
            </p:cNvSpPr>
            <p:nvPr/>
          </p:nvSpPr>
          <p:spPr bwMode="auto">
            <a:xfrm>
              <a:off x="3600" y="832"/>
              <a:ext cx="513" cy="3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ts val="1875"/>
                </a:spcBef>
                <a:buClr>
                  <a:srgbClr val="FFFFFF"/>
                </a:buClr>
                <a:buSzPct val="100000"/>
                <a:buFont typeface="Tahoma" pitchFamily="34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 sz="3000"/>
                <a:t>A</a:t>
              </a:r>
            </a:p>
          </p:txBody>
        </p:sp>
        <p:sp>
          <p:nvSpPr>
            <p:cNvPr id="51" name="Line 49"/>
            <p:cNvSpPr>
              <a:spLocks noChangeShapeType="1"/>
            </p:cNvSpPr>
            <p:nvPr/>
          </p:nvSpPr>
          <p:spPr bwMode="auto">
            <a:xfrm flipV="1">
              <a:off x="3656" y="1325"/>
              <a:ext cx="1" cy="891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52" name="Line 50"/>
            <p:cNvSpPr>
              <a:spLocks noChangeShapeType="1"/>
            </p:cNvSpPr>
            <p:nvPr/>
          </p:nvSpPr>
          <p:spPr bwMode="auto">
            <a:xfrm>
              <a:off x="3312" y="1255"/>
              <a:ext cx="384" cy="1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53" name="Line 51"/>
            <p:cNvSpPr>
              <a:spLocks noChangeShapeType="1"/>
            </p:cNvSpPr>
            <p:nvPr/>
          </p:nvSpPr>
          <p:spPr bwMode="auto">
            <a:xfrm>
              <a:off x="4767" y="1898"/>
              <a:ext cx="1" cy="317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54" name="Text Box 52"/>
            <p:cNvSpPr txBox="1">
              <a:spLocks noChangeArrowheads="1"/>
            </p:cNvSpPr>
            <p:nvPr/>
          </p:nvSpPr>
          <p:spPr bwMode="auto">
            <a:xfrm>
              <a:off x="2880" y="1067"/>
              <a:ext cx="384" cy="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ts val="1875"/>
                </a:spcBef>
                <a:buClr>
                  <a:srgbClr val="FFFFFF"/>
                </a:buClr>
                <a:buSzPct val="100000"/>
                <a:buFont typeface="Tahoma" pitchFamily="34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 sz="3000" i="1"/>
                <a:t>P</a:t>
              </a:r>
              <a:r>
                <a:rPr lang="es-MX" sz="3000" i="1" baseline="-25000"/>
                <a:t>A</a:t>
              </a:r>
            </a:p>
          </p:txBody>
        </p:sp>
        <p:sp>
          <p:nvSpPr>
            <p:cNvPr id="55" name="Text Box 53"/>
            <p:cNvSpPr txBox="1">
              <a:spLocks noChangeArrowheads="1"/>
            </p:cNvSpPr>
            <p:nvPr/>
          </p:nvSpPr>
          <p:spPr bwMode="auto">
            <a:xfrm>
              <a:off x="3485" y="2405"/>
              <a:ext cx="1795" cy="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ts val="750"/>
                </a:spcBef>
                <a:buClr>
                  <a:srgbClr val="FFFFFF"/>
                </a:buClr>
                <a:buSzPct val="100000"/>
                <a:buFont typeface="Tahoma" pitchFamily="34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 sz="3000" i="1"/>
                <a:t>V</a:t>
              </a:r>
              <a:r>
                <a:rPr lang="es-MX" sz="3000" i="1" baseline="-25000"/>
                <a:t>2</a:t>
              </a:r>
              <a:r>
                <a:rPr lang="es-MX" sz="3000" i="1"/>
                <a:t>            V</a:t>
              </a:r>
              <a:r>
                <a:rPr lang="es-MX" sz="3000" i="1" baseline="-25000"/>
                <a:t>1</a:t>
              </a:r>
            </a:p>
          </p:txBody>
        </p:sp>
        <p:sp>
          <p:nvSpPr>
            <p:cNvPr id="56" name="Text Box 54"/>
            <p:cNvSpPr txBox="1">
              <a:spLocks noChangeArrowheads="1"/>
            </p:cNvSpPr>
            <p:nvPr/>
          </p:nvSpPr>
          <p:spPr bwMode="auto">
            <a:xfrm>
              <a:off x="2880" y="1726"/>
              <a:ext cx="384" cy="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ts val="1875"/>
                </a:spcBef>
                <a:buClr>
                  <a:srgbClr val="FFFFFF"/>
                </a:buClr>
                <a:buSzPct val="100000"/>
                <a:buFont typeface="Tahoma" pitchFamily="34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 sz="3000"/>
                <a:t>P</a:t>
              </a:r>
              <a:r>
                <a:rPr lang="es-MX" sz="3000" baseline="-25000"/>
                <a:t>B</a:t>
              </a:r>
            </a:p>
          </p:txBody>
        </p:sp>
        <p:sp>
          <p:nvSpPr>
            <p:cNvPr id="57" name="Line 55"/>
            <p:cNvSpPr>
              <a:spLocks noChangeShapeType="1"/>
            </p:cNvSpPr>
            <p:nvPr/>
          </p:nvSpPr>
          <p:spPr bwMode="auto">
            <a:xfrm>
              <a:off x="3314" y="1961"/>
              <a:ext cx="1438" cy="1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58" name="AutoShape 56"/>
            <p:cNvSpPr>
              <a:spLocks noChangeArrowheads="1"/>
            </p:cNvSpPr>
            <p:nvPr/>
          </p:nvSpPr>
          <p:spPr bwMode="auto">
            <a:xfrm rot="9720000">
              <a:off x="3784" y="1150"/>
              <a:ext cx="796" cy="947"/>
            </a:xfrm>
            <a:prstGeom prst="roundRect">
              <a:avLst>
                <a:gd name="adj" fmla="val 125"/>
              </a:avLst>
            </a:prstGeom>
            <a:noFill/>
            <a:ln w="38160">
              <a:noFill/>
              <a:round/>
              <a:headEnd type="triangle" w="med" len="med"/>
              <a:tailEnd type="triangle" w="med" len="med"/>
            </a:ln>
          </p:spPr>
          <p:txBody>
            <a:bodyPr wrap="none" anchor="ctr"/>
            <a:lstStyle/>
            <a:p>
              <a:endParaRPr lang="es-CO"/>
            </a:p>
          </p:txBody>
        </p:sp>
        <p:sp>
          <p:nvSpPr>
            <p:cNvPr id="59" name="Freeform 57"/>
            <p:cNvSpPr>
              <a:spLocks/>
            </p:cNvSpPr>
            <p:nvPr/>
          </p:nvSpPr>
          <p:spPr bwMode="auto">
            <a:xfrm>
              <a:off x="3648" y="1248"/>
              <a:ext cx="1104" cy="67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9" y="115"/>
                </a:cxn>
                <a:cxn ang="0">
                  <a:pos x="101" y="228"/>
                </a:cxn>
                <a:cxn ang="0">
                  <a:pos x="155" y="339"/>
                </a:cxn>
                <a:cxn ang="0">
                  <a:pos x="213" y="448"/>
                </a:cxn>
                <a:cxn ang="0">
                  <a:pos x="273" y="557"/>
                </a:cxn>
                <a:cxn ang="0">
                  <a:pos x="337" y="664"/>
                </a:cxn>
                <a:cxn ang="0">
                  <a:pos x="402" y="769"/>
                </a:cxn>
                <a:cxn ang="0">
                  <a:pos x="471" y="872"/>
                </a:cxn>
                <a:cxn ang="0">
                  <a:pos x="544" y="974"/>
                </a:cxn>
                <a:cxn ang="0">
                  <a:pos x="618" y="1074"/>
                </a:cxn>
                <a:cxn ang="0">
                  <a:pos x="696" y="1171"/>
                </a:cxn>
                <a:cxn ang="0">
                  <a:pos x="776" y="1267"/>
                </a:cxn>
                <a:cxn ang="0">
                  <a:pos x="859" y="1361"/>
                </a:cxn>
                <a:cxn ang="0">
                  <a:pos x="944" y="1453"/>
                </a:cxn>
                <a:cxn ang="0">
                  <a:pos x="1031" y="1542"/>
                </a:cxn>
                <a:cxn ang="0">
                  <a:pos x="1121" y="1629"/>
                </a:cxn>
                <a:cxn ang="0">
                  <a:pos x="1214" y="1714"/>
                </a:cxn>
                <a:cxn ang="0">
                  <a:pos x="1309" y="1796"/>
                </a:cxn>
                <a:cxn ang="0">
                  <a:pos x="1406" y="1876"/>
                </a:cxn>
                <a:cxn ang="0">
                  <a:pos x="1505" y="1954"/>
                </a:cxn>
                <a:cxn ang="0">
                  <a:pos x="1607" y="2029"/>
                </a:cxn>
                <a:cxn ang="0">
                  <a:pos x="1711" y="2101"/>
                </a:cxn>
                <a:cxn ang="0">
                  <a:pos x="1815" y="2171"/>
                </a:cxn>
                <a:cxn ang="0">
                  <a:pos x="1923" y="2238"/>
                </a:cxn>
                <a:cxn ang="0">
                  <a:pos x="2032" y="2303"/>
                </a:cxn>
                <a:cxn ang="0">
                  <a:pos x="2143" y="2365"/>
                </a:cxn>
                <a:cxn ang="0">
                  <a:pos x="2256" y="2424"/>
                </a:cxn>
                <a:cxn ang="0">
                  <a:pos x="2370" y="2480"/>
                </a:cxn>
                <a:cxn ang="0">
                  <a:pos x="2486" y="2533"/>
                </a:cxn>
                <a:cxn ang="0">
                  <a:pos x="2603" y="2583"/>
                </a:cxn>
                <a:cxn ang="0">
                  <a:pos x="2721" y="2631"/>
                </a:cxn>
                <a:cxn ang="0">
                  <a:pos x="2842" y="2676"/>
                </a:cxn>
                <a:cxn ang="0">
                  <a:pos x="2963" y="2718"/>
                </a:cxn>
                <a:cxn ang="0">
                  <a:pos x="3085" y="2756"/>
                </a:cxn>
                <a:cxn ang="0">
                  <a:pos x="3210" y="2791"/>
                </a:cxn>
                <a:cxn ang="0">
                  <a:pos x="3334" y="2824"/>
                </a:cxn>
                <a:cxn ang="0">
                  <a:pos x="3460" y="2854"/>
                </a:cxn>
                <a:cxn ang="0">
                  <a:pos x="3586" y="2880"/>
                </a:cxn>
                <a:cxn ang="0">
                  <a:pos x="3713" y="2903"/>
                </a:cxn>
                <a:cxn ang="0">
                  <a:pos x="3841" y="2923"/>
                </a:cxn>
                <a:cxn ang="0">
                  <a:pos x="3969" y="2940"/>
                </a:cxn>
                <a:cxn ang="0">
                  <a:pos x="4098" y="2953"/>
                </a:cxn>
                <a:cxn ang="0">
                  <a:pos x="4228" y="2964"/>
                </a:cxn>
                <a:cxn ang="0">
                  <a:pos x="4357" y="2972"/>
                </a:cxn>
                <a:cxn ang="0">
                  <a:pos x="4487" y="2976"/>
                </a:cxn>
                <a:cxn ang="0">
                  <a:pos x="4617" y="2977"/>
                </a:cxn>
              </a:cxnLst>
              <a:rect l="0" t="0" r="r" b="b"/>
              <a:pathLst>
                <a:path w="4618" h="2978">
                  <a:moveTo>
                    <a:pt x="0" y="0"/>
                  </a:moveTo>
                  <a:lnTo>
                    <a:pt x="49" y="115"/>
                  </a:lnTo>
                  <a:lnTo>
                    <a:pt x="101" y="228"/>
                  </a:lnTo>
                  <a:lnTo>
                    <a:pt x="155" y="339"/>
                  </a:lnTo>
                  <a:lnTo>
                    <a:pt x="213" y="448"/>
                  </a:lnTo>
                  <a:lnTo>
                    <a:pt x="273" y="557"/>
                  </a:lnTo>
                  <a:lnTo>
                    <a:pt x="337" y="664"/>
                  </a:lnTo>
                  <a:lnTo>
                    <a:pt x="402" y="769"/>
                  </a:lnTo>
                  <a:lnTo>
                    <a:pt x="471" y="872"/>
                  </a:lnTo>
                  <a:lnTo>
                    <a:pt x="544" y="974"/>
                  </a:lnTo>
                  <a:lnTo>
                    <a:pt x="618" y="1074"/>
                  </a:lnTo>
                  <a:lnTo>
                    <a:pt x="696" y="1171"/>
                  </a:lnTo>
                  <a:lnTo>
                    <a:pt x="776" y="1267"/>
                  </a:lnTo>
                  <a:lnTo>
                    <a:pt x="859" y="1361"/>
                  </a:lnTo>
                  <a:lnTo>
                    <a:pt x="944" y="1453"/>
                  </a:lnTo>
                  <a:lnTo>
                    <a:pt x="1031" y="1542"/>
                  </a:lnTo>
                  <a:lnTo>
                    <a:pt x="1121" y="1629"/>
                  </a:lnTo>
                  <a:lnTo>
                    <a:pt x="1214" y="1714"/>
                  </a:lnTo>
                  <a:lnTo>
                    <a:pt x="1309" y="1796"/>
                  </a:lnTo>
                  <a:lnTo>
                    <a:pt x="1406" y="1876"/>
                  </a:lnTo>
                  <a:lnTo>
                    <a:pt x="1505" y="1954"/>
                  </a:lnTo>
                  <a:lnTo>
                    <a:pt x="1607" y="2029"/>
                  </a:lnTo>
                  <a:lnTo>
                    <a:pt x="1711" y="2101"/>
                  </a:lnTo>
                  <a:lnTo>
                    <a:pt x="1815" y="2171"/>
                  </a:lnTo>
                  <a:lnTo>
                    <a:pt x="1923" y="2238"/>
                  </a:lnTo>
                  <a:lnTo>
                    <a:pt x="2032" y="2303"/>
                  </a:lnTo>
                  <a:lnTo>
                    <a:pt x="2143" y="2365"/>
                  </a:lnTo>
                  <a:lnTo>
                    <a:pt x="2256" y="2424"/>
                  </a:lnTo>
                  <a:lnTo>
                    <a:pt x="2370" y="2480"/>
                  </a:lnTo>
                  <a:lnTo>
                    <a:pt x="2486" y="2533"/>
                  </a:lnTo>
                  <a:lnTo>
                    <a:pt x="2603" y="2583"/>
                  </a:lnTo>
                  <a:lnTo>
                    <a:pt x="2721" y="2631"/>
                  </a:lnTo>
                  <a:lnTo>
                    <a:pt x="2842" y="2676"/>
                  </a:lnTo>
                  <a:lnTo>
                    <a:pt x="2963" y="2718"/>
                  </a:lnTo>
                  <a:lnTo>
                    <a:pt x="3085" y="2756"/>
                  </a:lnTo>
                  <a:lnTo>
                    <a:pt x="3210" y="2791"/>
                  </a:lnTo>
                  <a:lnTo>
                    <a:pt x="3334" y="2824"/>
                  </a:lnTo>
                  <a:lnTo>
                    <a:pt x="3460" y="2854"/>
                  </a:lnTo>
                  <a:lnTo>
                    <a:pt x="3586" y="2880"/>
                  </a:lnTo>
                  <a:lnTo>
                    <a:pt x="3713" y="2903"/>
                  </a:lnTo>
                  <a:lnTo>
                    <a:pt x="3841" y="2923"/>
                  </a:lnTo>
                  <a:lnTo>
                    <a:pt x="3969" y="2940"/>
                  </a:lnTo>
                  <a:lnTo>
                    <a:pt x="4098" y="2953"/>
                  </a:lnTo>
                  <a:lnTo>
                    <a:pt x="4228" y="2964"/>
                  </a:lnTo>
                  <a:lnTo>
                    <a:pt x="4357" y="2972"/>
                  </a:lnTo>
                  <a:lnTo>
                    <a:pt x="4487" y="2976"/>
                  </a:lnTo>
                  <a:lnTo>
                    <a:pt x="4617" y="2977"/>
                  </a:lnTo>
                </a:path>
              </a:pathLst>
            </a:custGeom>
            <a:noFill/>
            <a:ln w="57150" cmpd="sng">
              <a:solidFill>
                <a:srgbClr val="99FF33"/>
              </a:solidFill>
              <a:round/>
              <a:headEnd type="triangle" w="med" len="med"/>
              <a:tailEnd type="none" w="med" len="med"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60" name="Line 58"/>
            <p:cNvSpPr>
              <a:spLocks noChangeShapeType="1"/>
            </p:cNvSpPr>
            <p:nvPr/>
          </p:nvSpPr>
          <p:spPr bwMode="auto">
            <a:xfrm flipH="1" flipV="1">
              <a:off x="4031" y="1680"/>
              <a:ext cx="98" cy="96"/>
            </a:xfrm>
            <a:prstGeom prst="line">
              <a:avLst/>
            </a:prstGeom>
            <a:noFill/>
            <a:ln w="76320">
              <a:solidFill>
                <a:srgbClr val="99FF33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s-CO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"/>
          <p:cNvSpPr txBox="1">
            <a:spLocks noChangeArrowheads="1"/>
          </p:cNvSpPr>
          <p:nvPr/>
        </p:nvSpPr>
        <p:spPr bwMode="auto">
          <a:xfrm>
            <a:off x="685800" y="2266951"/>
            <a:ext cx="8305800" cy="5869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>
              <a:spcBef>
                <a:spcPts val="2000"/>
              </a:spcBef>
              <a:buClr>
                <a:srgbClr val="FFFFFF"/>
              </a:buClr>
              <a:buSzPct val="100000"/>
              <a:buFont typeface="Symbol" pitchFamily="18" charset="2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MX" sz="3200" i="1">
                <a:latin typeface="Symbol" pitchFamily="18" charset="2"/>
              </a:rPr>
              <a:t></a:t>
            </a:r>
            <a:r>
              <a:rPr lang="es-MX" sz="3200" i="1">
                <a:latin typeface="Times New Roman" pitchFamily="18" charset="0"/>
              </a:rPr>
              <a:t>Q = </a:t>
            </a:r>
            <a:r>
              <a:rPr lang="es-MX" sz="3200" i="1">
                <a:latin typeface="Symbol" pitchFamily="18" charset="2"/>
              </a:rPr>
              <a:t></a:t>
            </a:r>
            <a:r>
              <a:rPr lang="es-MX" sz="3200" i="1">
                <a:latin typeface="Times New Roman" pitchFamily="18" charset="0"/>
              </a:rPr>
              <a:t>U + </a:t>
            </a:r>
            <a:r>
              <a:rPr lang="es-MX" sz="3200" i="1">
                <a:latin typeface="Symbol" pitchFamily="18" charset="2"/>
              </a:rPr>
              <a:t></a:t>
            </a:r>
            <a:r>
              <a:rPr lang="es-MX" sz="3200" i="1">
                <a:latin typeface="Times New Roman" pitchFamily="18" charset="0"/>
              </a:rPr>
              <a:t>W ;    </a:t>
            </a:r>
            <a:r>
              <a:rPr lang="es-MX" sz="3200" i="1">
                <a:latin typeface="Symbol" pitchFamily="18" charset="2"/>
              </a:rPr>
              <a:t></a:t>
            </a:r>
            <a:r>
              <a:rPr lang="es-MX" sz="3200" i="1">
                <a:latin typeface="Times New Roman" pitchFamily="18" charset="0"/>
              </a:rPr>
              <a:t>W = -</a:t>
            </a:r>
            <a:r>
              <a:rPr lang="es-MX" sz="3200" i="1">
                <a:latin typeface="Symbol" pitchFamily="18" charset="2"/>
              </a:rPr>
              <a:t></a:t>
            </a:r>
            <a:r>
              <a:rPr lang="es-MX" sz="3200" i="1">
                <a:latin typeface="Times New Roman" pitchFamily="18" charset="0"/>
              </a:rPr>
              <a:t>U   or    </a:t>
            </a:r>
            <a:r>
              <a:rPr lang="es-MX" sz="3200" i="1">
                <a:latin typeface="Symbol" pitchFamily="18" charset="2"/>
              </a:rPr>
              <a:t></a:t>
            </a:r>
            <a:r>
              <a:rPr lang="es-MX" sz="3200" i="1">
                <a:latin typeface="Times New Roman" pitchFamily="18" charset="0"/>
              </a:rPr>
              <a:t>U = -</a:t>
            </a:r>
            <a:r>
              <a:rPr lang="es-MX" sz="3200" i="1">
                <a:latin typeface="Symbol" pitchFamily="18" charset="2"/>
              </a:rPr>
              <a:t></a:t>
            </a:r>
            <a:r>
              <a:rPr lang="es-MX" sz="3200" i="1">
                <a:latin typeface="Times New Roman" pitchFamily="18" charset="0"/>
              </a:rPr>
              <a:t>W</a:t>
            </a:r>
            <a:r>
              <a:rPr lang="es-MX" sz="3200">
                <a:latin typeface="Times New Roman" pitchFamily="18" charset="0"/>
              </a:rPr>
              <a:t> </a:t>
            </a:r>
          </a:p>
        </p:txBody>
      </p:sp>
      <p:grpSp>
        <p:nvGrpSpPr>
          <p:cNvPr id="5" name="Group 3"/>
          <p:cNvGrpSpPr>
            <a:grpSpLocks/>
          </p:cNvGrpSpPr>
          <p:nvPr/>
        </p:nvGrpSpPr>
        <p:grpSpPr bwMode="auto">
          <a:xfrm>
            <a:off x="457200" y="5410200"/>
            <a:ext cx="8229600" cy="914400"/>
            <a:chOff x="336" y="2928"/>
            <a:chExt cx="5184" cy="696"/>
          </a:xfrm>
        </p:grpSpPr>
        <p:sp>
          <p:nvSpPr>
            <p:cNvPr id="6" name="AutoShape 4"/>
            <p:cNvSpPr>
              <a:spLocks noChangeArrowheads="1"/>
            </p:cNvSpPr>
            <p:nvPr/>
          </p:nvSpPr>
          <p:spPr bwMode="auto">
            <a:xfrm>
              <a:off x="336" y="2928"/>
              <a:ext cx="5184" cy="696"/>
            </a:xfrm>
            <a:prstGeom prst="roundRect">
              <a:avLst>
                <a:gd name="adj" fmla="val 144"/>
              </a:avLst>
            </a:prstGeom>
            <a:solidFill>
              <a:srgbClr val="FFFFCC"/>
            </a:solidFill>
            <a:ln w="38160">
              <a:solidFill>
                <a:srgbClr val="000000"/>
              </a:solidFill>
              <a:round/>
              <a:headEnd/>
              <a:tailEnd/>
            </a:ln>
            <a:effectLst>
              <a:outerShdw dist="107933" dir="2700000" algn="ctr" rotWithShape="0">
                <a:srgbClr val="4D4D4D"/>
              </a:outerShdw>
            </a:effectLst>
          </p:spPr>
          <p:txBody>
            <a:bodyPr wrap="none" anchor="ctr"/>
            <a:lstStyle/>
            <a:p>
              <a:endParaRPr lang="es-CO" sz="2500"/>
            </a:p>
          </p:txBody>
        </p:sp>
        <p:sp>
          <p:nvSpPr>
            <p:cNvPr id="7" name="Text Box 5"/>
            <p:cNvSpPr txBox="1">
              <a:spLocks noChangeArrowheads="1"/>
            </p:cNvSpPr>
            <p:nvPr/>
          </p:nvSpPr>
          <p:spPr bwMode="auto">
            <a:xfrm>
              <a:off x="336" y="2928"/>
              <a:ext cx="5184" cy="520"/>
            </a:xfrm>
            <a:prstGeom prst="rect">
              <a:avLst/>
            </a:prstGeom>
            <a:solidFill>
              <a:srgbClr val="FFFFCC"/>
            </a:solidFill>
            <a:ln w="9525">
              <a:noFill/>
              <a:miter lim="800000"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 algn="ctr">
                <a:lnSpc>
                  <a:spcPct val="95000"/>
                </a:lnSpc>
                <a:spcBef>
                  <a:spcPct val="0"/>
                </a:spcBef>
                <a:buClr>
                  <a:srgbClr val="FFFFFF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 sz="2500">
                  <a:latin typeface="Times New Roman" pitchFamily="18" charset="0"/>
                </a:rPr>
                <a:t>Trabajo realizado A COSTA de energía interna.</a:t>
              </a:r>
            </a:p>
            <a:p>
              <a:pPr algn="ctr">
                <a:lnSpc>
                  <a:spcPct val="95000"/>
                </a:lnSpc>
                <a:spcBef>
                  <a:spcPct val="0"/>
                </a:spcBef>
                <a:buClr>
                  <a:srgbClr val="FFFFFF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 sz="2500">
                  <a:latin typeface="Times New Roman" pitchFamily="18" charset="0"/>
                </a:rPr>
                <a:t>ENTRADA de trabajo AUMENTA energía interna.</a:t>
              </a:r>
            </a:p>
          </p:txBody>
        </p:sp>
      </p:grpSp>
      <p:sp>
        <p:nvSpPr>
          <p:cNvPr id="8" name="Line 6"/>
          <p:cNvSpPr>
            <a:spLocks noChangeShapeType="1"/>
          </p:cNvSpPr>
          <p:nvPr/>
        </p:nvSpPr>
        <p:spPr bwMode="auto">
          <a:xfrm flipV="1">
            <a:off x="838200" y="2189164"/>
            <a:ext cx="533400" cy="688975"/>
          </a:xfrm>
          <a:prstGeom prst="line">
            <a:avLst/>
          </a:prstGeom>
          <a:noFill/>
          <a:ln w="3816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CO"/>
          </a:p>
        </p:txBody>
      </p:sp>
      <p:grpSp>
        <p:nvGrpSpPr>
          <p:cNvPr id="9" name="Group 7"/>
          <p:cNvGrpSpPr>
            <a:grpSpLocks/>
          </p:cNvGrpSpPr>
          <p:nvPr/>
        </p:nvGrpSpPr>
        <p:grpSpPr bwMode="auto">
          <a:xfrm>
            <a:off x="1143000" y="3028950"/>
            <a:ext cx="7239000" cy="1847850"/>
            <a:chOff x="816" y="1536"/>
            <a:chExt cx="4560" cy="1164"/>
          </a:xfrm>
        </p:grpSpPr>
        <p:sp>
          <p:nvSpPr>
            <p:cNvPr id="10" name="Text Box 8"/>
            <p:cNvSpPr txBox="1">
              <a:spLocks noChangeArrowheads="1"/>
            </p:cNvSpPr>
            <p:nvPr/>
          </p:nvSpPr>
          <p:spPr bwMode="auto">
            <a:xfrm>
              <a:off x="2064" y="1963"/>
              <a:ext cx="1152" cy="2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 algn="ctr">
                <a:spcBef>
                  <a:spcPts val="1875"/>
                </a:spcBef>
                <a:buClr>
                  <a:srgbClr val="FFFFFF"/>
                </a:buClr>
                <a:buSzPct val="100000"/>
                <a:buFont typeface="Tahoma" pitchFamily="34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 sz="2400"/>
                <a:t>Sale trabajo</a:t>
              </a:r>
            </a:p>
          </p:txBody>
        </p:sp>
        <p:sp>
          <p:nvSpPr>
            <p:cNvPr id="11" name="Text Box 9"/>
            <p:cNvSpPr txBox="1">
              <a:spLocks noChangeArrowheads="1"/>
            </p:cNvSpPr>
            <p:nvPr/>
          </p:nvSpPr>
          <p:spPr bwMode="auto">
            <a:xfrm>
              <a:off x="4512" y="2011"/>
              <a:ext cx="864" cy="6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 algn="ctr">
                <a:spcBef>
                  <a:spcPts val="1875"/>
                </a:spcBef>
                <a:buClr>
                  <a:srgbClr val="FFFFFF"/>
                </a:buClr>
                <a:buSzPct val="100000"/>
                <a:buFont typeface="Tahoma" pitchFamily="34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 sz="3000"/>
                <a:t>Entra trabajo</a:t>
              </a:r>
            </a:p>
          </p:txBody>
        </p:sp>
        <p:sp>
          <p:nvSpPr>
            <p:cNvPr id="12" name="AutoShape 10"/>
            <p:cNvSpPr>
              <a:spLocks noChangeArrowheads="1"/>
            </p:cNvSpPr>
            <p:nvPr/>
          </p:nvSpPr>
          <p:spPr bwMode="auto">
            <a:xfrm>
              <a:off x="1008" y="1984"/>
              <a:ext cx="949" cy="708"/>
            </a:xfrm>
            <a:prstGeom prst="roundRect">
              <a:avLst>
                <a:gd name="adj" fmla="val 139"/>
              </a:avLst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endParaRPr lang="es-MX"/>
            </a:p>
          </p:txBody>
        </p:sp>
        <p:sp>
          <p:nvSpPr>
            <p:cNvPr id="13" name="AutoShape 11"/>
            <p:cNvSpPr>
              <a:spLocks noChangeArrowheads="1"/>
            </p:cNvSpPr>
            <p:nvPr/>
          </p:nvSpPr>
          <p:spPr bwMode="auto">
            <a:xfrm>
              <a:off x="3337" y="1991"/>
              <a:ext cx="949" cy="709"/>
            </a:xfrm>
            <a:prstGeom prst="roundRect">
              <a:avLst>
                <a:gd name="adj" fmla="val 139"/>
              </a:avLst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es-CO"/>
            </a:p>
          </p:txBody>
        </p:sp>
        <p:sp>
          <p:nvSpPr>
            <p:cNvPr id="14" name="Text Box 12"/>
            <p:cNvSpPr txBox="1">
              <a:spLocks noChangeArrowheads="1"/>
            </p:cNvSpPr>
            <p:nvPr/>
          </p:nvSpPr>
          <p:spPr bwMode="auto">
            <a:xfrm>
              <a:off x="1248" y="2262"/>
              <a:ext cx="672" cy="2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0"/>
                </a:spcBef>
                <a:buClr>
                  <a:srgbClr val="008000"/>
                </a:buClr>
                <a:buSzPct val="100000"/>
                <a:buFont typeface="Symbol" pitchFamily="18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 i="1" dirty="0">
                  <a:latin typeface="Symbol" pitchFamily="18" charset="2"/>
                </a:rPr>
                <a:t></a:t>
              </a:r>
              <a:r>
                <a:rPr lang="es-MX" i="1" dirty="0">
                  <a:latin typeface="Times New Roman" pitchFamily="18" charset="0"/>
                </a:rPr>
                <a:t>U</a:t>
              </a:r>
            </a:p>
          </p:txBody>
        </p:sp>
        <p:sp>
          <p:nvSpPr>
            <p:cNvPr id="15" name="Text Box 13"/>
            <p:cNvSpPr txBox="1">
              <a:spLocks noChangeArrowheads="1"/>
            </p:cNvSpPr>
            <p:nvPr/>
          </p:nvSpPr>
          <p:spPr bwMode="auto">
            <a:xfrm>
              <a:off x="3444" y="2256"/>
              <a:ext cx="972" cy="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>
                <a:lnSpc>
                  <a:spcPct val="95000"/>
                </a:lnSpc>
                <a:spcBef>
                  <a:spcPct val="0"/>
                </a:spcBef>
                <a:buClr>
                  <a:srgbClr val="008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 i="1" dirty="0">
                  <a:latin typeface="Times New Roman" pitchFamily="18" charset="0"/>
                </a:rPr>
                <a:t> +</a:t>
              </a:r>
              <a:r>
                <a:rPr lang="es-MX" i="1" dirty="0">
                  <a:latin typeface="Symbol" pitchFamily="18" charset="2"/>
                </a:rPr>
                <a:t></a:t>
              </a:r>
              <a:r>
                <a:rPr lang="es-MX" i="1" dirty="0">
                  <a:latin typeface="Times New Roman" pitchFamily="18" charset="0"/>
                </a:rPr>
                <a:t>U</a:t>
              </a:r>
            </a:p>
          </p:txBody>
        </p:sp>
        <p:sp>
          <p:nvSpPr>
            <p:cNvPr id="16" name="Freeform 14"/>
            <p:cNvSpPr>
              <a:spLocks noChangeArrowheads="1"/>
            </p:cNvSpPr>
            <p:nvPr/>
          </p:nvSpPr>
          <p:spPr bwMode="auto">
            <a:xfrm>
              <a:off x="4080" y="2295"/>
              <a:ext cx="576" cy="143"/>
            </a:xfrm>
            <a:custGeom>
              <a:avLst/>
              <a:gdLst/>
              <a:ahLst/>
              <a:cxnLst>
                <a:cxn ang="0">
                  <a:pos x="2541" y="472"/>
                </a:cxn>
                <a:cxn ang="0">
                  <a:pos x="636" y="472"/>
                </a:cxn>
                <a:cxn ang="0">
                  <a:pos x="636" y="629"/>
                </a:cxn>
                <a:cxn ang="0">
                  <a:pos x="0" y="314"/>
                </a:cxn>
                <a:cxn ang="0">
                  <a:pos x="636" y="0"/>
                </a:cxn>
                <a:cxn ang="0">
                  <a:pos x="636" y="157"/>
                </a:cxn>
                <a:cxn ang="0">
                  <a:pos x="2541" y="157"/>
                </a:cxn>
                <a:cxn ang="0">
                  <a:pos x="2541" y="472"/>
                </a:cxn>
              </a:cxnLst>
              <a:rect l="0" t="0" r="r" b="b"/>
              <a:pathLst>
                <a:path w="2542" h="630">
                  <a:moveTo>
                    <a:pt x="2541" y="472"/>
                  </a:moveTo>
                  <a:lnTo>
                    <a:pt x="636" y="472"/>
                  </a:lnTo>
                  <a:lnTo>
                    <a:pt x="636" y="629"/>
                  </a:lnTo>
                  <a:lnTo>
                    <a:pt x="0" y="314"/>
                  </a:lnTo>
                  <a:lnTo>
                    <a:pt x="636" y="0"/>
                  </a:lnTo>
                  <a:lnTo>
                    <a:pt x="636" y="157"/>
                  </a:lnTo>
                  <a:lnTo>
                    <a:pt x="2541" y="157"/>
                  </a:lnTo>
                  <a:lnTo>
                    <a:pt x="2541" y="472"/>
                  </a:lnTo>
                </a:path>
              </a:pathLst>
            </a:custGeom>
            <a:solidFill>
              <a:srgbClr val="FF6600"/>
            </a:solidFill>
            <a:ln w="9360">
              <a:solidFill>
                <a:srgbClr val="FFFF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CO"/>
            </a:p>
          </p:txBody>
        </p:sp>
        <p:sp>
          <p:nvSpPr>
            <p:cNvPr id="17" name="Freeform 15"/>
            <p:cNvSpPr>
              <a:spLocks noChangeArrowheads="1"/>
            </p:cNvSpPr>
            <p:nvPr/>
          </p:nvSpPr>
          <p:spPr bwMode="auto">
            <a:xfrm>
              <a:off x="1776" y="2343"/>
              <a:ext cx="576" cy="143"/>
            </a:xfrm>
            <a:custGeom>
              <a:avLst/>
              <a:gdLst/>
              <a:ahLst/>
              <a:cxnLst>
                <a:cxn ang="0">
                  <a:pos x="0" y="157"/>
                </a:cxn>
                <a:cxn ang="0">
                  <a:pos x="1905" y="157"/>
                </a:cxn>
                <a:cxn ang="0">
                  <a:pos x="1905" y="0"/>
                </a:cxn>
                <a:cxn ang="0">
                  <a:pos x="2541" y="314"/>
                </a:cxn>
                <a:cxn ang="0">
                  <a:pos x="1905" y="628"/>
                </a:cxn>
                <a:cxn ang="0">
                  <a:pos x="1905" y="471"/>
                </a:cxn>
                <a:cxn ang="0">
                  <a:pos x="0" y="471"/>
                </a:cxn>
                <a:cxn ang="0">
                  <a:pos x="0" y="157"/>
                </a:cxn>
              </a:cxnLst>
              <a:rect l="0" t="0" r="r" b="b"/>
              <a:pathLst>
                <a:path w="2542" h="629">
                  <a:moveTo>
                    <a:pt x="0" y="157"/>
                  </a:moveTo>
                  <a:lnTo>
                    <a:pt x="1905" y="157"/>
                  </a:lnTo>
                  <a:lnTo>
                    <a:pt x="1905" y="0"/>
                  </a:lnTo>
                  <a:lnTo>
                    <a:pt x="2541" y="314"/>
                  </a:lnTo>
                  <a:lnTo>
                    <a:pt x="1905" y="628"/>
                  </a:lnTo>
                  <a:lnTo>
                    <a:pt x="1905" y="471"/>
                  </a:lnTo>
                  <a:lnTo>
                    <a:pt x="0" y="471"/>
                  </a:lnTo>
                  <a:lnTo>
                    <a:pt x="0" y="157"/>
                  </a:lnTo>
                </a:path>
              </a:pathLst>
            </a:custGeom>
            <a:solidFill>
              <a:srgbClr val="FF6600"/>
            </a:solidFill>
            <a:ln w="9360">
              <a:solidFill>
                <a:srgbClr val="FFFF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CO"/>
            </a:p>
          </p:txBody>
        </p:sp>
        <p:sp>
          <p:nvSpPr>
            <p:cNvPr id="18" name="Text Box 16"/>
            <p:cNvSpPr txBox="1">
              <a:spLocks noChangeArrowheads="1"/>
            </p:cNvSpPr>
            <p:nvPr/>
          </p:nvSpPr>
          <p:spPr bwMode="auto">
            <a:xfrm>
              <a:off x="2304" y="2438"/>
              <a:ext cx="864" cy="2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 algn="ctr">
                <a:spcBef>
                  <a:spcPts val="1750"/>
                </a:spcBef>
                <a:buClr>
                  <a:srgbClr val="FFFFFF"/>
                </a:buClr>
                <a:buSzPct val="100000"/>
                <a:buFont typeface="Symbol" pitchFamily="18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 i="1">
                  <a:latin typeface="Symbol" pitchFamily="18" charset="2"/>
                </a:rPr>
                <a:t></a:t>
              </a:r>
              <a:r>
                <a:rPr lang="es-MX" i="1"/>
                <a:t>Q</a:t>
              </a:r>
              <a:r>
                <a:rPr lang="es-MX"/>
                <a:t> = 0</a:t>
              </a:r>
            </a:p>
          </p:txBody>
        </p:sp>
        <p:sp>
          <p:nvSpPr>
            <p:cNvPr id="19" name="Text Box 17"/>
            <p:cNvSpPr txBox="1">
              <a:spLocks noChangeArrowheads="1"/>
            </p:cNvSpPr>
            <p:nvPr/>
          </p:nvSpPr>
          <p:spPr bwMode="auto">
            <a:xfrm>
              <a:off x="816" y="1584"/>
              <a:ext cx="1344" cy="3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 algn="ctr">
                <a:spcBef>
                  <a:spcPts val="2000"/>
                </a:spcBef>
                <a:buClr>
                  <a:srgbClr val="FFFF00"/>
                </a:buClr>
                <a:buSzPct val="100000"/>
                <a:buFont typeface="Symbol" pitchFamily="18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 sz="3200" i="1">
                  <a:latin typeface="Symbol" pitchFamily="18" charset="2"/>
                </a:rPr>
                <a:t></a:t>
              </a:r>
              <a:r>
                <a:rPr lang="es-MX" sz="3200" i="1">
                  <a:latin typeface="Times New Roman" pitchFamily="18" charset="0"/>
                </a:rPr>
                <a:t>W = -</a:t>
              </a:r>
              <a:r>
                <a:rPr lang="es-MX" sz="3200" i="1">
                  <a:latin typeface="Symbol" pitchFamily="18" charset="2"/>
                </a:rPr>
                <a:t></a:t>
              </a:r>
              <a:r>
                <a:rPr lang="es-MX" sz="3200" i="1">
                  <a:latin typeface="Times New Roman" pitchFamily="18" charset="0"/>
                </a:rPr>
                <a:t>U</a:t>
              </a:r>
            </a:p>
          </p:txBody>
        </p:sp>
        <p:sp>
          <p:nvSpPr>
            <p:cNvPr id="20" name="Text Box 18"/>
            <p:cNvSpPr txBox="1">
              <a:spLocks noChangeArrowheads="1"/>
            </p:cNvSpPr>
            <p:nvPr/>
          </p:nvSpPr>
          <p:spPr bwMode="auto">
            <a:xfrm>
              <a:off x="3168" y="1536"/>
              <a:ext cx="1344" cy="3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 algn="ctr">
                <a:spcBef>
                  <a:spcPts val="2000"/>
                </a:spcBef>
                <a:buClr>
                  <a:srgbClr val="FFFF00"/>
                </a:buClr>
                <a:buSzPct val="100000"/>
                <a:buFont typeface="Symbol" pitchFamily="18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 sz="3200" i="1">
                  <a:latin typeface="Symbol" pitchFamily="18" charset="2"/>
                </a:rPr>
                <a:t></a:t>
              </a:r>
              <a:r>
                <a:rPr lang="es-MX" sz="3200" i="1">
                  <a:latin typeface="Times New Roman" pitchFamily="18" charset="0"/>
                </a:rPr>
                <a:t>U = -</a:t>
              </a:r>
              <a:r>
                <a:rPr lang="es-MX" sz="3200" i="1">
                  <a:latin typeface="Symbol" pitchFamily="18" charset="2"/>
                </a:rPr>
                <a:t></a:t>
              </a:r>
              <a:r>
                <a:rPr lang="es-MX" sz="3200" i="1">
                  <a:latin typeface="Times New Roman" pitchFamily="18" charset="0"/>
                </a:rPr>
                <a:t>W</a:t>
              </a:r>
            </a:p>
          </p:txBody>
        </p:sp>
      </p:grpSp>
      <p:sp>
        <p:nvSpPr>
          <p:cNvPr id="21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914400"/>
            <a:ext cx="8382000" cy="1447800"/>
          </a:xfrm>
          <a:ln/>
        </p:spPr>
        <p:txBody>
          <a:bodyPr/>
          <a:lstStyle/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MX" sz="3600" b="1" i="1" dirty="0">
                <a:solidFill>
                  <a:srgbClr val="C00000"/>
                </a:solidFill>
              </a:rPr>
              <a:t>PROCESO ADIABÁTICO: </a:t>
            </a:r>
            <a:br>
              <a:rPr lang="es-MX" sz="3600" b="1" i="1" dirty="0">
                <a:solidFill>
                  <a:srgbClr val="C00000"/>
                </a:solidFill>
              </a:rPr>
            </a:br>
            <a:r>
              <a:rPr lang="es-MX" sz="3200" b="1" i="1" dirty="0">
                <a:solidFill>
                  <a:srgbClr val="C00000"/>
                </a:solidFill>
              </a:rPr>
              <a:t>NO HAY INTERCAMBIO DE CALOR, </a:t>
            </a:r>
            <a:r>
              <a:rPr lang="es-MX" sz="3200" b="1" i="1" dirty="0">
                <a:solidFill>
                  <a:srgbClr val="C00000"/>
                </a:solidFill>
                <a:latin typeface="Symbol" pitchFamily="18" charset="2"/>
              </a:rPr>
              <a:t></a:t>
            </a:r>
            <a:r>
              <a:rPr lang="es-MX" sz="3200" b="1" i="1" dirty="0">
                <a:solidFill>
                  <a:srgbClr val="C00000"/>
                </a:solidFill>
              </a:rPr>
              <a:t>Q = 0</a:t>
            </a:r>
            <a:r>
              <a:rPr lang="es-MX" sz="3600" b="1" i="1" dirty="0">
                <a:solidFill>
                  <a:srgbClr val="C00000"/>
                </a:solidFill>
                <a:effectLst/>
              </a:rPr>
              <a:t> </a:t>
            </a:r>
          </a:p>
        </p:txBody>
      </p:sp>
      <p:sp>
        <p:nvSpPr>
          <p:cNvPr id="25" name="Text Box 8"/>
          <p:cNvSpPr txBox="1">
            <a:spLocks noChangeArrowheads="1"/>
          </p:cNvSpPr>
          <p:nvPr/>
        </p:nvSpPr>
        <p:spPr bwMode="auto">
          <a:xfrm>
            <a:off x="6416675" y="0"/>
            <a:ext cx="1584325" cy="7052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s-CO" sz="1400" dirty="0">
                <a:solidFill>
                  <a:schemeClr val="bg1"/>
                </a:solidFill>
              </a:rPr>
              <a:t>Pedro Alvarado</a:t>
            </a:r>
          </a:p>
          <a:p>
            <a:pPr>
              <a:lnSpc>
                <a:spcPct val="150000"/>
              </a:lnSpc>
            </a:pPr>
            <a:endParaRPr lang="es-ES" sz="1400" dirty="0">
              <a:solidFill>
                <a:schemeClr val="bg1"/>
              </a:solidFill>
            </a:endParaRPr>
          </a:p>
        </p:txBody>
      </p:sp>
      <p:sp>
        <p:nvSpPr>
          <p:cNvPr id="27" name="AutoShape 4" descr="Resultado de imagen para turbin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28" name="AutoShape 6" descr="Resultado de imagen para turbin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29" name="AutoShape 8" descr="Resultado de imagen para turbin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30" name="AutoShape 10" descr="data:image/jpeg;base64,/9j/4AAQSkZJRgABAQAAAQABAAD/2wCEAAkGBxMTEhMUEhMVFBUUFxcYGBgYFxUZGBoZHhgYGhcfGxobHiggHholHxccITEkJSkrMC4uHB8zODMsNygtLisBCgoKDg0OGhAQGywkHCY0LCwsLC8sLCwsNCwsLCwsLCwsLCwsLCwsLCwsLCwsLCwsNSwvLCwsLCwsLCwsLCwsLP/AABEIAK0BIwMBIgACEQEDEQH/xAAbAAEAAwEBAQEAAAAAAAAAAAAABAUGAwIBB//EAEMQAAEDAgQDBQYEAwUIAwEAAAEAAhEDIQQSMUEFUWETInGBkQYyQqGxwVJy0fAjM2IUQ4Lh8RUkU3OSorLCY3TSB//EABkBAQEAAwEAAAAAAAAAAAAAAAABAgMEBf/EACgRAQEAAgEDAwIHAQAAAAAAAAABAhEDEiExBEFREyIyUmFxgZGhM//aAAwDAQACEQMRAD8A+oiICIiAiIgIiICIiAiL6QRqg+IiICKXheF1qhhlMnvAG+k3kxMCOasX+y2KbBFLOTPdD2gdCXHTwAPkro2o0Wsw3DMMaooupVgYMuLXZJiYzEiT+WV74n7Isa0Op1mtnTORlJmwBkEct/BNJtkEXH+1s7TsxcjN3gWFpgbQTZdlFEREBERAREQEXptMkEgWbqdh58+Q1OykNw7SCQ7ugd5/wjoPxHUdCggYquGNLjoI+Zj7rzhcSHmBHS9yNoGvrCrfabEACm1pDg7M42IIiWtkG4vPoo3BMU6SKRu1pcAY192OehmxmyitEi9VBBPiV5VQREQEREBERAREQEREBERAXcUmiMx1E225KFij3Y52289dV1LJABmJFySDbX18ELZPKQcgOhItrM/ay+Meb5Wg/wCGYXGiWNMw0mIvPXp4fPmrvhvEQYDmMIJhsCCdtdCZ2stefXJuTZhycdurdINLC1jpmA8f0UjCcCfeXS07HY82nadwtE7E02iYnpofOVxp8SL3EUoMC+51tfSNdlzTLnz8TTq1w4++0WhwBu4lSDwfDgw5rJMmLT1t5rjxCpXawksq1AZnswHHwgEGNtNlhsf7cOL8lKlJBh3aOgi4nuDfxPJWcGe95Z/0xvLhZqY/22xo4YEmmYLSRLJBBGtxdd6ftWcPZ7zVbcNDrvBH9Q1t+K/VZzAPmnEz2meYAEVMxfoNJn5qv4w8EF3Msqevdf8ANdctk15cv0sZl1Tt+nssOKf/ANDr1YbTaGNcSJ0I8IMh285lSYSu55rmq5zywUsrnEucJcZ7xkz3RvdVTB32jk8qbgnkVK4G9IHzDx+pUbYk8D9+sPE+n+qsFX8E/m1esj7/AGVgrEyERFWIiKThsG5xbYjN7oALnu/K3UjqYbrdBHY0kgAEk6AXJ8lNoYGxc8gNb7xLstNv56nP+lkuPQrhj+K0MMC3+Y/QsY6Widq1Zuv5GQLXMrOcdxtWo/JWe0lshrG92m0SRDGgDlrHjMq9oaW2N9qabTlwuVzhpVeGgM/5VMnu/mMuPRVmCxuQu97+IH5xm99zjLnwY70/ENL3UHD03OJBJs0kD3eQEzBi/wCEg81bYDAhjgKhdRc6Cx8NyE696BpfbS3nPK+A8PpVWlzGucBEvDpjxuXR1iIm6Yn2YcB2jA2qw5C0h2jhVYSJdGUkBwm243hXlKmXvLQBQx1IZmkWZXb9LgfKdiGyMFjwAa7GQ2cmKoR7p0zhp22+R0MXSbQK2Hptux73EkyCZb8/suasOL4AUyHMvSqXYddpifpOxG8qvUBERAREQEREBERAREQEReqbJMc0LdPbKM6+nX9F6qM9VMbTUd95PP6bfvqt/Fh1V53Ny3y4HDktJFgLE/vdSMF3MOI5mOev6qPgKhitOhykfMH7Ke2hNGmB8Ux5uP6qc2Vt06PT4THHfussJQigCdSJ9b/RSuEYTsmF29QyfD4fufNTMRQBcymNPt/oFG49i8oDWjvGAAPQLQ7EjB44vqZBtcnkFS+1/AXVWZ2htSowgtdHfiYcOZEHTmAYsrvhWE7FkTL3XeeZ5eA/eq+Y/iTR3Rd50j96oj8/pYo+DiYPSo27fUWUbH1g4GNDMfleMzfR7SFo/afB9yo57C2oGlwcNSWiRfR0fLosOKdWsYaCOgEm5DvSZjxTQ80bvBkXLTqOX6qZRaO1q/8AJP8A5tXGvgxQGapVaHN73Z5ml7oMwGjTXddH5hUig6dWue0NjX3czgRMi4EwdVBI4fmbUqP2YS53MCCJI1HpsrDgT6mIa57KcUxo99mn8u7vK3VV+F4i3Dtq1nmXCo+m8d6MwdmpgXAgAmI0k7lccf7Xvrdm1pLWCZB7zokRpAIgn3gDYXMrDLHbbhn0d5O/z5XIdL8pqMIMwdBbW/qu7KAIs9s/mb577fPa5hUOGJGUuq9lUJMkyBsPeE6AxEGLabdKfEnsJaHB1Rxzsc54DTtLSQBeIvCyxkxmpGGdyzvVbutM3DNptzuDiBuKbqjieTKQH/dUgcmyqTi3GKzmPDab6DHatJirUM27Wo+CR/SLdBquOP4jiXspPbVfTLpY4ZzJewgENMgNkEW+UKJVFc5XuqEESJqOc33hBymJ0OtiOlis7WGnAQQAHsZYmJOWefzHXrdesPg21peZc6AJ3gaXd4/vVXXCOHuqsJZRotcGAuqODnFzQ4tIbIsRlBta8wVWU8VUa2swsyvphzmzBzAjuutbLYjyItECK68OpU2OINIOa0kEdJykg7GRr9Fb1KbGAMec+Gre486sdexOxF/n/UD+ct4jiaeJa9jg6wzBxsdZknQ9dL8l+i8PqU6rMv8AdYiw/wDjqjSPP7LKMa5ilUdNAn/eMP36Dxq9o+G/ONDoRf3TPf8A2i0dljmjuP8A4WKZtexJH6/0j4iold7+zFT+/wAG/K6/vMmPEiPkHndTsJSY7EVKM/weIUjUZ/TUiXRyOrvHLqqi+weDGWphCZaRnoOPLVpnoTB6OPNZlzSCQRBFiOR3UvhONcMNTe7+Zgqxo1B/QDl57Alo1+LfSV7T4fLWLhpUAf56O9SJ81iqpREQEREBERAREQEREBS8AySTyURWXDm90nr9grGrmusXWsIafT1soGJqhsZvdkA+CsMToOp+xP2VRxRsiBuuzhn2WvMz3c5E2nSu8Dl91bYWl/Dw52Dmz5PUHhQGdk/GzL5wD9QrZgDQaLrF0lnU7jx3XO9TFaYW9d07NJHqB91HNEGsajvgs3xO/kPquvD3l4J0rMEPHOdCOhj1BVNU4kezrTZ1N1/Ajun5H0Wqt3skcQ4g4uFKiM1R2gG3MnkOqs+DcCbT7zznqHVx0HRo2HXU/JReB4cUaQe7+ZUAc8nUA3DfAfWeig8T4/fKHa2AGp9FP2E3jLGjNTfD2nUa/wChWH4h7PdpA7eqWXloIaOksYGtPpstIMJiHDM6mabT+Ox/6dfUKPiqBZBmWkxmGx6jY8ucJCsNxHg5wlFzqbGOY735BdlEkTqI8QLSZhaLG0yGnugFl4Glth0VsJvP+LcdD4beEFRMVSh0jeZ8d0sJWY9oKLGsuwtz1XHNL3SS0RDQ2IcGTrHeVNheH5KjCzOQ6SZHuQNpIcTOkDkVr8bh2PNJhpsuASYILjL6YzQRmAa0e9P0RuEaxuXLNOQYicpI+uV3zhNG2dbgWF1TvFxIeGOhoYSNJuSNbEi8LjJewNHaONId0iTI/DOWMoOhnUla4UGzoDyPP9D1CkUcMCdLfQn7HcfsXpTbJkva2HBlJgyuhx77zmDX5R7pcA1zi0SYIiSuLX0ZFUuqOOQZWmWDNlvfcEiwvrFlucRwllVmVwHiQHQdJ8RpOseCtuDeyOGLO0LG5ySHWl2YG8k3Pir0ptkvZ6s6IJkWiHSBYb+R3sZI0gzONcLLqXcJDgZYZiHwbGPxCR0cOi0fEOCNa4OYAAbO8OflEqM6lIe0m5ZmF9wYPnIafMq9h+UN4NUcC2mABMWa0E3PIxpFp3C03srgHszUDIztLmdHsvbrbRXb+J0acSACdb84Fzt3iFUN9pGHFUnNAgVWm3Iw0+pJUGgcwOr0XkHJi6Rp1B/UBvblLdOflU0y9mFpuN6mAxYHxXaXwQLfE4gRuArLiNYCkDP8nFAieU5ieW/+iiYkjPxJkCHsbUiLS1od4ayoLarhAMbjaQ93FUBUbrGZum0a5jryTHVBVwWFqTJb3CbHYjYn/h891wZiv4vDas97szTOl4pkH5umy90z/ulVl/4dQgTOzmxr0d0RVUiIiCIiAiIgIiICIiArXAjuDxP1VUrXBHuDz+qyx8tHqPwmKd7vn9FWVa8PAOjreB2/RT8Y73fH7H9FS8QvELs4/wDm87v9WVeYYBzI0LTbnzBXV/EmGKWMBaHWZW0aDtP4TMd7TwXOAabXssSNtjuPVZTj3tRVYHUKtNlWW92e65p2JixHS3iua+dvSxrbn2hZhXsOKqBtSk4Mc7/i0XWzADVwgEgbtH4lS4rjeHr1anYVJFVtQZdHd05mkt27s6r8zr4eu/vvJMAASZho0A5AclywjqjCS1zmm4OVxBM63Gyxs34bJlp+01cY/FGlTpHKXsa5zvwNyguMecRzIVthaNDCD+GJedXuu8+ew6CAvz72U4xlJc1r2sp0W08zzmzGW/EAJPck+KtW1cTiO/TaAw6Oe7KD4WJI6wtVns2ytHiuNl2qq6mK13BsRsQuWF4U7+9qt8GyfmY+imuwtIQDpuTJ+46qzSXbnSAc23eyiRzy7gwNRYza3oqvi9V1MEtgzYTABOrLkgAkWkk6WBJVycK2mZGkg3i7SNQD4mDB0XGrRbMPmAY5Hm03vaSNDYlVGH4lxp5awspuFRrBYwWyXuzCRckEkaC4Vth8ZnpseQQKgNiJIM94Abum88ssK4xXGMHTZEMJIIMGZPoL67BZXBccD8zWtblFW0gm5aJ0IOwtPkg0OEoE5LENqAwYcIPmOk+EBTcPYAkRaDpqDymxiR4DqqTDcTJaLt7rjlNpAyiwLu8BtEjlfRfTjWzr8UCLDQ/qmzTUms0bzqN9QfDlGnJTOFcYDS8SAO6Z8o+3zWMHFQOWxnxdA+iz2M4hUe+GVGw7KMlpy5c0yJkwG2tbMpsb7j3tA1zXU2Ol52Gov00UAY2QCT8TvTuFZ+pToBhb/Z3ZzoS4hsxEkSAR0i/nK9UWue3JT7z2WgToZ8hAt5DSbhW8ToueXEOENPmG9JFjccrQbzCo8KGDFUmBvfL2mziZ5kzO08tFqGYXsnPNZwlwEtJZYaFpDSTEGLleqPCKFN7KjDdpOUnaYIvrz1nXxQW3FHTSrdagb5wBpovmKdNbF/8A13g6/hBGvQqM+uHdkwb1M7vIfWPoF4q4kZcVU/ERTbG+xj/DBVFhhXSeHC9y92/Jp+k6/qrfhLWOo187srTVeZ8Cw262Pz11VRTIZWpDbCYcuP5i3LG2tjt8rSsO3LhKYJ94yfE3Hn3vkoqNUiTlmNp1jr1Xld6zGNbTg5nPGaNMrOfOTsuCSpYIiKoIiICIiAiIgKzwTu55n9fuqxTsAe64eB+v6K4+Wnnn2OPEKmnQ/wCX3VW+tBkiQrDHjX19Lqvqs1Xbxd8bHnZXWUpjMc6jTe9riGgFx0INtptJWGp4wvqF1Qy5xknnyHkNlrcVgnYii7DB7aZqQGPcSAHZgWtJ5OIy+e+iwdHDvpveyoIcxzmm9g5riDcdQVzcl1dPS4pubX1fEF1vkmH4ZUfo0rvw7EURGYhavC+0+FpNgZZWP1Phn9NT4PgtVog1DSYbm9ifDSYm/gtCOJ1H92k0OA5OZAHroqTiftjSqd3KXDk0kHyIULhftTQacrKRcXHVwYT6yfstdu+7OTTXYRlaoR3qYn+omPQK5xPAsQwTmpvGUOs4gxf8QA258lm+HcVZ2ga2kGvdoGtbOkn3dFoXcULgWyQcsRf5gornhq5bNGq1zHOb3Zm4uYESDqYjc9VFxdSR+ZrOm46DmveKaCBIbF/dEcvQ6X/RQcQ+zeeVp25tPTkiMvwbDVHua+q7uEimBAInMRm7xdMGPQ2XbiOBLh2jAM7CQ9oHvcnRubX/AMlY8XexlMUphwETrHM2AVFxStVD6jKdQ1Gnsw0huUPIaYs74vevAMtEaBXweXVsgNLiQZLHDUkmTqN+ZPjyXLE4ltOm0ukycoJMghrjBIAjWLAyZjaV84bUo1I7V1SGS45IaItOaxNhPLddKeEL89IU+7TqOGUHQQ03M5vLobSFFcW12SwvaHNc4h7HEkNpmSTe06Ni2ql8RFWllAcMknK7u3A7wJy3jW0WsvL8EwUy0kEMc0ZZa2xGUm4IMRfwJFzCl8HfUa5rS60QyZtM92Y93aD1veFBT4rGw4gy3KQRlHeuZnOG6i/O3Iq64RhS1jmS0udBcO0yv2MguBB1mLKyxuM7MF76VENbEuNKmYG5s0lZvH4ik+qQQ99Rzsw2p3Etc4Ag2bAjYeJRXdvCzAtUeQTLC1rTBIklpJLpEjuk6aLlUrOe+HAgMIETckXIg7g92SYG6kcP9mWnLinve2XQxlv4gaIcSdm2AtqZiIU9/DaZ2j99dfNPJvStbSaZAFsoMMzHMdvX4dzlzGzlIw2EcXQ0yAZ2ylwnM4chn0PIPOy7u4cTPfHoR4yROulgOsqdSowP5hBtdoiIjSRrYeGwCmqu4nngbKNI1cS/vPguEnM4xZsTc9NlT0w97SHd1uYuDdbmxtsAAB1ud11ZRg5nOc934nmT5bDyXVWY/LG5fDxTZE3JJ1JuT4r2iLJiIiICIiAiIgIiIClcPd3o5iPv9lFXuk/KQeSRjnN42J2Joyqp9OPKyvyJUHE0bnqJ8xY/ZdnBfu08nl/Dtn8Uym9jmPsCCDNpB5FY1zxSmmQC24a6IBGxW44nh1QcVwzWsLnAHYDm46emvksefjdnpea2d2extFpu1Vb2wrV2CPZvqZoDSBcak7DyXJ/CKuvd/lCtqZDTl1tr3guWT5dnVvxHPhbj2jSHikQZD3TDSASJgG0wNN1t8BicRSd/vGR++em4T5gtDSPRZ/BcM7Ke1LS0ODajSxrgGuEsc1xuIidBpCv8NLCKDxZtmOGwGx/p5cvoI2HAcW2o7Mas7NkRffw8k4xLDDrg+67xN46gKPgKTcgay1odB96d/HkVX4bijg5+FxV8tw7T8rgfhN9dNQd1FT2Yn4HGMwF5FnatJ6deRK5NxAY4l3vAEMETcWuN9Y2idtVBxgLXNzmBBEgWPVpGkzMbGYOhMOtUpmMxqPgRqKYPjGZx/wCoJtdPld2asXywNhvaNzS6SYHZt5k6Alu/gpHHHCmzQEOAbrGUgy10jkZH+IrxhcTSpCWUaTTNiQXuJ096oXGVL4fgKVQZnsa46EXgHUy2YnfrM7rLG77McppmsTh6j4yMc5rhYNlzRAObSwgj0hS6AxQbmMMaIHetUaOcn4TvJ8gtjQw9MuaKgOSRIaALDQADZZvF8Rbi8Q0BgZSbOVm4guAzEXzHuyJ6KWeyy+6qa11RjmUW5yQy41Fy46C2nz8lY1MBWyw6bNHxCZ21M7yrajSawQxoaOQAA+S9rHS9Spw2DqZ3CpLmVWlryXTEix1mxMeqlO4VSzF0HMdb2/X5qYiuk6q91KhdE7ANA2AGgA2C8IiqCIiAiIgIiICIiAiIgIiICIiAiIgtcDUlscvpsvuIbaeV/wBfkoGDrZXX0NlaFbcMtd3n8+GsrPaqrG0QRz3WS40C86QG6D6nxW2qsiR5jw/y/RUfFMHuu7KTPHqjk4srhl0VkcbSJZSpDcl5/M45W+gaFYYmDiMXHu06HZjwz0x/6qLjO7WJ2aW/KF0w4nE4wfjbUaOpBD/o0+q8/LHVevhlKkUWZnU2H++w1MDq9rGkf+LvVSuHYnP/AAn2qMEA/iaP/YfMX5qrpPL8M1zTD8M+J3AnMw+sj/CrKowVQzEMEH4gPhcNf1HQhYti64S2oyYaXAAugamLmOqmcbw7MVhW4mh3nsbmkfFSNzY3lvveGZfeCcQGZsQH6x4RPlf5qiqcWfgsfVJMUBTD2s+EtLnEiOhzNjkAsVQ8FxQ1GOou+IA0idnwXNb4Ou3xcvnCKTapAc9wzaRH4Q4ag9fRRuOUGU67ux/l/wAOpTj8BJiPC7fFqjYfFFpzbgz5teT9CU0ba5/BmsEgl1tXHb6LzhqhYZFy0abvZ/8Apv71UjAY9tRkE6GPJ3un1so1ek8nuAlwJIgEw8agx8Lh9+ayxSrpjw5oc0yCJBVVU4YG1jVaBDpJ6O09DJPipnCMDiM3dov7OoC4tMTTfvbWD03vuVb0eFPe7IcjZmzniY3sJNlnlqxjFEi742iGPcwHMWmCR7s7gb2t6rgtbIREQEREBERAREQEREBERAREQEREBERAREQFZ4StmbG4+myrF7pVC0yFZdNXLx9eP6rGsJ8RoodZuYfvVSg8ESFwrDcef75rs4eTXa+HlcmFveeYyPEuHkEnWd1Wh+Svm/qBPgQM3ylbHFsDgstjsKczjG/0ssuXi23cHL27o3DTkrVWH3HEsPndp8jHkSu3DMf2DnNd7pdB6HY+W/QlQcQDmM7wflH2Xfh/DnYquGSRmguIEmBY+ZtHUhcdxsehOSXys+LYk08r2GC11j5GfJevaar/AG2hQfSY5z3ZmPa0FxBsdtrTfYrQYz2aoUKLQQ/EfxMozugWa6LNibjLBKmYZtYDJh8OKbRMBrIHmXQ2fGIWn6uHy3TDKqHh/shXq029uRSDWltu87JOYT8IgufudRZWjPZnA0iDUcXmZvUJju8qcWgK1ZwSq8TWrZZMlo7x0AvByzbXb6SqXCMOy5DnnXvO3392Foz9Zxzx3bsfS53yquFdixxZTpNcb9/IGwwe6HakkSG6idYFwp7OLFhc4Q4saYaYgmLTyAhfOKcSpMp5KYa2TctEAHkIu5yzTQSc2cOzgjKwyG7y4nbKNtyY1W/HO3HdndzdO8+17T/W9f7SNDGnUkDaBJA5rO/7ec42zCO80Fvdklw96DMXm+hEahUn9vLu72YvlAnZ0Hqfly6qZTYGtDRtcnmTEn0AA6AKzu2W6ffn+5PzREWTAREQEREBERAREQEREBERAREQEREBERAREQEREHSlVI8OX73XZzpuFFX1roWWOWmnl4Zn3nl4rqvrAFWboPTwXB2DB1J/7f16rpw55I4r6fPfhnMVw0veMvIADeZJ+62HstwXsRcAudcnkQRl8hfXU9AuNCkxu21419dvJSnY8xDRlH18Vyep5s8508c/l3+m4JL1ct/hoDjGsEAwodfi45yqJ1QnUryvOx9D+avSy9Z+WJOJ4+c+QNJcRPIageMSRcAxfkqriXEaxgAZpMQ2YBgHUjvWM6RZdcXhG1BDh4EWI8CvNLAtGrnuMzcgA2AJMRJOUfPmunD02GF3I58+fLOaqEwVSD3b9HGY3EkQL8vJc6OFr3AAY0m8ukkXtIkxdXIEL6t+o1bR8Nhct3HM6ImI9ApCIqgiIgIiICIiAiIgIiICIiAiIgIiICIiAiIgIiICIiAiIgIiICIiAiIgIiICIiAiIgIiICIiAiIgIiICIiAiIgIiICIiD/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32" name="AutoShape 2" descr="Resultado de imagen para sistema termodinamic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 txBox="1">
            <a:spLocks noChangeArrowheads="1"/>
          </p:cNvSpPr>
          <p:nvPr/>
        </p:nvSpPr>
        <p:spPr>
          <a:xfrm>
            <a:off x="533400" y="838200"/>
            <a:ext cx="8382000" cy="1066800"/>
          </a:xfrm>
          <a:prstGeom prst="rect">
            <a:avLst/>
          </a:prstGeom>
          <a:ln/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s-MX" sz="36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EJEMPLO ADIABÁTICO: </a:t>
            </a:r>
          </a:p>
        </p:txBody>
      </p:sp>
      <p:sp>
        <p:nvSpPr>
          <p:cNvPr id="5" name="Text Box 16"/>
          <p:cNvSpPr txBox="1">
            <a:spLocks noChangeArrowheads="1"/>
          </p:cNvSpPr>
          <p:nvPr/>
        </p:nvSpPr>
        <p:spPr bwMode="auto">
          <a:xfrm>
            <a:off x="838200" y="5473801"/>
            <a:ext cx="3124200" cy="1079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ts val="2000"/>
              </a:spcBef>
              <a:buClr>
                <a:srgbClr val="FFFF00"/>
              </a:buClr>
              <a:buSzPct val="100000"/>
              <a:buFont typeface="Tahoma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MX" sz="3200"/>
              <a:t>Paredes aisladas: </a:t>
            </a:r>
            <a:r>
              <a:rPr lang="es-MX" sz="3200">
                <a:latin typeface="Symbol" pitchFamily="18" charset="2"/>
              </a:rPr>
              <a:t></a:t>
            </a:r>
            <a:r>
              <a:rPr lang="es-MX" sz="3200">
                <a:latin typeface="Times New Roman" pitchFamily="18" charset="0"/>
              </a:rPr>
              <a:t>Q = 0</a:t>
            </a:r>
          </a:p>
        </p:txBody>
      </p:sp>
      <p:grpSp>
        <p:nvGrpSpPr>
          <p:cNvPr id="6" name="Group 43"/>
          <p:cNvGrpSpPr>
            <a:grpSpLocks/>
          </p:cNvGrpSpPr>
          <p:nvPr/>
        </p:nvGrpSpPr>
        <p:grpSpPr bwMode="auto">
          <a:xfrm>
            <a:off x="533400" y="1740001"/>
            <a:ext cx="7924800" cy="3505200"/>
            <a:chOff x="432" y="768"/>
            <a:chExt cx="4992" cy="2208"/>
          </a:xfrm>
        </p:grpSpPr>
        <p:sp>
          <p:nvSpPr>
            <p:cNvPr id="7" name="AutoShape 18"/>
            <p:cNvSpPr>
              <a:spLocks noChangeArrowheads="1"/>
            </p:cNvSpPr>
            <p:nvPr/>
          </p:nvSpPr>
          <p:spPr bwMode="auto">
            <a:xfrm>
              <a:off x="432" y="768"/>
              <a:ext cx="4992" cy="2208"/>
            </a:xfrm>
            <a:prstGeom prst="roundRect">
              <a:avLst>
                <a:gd name="adj" fmla="val 46"/>
              </a:avLst>
            </a:prstGeom>
            <a:solidFill>
              <a:srgbClr val="800000"/>
            </a:solidFill>
            <a:ln w="38160">
              <a:solidFill>
                <a:srgbClr val="CC99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s-CO"/>
            </a:p>
          </p:txBody>
        </p:sp>
        <p:sp>
          <p:nvSpPr>
            <p:cNvPr id="8" name="AutoShape 6"/>
            <p:cNvSpPr>
              <a:spLocks noChangeArrowheads="1"/>
            </p:cNvSpPr>
            <p:nvPr/>
          </p:nvSpPr>
          <p:spPr bwMode="auto">
            <a:xfrm>
              <a:off x="1982" y="2631"/>
              <a:ext cx="473" cy="164"/>
            </a:xfrm>
            <a:prstGeom prst="roundRect">
              <a:avLst>
                <a:gd name="adj" fmla="val 606"/>
              </a:avLst>
            </a:prstGeom>
            <a:solidFill>
              <a:schemeClr val="accent1"/>
            </a:solidFill>
            <a:ln w="936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s-CO"/>
            </a:p>
          </p:txBody>
        </p:sp>
        <p:sp>
          <p:nvSpPr>
            <p:cNvPr id="9" name="AutoShape 7"/>
            <p:cNvSpPr>
              <a:spLocks noChangeArrowheads="1"/>
            </p:cNvSpPr>
            <p:nvPr/>
          </p:nvSpPr>
          <p:spPr bwMode="auto">
            <a:xfrm>
              <a:off x="1982" y="1790"/>
              <a:ext cx="473" cy="850"/>
            </a:xfrm>
            <a:prstGeom prst="roundRect">
              <a:avLst>
                <a:gd name="adj" fmla="val 208"/>
              </a:avLst>
            </a:prstGeom>
            <a:solidFill>
              <a:srgbClr val="CC9900"/>
            </a:solidFill>
            <a:ln w="936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s-CO"/>
            </a:p>
          </p:txBody>
        </p:sp>
        <p:sp>
          <p:nvSpPr>
            <p:cNvPr id="10" name="AutoShape 8"/>
            <p:cNvSpPr>
              <a:spLocks noChangeArrowheads="1"/>
            </p:cNvSpPr>
            <p:nvPr/>
          </p:nvSpPr>
          <p:spPr bwMode="auto">
            <a:xfrm>
              <a:off x="1982" y="1481"/>
              <a:ext cx="473" cy="319"/>
            </a:xfrm>
            <a:prstGeom prst="roundRect">
              <a:avLst>
                <a:gd name="adj" fmla="val 310"/>
              </a:avLst>
            </a:prstGeom>
            <a:solidFill>
              <a:schemeClr val="accent1"/>
            </a:solidFill>
            <a:ln w="936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s-CO"/>
            </a:p>
          </p:txBody>
        </p:sp>
        <p:sp>
          <p:nvSpPr>
            <p:cNvPr id="11" name="Freeform 9"/>
            <p:cNvSpPr>
              <a:spLocks noChangeArrowheads="1"/>
            </p:cNvSpPr>
            <p:nvPr/>
          </p:nvSpPr>
          <p:spPr bwMode="auto">
            <a:xfrm>
              <a:off x="2112" y="1056"/>
              <a:ext cx="168" cy="571"/>
            </a:xfrm>
            <a:custGeom>
              <a:avLst/>
              <a:gdLst/>
              <a:ahLst/>
              <a:cxnLst>
                <a:cxn ang="0">
                  <a:pos x="185" y="2515"/>
                </a:cxn>
                <a:cxn ang="0">
                  <a:pos x="185" y="629"/>
                </a:cxn>
                <a:cxn ang="0">
                  <a:pos x="0" y="629"/>
                </a:cxn>
                <a:cxn ang="0">
                  <a:pos x="370" y="0"/>
                </a:cxn>
                <a:cxn ang="0">
                  <a:pos x="741" y="629"/>
                </a:cxn>
                <a:cxn ang="0">
                  <a:pos x="556" y="629"/>
                </a:cxn>
                <a:cxn ang="0">
                  <a:pos x="556" y="2515"/>
                </a:cxn>
                <a:cxn ang="0">
                  <a:pos x="185" y="2515"/>
                </a:cxn>
              </a:cxnLst>
              <a:rect l="0" t="0" r="r" b="b"/>
              <a:pathLst>
                <a:path w="742" h="2516">
                  <a:moveTo>
                    <a:pt x="185" y="2515"/>
                  </a:moveTo>
                  <a:lnTo>
                    <a:pt x="185" y="629"/>
                  </a:lnTo>
                  <a:lnTo>
                    <a:pt x="0" y="629"/>
                  </a:lnTo>
                  <a:lnTo>
                    <a:pt x="370" y="0"/>
                  </a:lnTo>
                  <a:lnTo>
                    <a:pt x="741" y="629"/>
                  </a:lnTo>
                  <a:lnTo>
                    <a:pt x="556" y="629"/>
                  </a:lnTo>
                  <a:lnTo>
                    <a:pt x="556" y="2515"/>
                  </a:lnTo>
                  <a:lnTo>
                    <a:pt x="185" y="2515"/>
                  </a:lnTo>
                </a:path>
              </a:pathLst>
            </a:custGeom>
            <a:solidFill>
              <a:srgbClr val="FF6600"/>
            </a:solidFill>
            <a:ln w="9360">
              <a:solidFill>
                <a:srgbClr val="FFFF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s-CO"/>
            </a:p>
          </p:txBody>
        </p:sp>
        <p:sp>
          <p:nvSpPr>
            <p:cNvPr id="12" name="AutoShape 12"/>
            <p:cNvSpPr>
              <a:spLocks noChangeArrowheads="1"/>
            </p:cNvSpPr>
            <p:nvPr/>
          </p:nvSpPr>
          <p:spPr bwMode="auto">
            <a:xfrm>
              <a:off x="883" y="2662"/>
              <a:ext cx="490" cy="170"/>
            </a:xfrm>
            <a:prstGeom prst="roundRect">
              <a:avLst>
                <a:gd name="adj" fmla="val 588"/>
              </a:avLst>
            </a:prstGeom>
            <a:solidFill>
              <a:schemeClr val="accent1"/>
            </a:solidFill>
            <a:ln w="936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s-CO"/>
            </a:p>
          </p:txBody>
        </p:sp>
        <p:sp>
          <p:nvSpPr>
            <p:cNvPr id="13" name="AutoShape 13"/>
            <p:cNvSpPr>
              <a:spLocks noChangeArrowheads="1"/>
            </p:cNvSpPr>
            <p:nvPr/>
          </p:nvSpPr>
          <p:spPr bwMode="auto">
            <a:xfrm>
              <a:off x="883" y="2151"/>
              <a:ext cx="490" cy="511"/>
            </a:xfrm>
            <a:prstGeom prst="roundRect">
              <a:avLst>
                <a:gd name="adj" fmla="val 204"/>
              </a:avLst>
            </a:prstGeom>
            <a:solidFill>
              <a:srgbClr val="CC9900"/>
            </a:solidFill>
            <a:ln w="936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s-CO"/>
            </a:p>
          </p:txBody>
        </p:sp>
        <p:sp>
          <p:nvSpPr>
            <p:cNvPr id="14" name="AutoShape 14"/>
            <p:cNvSpPr>
              <a:spLocks noChangeArrowheads="1"/>
            </p:cNvSpPr>
            <p:nvPr/>
          </p:nvSpPr>
          <p:spPr bwMode="auto">
            <a:xfrm>
              <a:off x="883" y="1811"/>
              <a:ext cx="490" cy="340"/>
            </a:xfrm>
            <a:prstGeom prst="roundRect">
              <a:avLst>
                <a:gd name="adj" fmla="val 292"/>
              </a:avLst>
            </a:prstGeom>
            <a:solidFill>
              <a:schemeClr val="accent1"/>
            </a:solidFill>
            <a:ln w="936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s-CO"/>
            </a:p>
          </p:txBody>
        </p:sp>
        <p:sp>
          <p:nvSpPr>
            <p:cNvPr id="15" name="Freeform 15"/>
            <p:cNvSpPr>
              <a:spLocks noChangeArrowheads="1"/>
            </p:cNvSpPr>
            <p:nvPr/>
          </p:nvSpPr>
          <p:spPr bwMode="auto">
            <a:xfrm>
              <a:off x="1056" y="1296"/>
              <a:ext cx="154" cy="633"/>
            </a:xfrm>
            <a:custGeom>
              <a:avLst/>
              <a:gdLst/>
              <a:ahLst/>
              <a:cxnLst>
                <a:cxn ang="0">
                  <a:pos x="169" y="2792"/>
                </a:cxn>
                <a:cxn ang="0">
                  <a:pos x="169" y="698"/>
                </a:cxn>
                <a:cxn ang="0">
                  <a:pos x="0" y="698"/>
                </a:cxn>
                <a:cxn ang="0">
                  <a:pos x="339" y="0"/>
                </a:cxn>
                <a:cxn ang="0">
                  <a:pos x="679" y="698"/>
                </a:cxn>
                <a:cxn ang="0">
                  <a:pos x="509" y="698"/>
                </a:cxn>
                <a:cxn ang="0">
                  <a:pos x="509" y="2792"/>
                </a:cxn>
                <a:cxn ang="0">
                  <a:pos x="169" y="2792"/>
                </a:cxn>
              </a:cxnLst>
              <a:rect l="0" t="0" r="r" b="b"/>
              <a:pathLst>
                <a:path w="680" h="2793">
                  <a:moveTo>
                    <a:pt x="169" y="2792"/>
                  </a:moveTo>
                  <a:lnTo>
                    <a:pt x="169" y="698"/>
                  </a:lnTo>
                  <a:lnTo>
                    <a:pt x="0" y="698"/>
                  </a:lnTo>
                  <a:lnTo>
                    <a:pt x="339" y="0"/>
                  </a:lnTo>
                  <a:lnTo>
                    <a:pt x="679" y="698"/>
                  </a:lnTo>
                  <a:lnTo>
                    <a:pt x="509" y="698"/>
                  </a:lnTo>
                  <a:lnTo>
                    <a:pt x="509" y="2792"/>
                  </a:lnTo>
                  <a:lnTo>
                    <a:pt x="169" y="2792"/>
                  </a:lnTo>
                </a:path>
              </a:pathLst>
            </a:custGeom>
            <a:solidFill>
              <a:srgbClr val="FF6600"/>
            </a:solidFill>
            <a:ln w="9360">
              <a:solidFill>
                <a:srgbClr val="FFFF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s-CO"/>
            </a:p>
          </p:txBody>
        </p:sp>
        <p:sp>
          <p:nvSpPr>
            <p:cNvPr id="16" name="AutoShape 4"/>
            <p:cNvSpPr>
              <a:spLocks noChangeArrowheads="1"/>
            </p:cNvSpPr>
            <p:nvPr/>
          </p:nvSpPr>
          <p:spPr bwMode="auto">
            <a:xfrm>
              <a:off x="1824" y="1066"/>
              <a:ext cx="144" cy="1728"/>
            </a:xfrm>
            <a:prstGeom prst="roundRect">
              <a:avLst>
                <a:gd name="adj" fmla="val 630"/>
              </a:avLst>
            </a:prstGeom>
            <a:solidFill>
              <a:schemeClr val="accent1"/>
            </a:solidFill>
            <a:ln w="936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s-CO"/>
            </a:p>
          </p:txBody>
        </p:sp>
        <p:sp>
          <p:nvSpPr>
            <p:cNvPr id="17" name="AutoShape 5"/>
            <p:cNvSpPr>
              <a:spLocks noChangeArrowheads="1"/>
            </p:cNvSpPr>
            <p:nvPr/>
          </p:nvSpPr>
          <p:spPr bwMode="auto">
            <a:xfrm>
              <a:off x="2455" y="1077"/>
              <a:ext cx="158" cy="1718"/>
            </a:xfrm>
            <a:prstGeom prst="roundRect">
              <a:avLst>
                <a:gd name="adj" fmla="val 630"/>
              </a:avLst>
            </a:prstGeom>
            <a:solidFill>
              <a:schemeClr val="accent1"/>
            </a:solidFill>
            <a:ln w="936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s-CO"/>
            </a:p>
          </p:txBody>
        </p:sp>
        <p:sp>
          <p:nvSpPr>
            <p:cNvPr id="18" name="AutoShape 11"/>
            <p:cNvSpPr>
              <a:spLocks noChangeArrowheads="1"/>
            </p:cNvSpPr>
            <p:nvPr/>
          </p:nvSpPr>
          <p:spPr bwMode="auto">
            <a:xfrm>
              <a:off x="1373" y="1045"/>
              <a:ext cx="163" cy="1787"/>
            </a:xfrm>
            <a:prstGeom prst="roundRect">
              <a:avLst>
                <a:gd name="adj" fmla="val 616"/>
              </a:avLst>
            </a:prstGeom>
            <a:solidFill>
              <a:schemeClr val="accent1"/>
            </a:solidFill>
            <a:ln w="936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s-CO"/>
            </a:p>
          </p:txBody>
        </p:sp>
        <p:sp>
          <p:nvSpPr>
            <p:cNvPr id="19" name="AutoShape 10"/>
            <p:cNvSpPr>
              <a:spLocks noChangeArrowheads="1"/>
            </p:cNvSpPr>
            <p:nvPr/>
          </p:nvSpPr>
          <p:spPr bwMode="auto">
            <a:xfrm>
              <a:off x="720" y="1045"/>
              <a:ext cx="163" cy="1787"/>
            </a:xfrm>
            <a:prstGeom prst="roundRect">
              <a:avLst>
                <a:gd name="adj" fmla="val 616"/>
              </a:avLst>
            </a:prstGeom>
            <a:solidFill>
              <a:schemeClr val="accent1"/>
            </a:solidFill>
            <a:ln w="936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s-CO"/>
            </a:p>
          </p:txBody>
        </p:sp>
        <p:sp>
          <p:nvSpPr>
            <p:cNvPr id="20" name="Line 36"/>
            <p:cNvSpPr>
              <a:spLocks noChangeShapeType="1"/>
            </p:cNvSpPr>
            <p:nvPr/>
          </p:nvSpPr>
          <p:spPr bwMode="auto">
            <a:xfrm>
              <a:off x="2928" y="768"/>
              <a:ext cx="0" cy="2208"/>
            </a:xfrm>
            <a:prstGeom prst="line">
              <a:avLst/>
            </a:prstGeom>
            <a:noFill/>
            <a:ln w="57150">
              <a:solidFill>
                <a:srgbClr val="CC9900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es-CO"/>
            </a:p>
          </p:txBody>
        </p:sp>
      </p:grpSp>
      <p:grpSp>
        <p:nvGrpSpPr>
          <p:cNvPr id="21" name="Group 44"/>
          <p:cNvGrpSpPr>
            <a:grpSpLocks/>
          </p:cNvGrpSpPr>
          <p:nvPr/>
        </p:nvGrpSpPr>
        <p:grpSpPr bwMode="auto">
          <a:xfrm>
            <a:off x="4648200" y="1968601"/>
            <a:ext cx="3733800" cy="2911475"/>
            <a:chOff x="3024" y="912"/>
            <a:chExt cx="2352" cy="1834"/>
          </a:xfrm>
        </p:grpSpPr>
        <p:sp>
          <p:nvSpPr>
            <p:cNvPr id="22" name="Line 45"/>
            <p:cNvSpPr>
              <a:spLocks noChangeShapeType="1"/>
            </p:cNvSpPr>
            <p:nvPr/>
          </p:nvSpPr>
          <p:spPr bwMode="auto">
            <a:xfrm>
              <a:off x="3554" y="962"/>
              <a:ext cx="1" cy="1362"/>
            </a:xfrm>
            <a:prstGeom prst="line">
              <a:avLst/>
            </a:prstGeom>
            <a:noFill/>
            <a:ln w="3816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3" name="Line 46"/>
            <p:cNvSpPr>
              <a:spLocks noChangeShapeType="1"/>
            </p:cNvSpPr>
            <p:nvPr/>
          </p:nvSpPr>
          <p:spPr bwMode="auto">
            <a:xfrm>
              <a:off x="3554" y="2324"/>
              <a:ext cx="1795" cy="1"/>
            </a:xfrm>
            <a:prstGeom prst="line">
              <a:avLst/>
            </a:prstGeom>
            <a:noFill/>
            <a:ln w="3816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4" name="Text Box 47"/>
            <p:cNvSpPr txBox="1">
              <a:spLocks noChangeArrowheads="1"/>
            </p:cNvSpPr>
            <p:nvPr/>
          </p:nvSpPr>
          <p:spPr bwMode="auto">
            <a:xfrm>
              <a:off x="4751" y="1351"/>
              <a:ext cx="513" cy="3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ts val="1875"/>
                </a:spcBef>
              </a:pPr>
              <a:r>
                <a:rPr lang="es-MX" sz="3000"/>
                <a:t>B</a:t>
              </a:r>
              <a:endParaRPr lang="es-MX"/>
            </a:p>
          </p:txBody>
        </p:sp>
        <p:sp>
          <p:nvSpPr>
            <p:cNvPr id="25" name="Text Box 48"/>
            <p:cNvSpPr txBox="1">
              <a:spLocks noChangeArrowheads="1"/>
            </p:cNvSpPr>
            <p:nvPr/>
          </p:nvSpPr>
          <p:spPr bwMode="auto">
            <a:xfrm>
              <a:off x="3744" y="912"/>
              <a:ext cx="513" cy="3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ts val="1875"/>
                </a:spcBef>
              </a:pPr>
              <a:r>
                <a:rPr lang="es-MX" sz="3000"/>
                <a:t>A</a:t>
              </a:r>
              <a:endParaRPr lang="es-MX"/>
            </a:p>
          </p:txBody>
        </p:sp>
        <p:sp>
          <p:nvSpPr>
            <p:cNvPr id="26" name="Line 49"/>
            <p:cNvSpPr>
              <a:spLocks noChangeShapeType="1"/>
            </p:cNvSpPr>
            <p:nvPr/>
          </p:nvSpPr>
          <p:spPr bwMode="auto">
            <a:xfrm flipV="1">
              <a:off x="3888" y="1392"/>
              <a:ext cx="1" cy="910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7" name="Line 50"/>
            <p:cNvSpPr>
              <a:spLocks noChangeShapeType="1"/>
            </p:cNvSpPr>
            <p:nvPr/>
          </p:nvSpPr>
          <p:spPr bwMode="auto">
            <a:xfrm flipV="1">
              <a:off x="3554" y="1344"/>
              <a:ext cx="334" cy="7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8" name="Line 51"/>
            <p:cNvSpPr>
              <a:spLocks noChangeShapeType="1"/>
            </p:cNvSpPr>
            <p:nvPr/>
          </p:nvSpPr>
          <p:spPr bwMode="auto">
            <a:xfrm>
              <a:off x="4992" y="2064"/>
              <a:ext cx="16" cy="260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9" name="Text Box 52"/>
            <p:cNvSpPr txBox="1">
              <a:spLocks noChangeArrowheads="1"/>
            </p:cNvSpPr>
            <p:nvPr/>
          </p:nvSpPr>
          <p:spPr bwMode="auto">
            <a:xfrm>
              <a:off x="3072" y="1152"/>
              <a:ext cx="384" cy="3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ts val="1875"/>
                </a:spcBef>
              </a:pPr>
              <a:r>
                <a:rPr lang="es-MX" sz="3000" i="1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P</a:t>
              </a:r>
              <a:r>
                <a:rPr lang="es-MX" sz="3000" i="1" baseline="-250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A</a:t>
              </a:r>
              <a:endParaRPr lang="es-MX"/>
            </a:p>
          </p:txBody>
        </p:sp>
        <p:sp>
          <p:nvSpPr>
            <p:cNvPr id="30" name="Text Box 53"/>
            <p:cNvSpPr txBox="1">
              <a:spLocks noChangeArrowheads="1"/>
            </p:cNvSpPr>
            <p:nvPr/>
          </p:nvSpPr>
          <p:spPr bwMode="auto">
            <a:xfrm>
              <a:off x="3744" y="2400"/>
              <a:ext cx="1632" cy="3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ts val="750"/>
                </a:spcBef>
              </a:pPr>
              <a:r>
                <a:rPr lang="es-MX" sz="3000" i="1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V</a:t>
              </a:r>
              <a:r>
                <a:rPr lang="es-MX" sz="3000" i="1" baseline="-250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</a:t>
              </a:r>
              <a:r>
                <a:rPr lang="es-MX" sz="3000" i="1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           V</a:t>
              </a:r>
              <a:r>
                <a:rPr lang="es-MX" sz="3000" i="1" baseline="-250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2</a:t>
              </a:r>
              <a:endParaRPr lang="es-MX"/>
            </a:p>
          </p:txBody>
        </p:sp>
        <p:sp>
          <p:nvSpPr>
            <p:cNvPr id="31" name="Text Box 54"/>
            <p:cNvSpPr txBox="1">
              <a:spLocks noChangeArrowheads="1"/>
            </p:cNvSpPr>
            <p:nvPr/>
          </p:nvSpPr>
          <p:spPr bwMode="auto">
            <a:xfrm>
              <a:off x="3024" y="1824"/>
              <a:ext cx="384" cy="3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ts val="1875"/>
                </a:spcBef>
              </a:pPr>
              <a:r>
                <a:rPr lang="es-MX" sz="3000" i="1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P</a:t>
              </a:r>
              <a:r>
                <a:rPr lang="es-MX" sz="3000" i="1" baseline="-250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B</a:t>
              </a:r>
              <a:endParaRPr lang="es-MX"/>
            </a:p>
          </p:txBody>
        </p:sp>
        <p:sp>
          <p:nvSpPr>
            <p:cNvPr id="32" name="Line 55"/>
            <p:cNvSpPr>
              <a:spLocks noChangeShapeType="1"/>
            </p:cNvSpPr>
            <p:nvPr/>
          </p:nvSpPr>
          <p:spPr bwMode="auto">
            <a:xfrm>
              <a:off x="3554" y="2064"/>
              <a:ext cx="1368" cy="1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33" name="AutoShape 56"/>
            <p:cNvSpPr>
              <a:spLocks noChangeArrowheads="1"/>
            </p:cNvSpPr>
            <p:nvPr/>
          </p:nvSpPr>
          <p:spPr bwMode="auto">
            <a:xfrm rot="9720000">
              <a:off x="4021" y="1251"/>
              <a:ext cx="818" cy="965"/>
            </a:xfrm>
            <a:prstGeom prst="roundRect">
              <a:avLst>
                <a:gd name="adj" fmla="val 125"/>
              </a:avLst>
            </a:prstGeom>
            <a:noFill/>
            <a:ln w="38160">
              <a:noFill/>
              <a:round/>
              <a:headEnd type="triangle" w="med" len="med"/>
              <a:tailEnd type="triangle" w="med" len="med"/>
            </a:ln>
          </p:spPr>
          <p:txBody>
            <a:bodyPr wrap="none" anchor="ctr"/>
            <a:lstStyle/>
            <a:p>
              <a:endParaRPr lang="es-CO"/>
            </a:p>
          </p:txBody>
        </p:sp>
      </p:grpSp>
      <p:grpSp>
        <p:nvGrpSpPr>
          <p:cNvPr id="34" name="Group 57"/>
          <p:cNvGrpSpPr>
            <a:grpSpLocks/>
          </p:cNvGrpSpPr>
          <p:nvPr/>
        </p:nvGrpSpPr>
        <p:grpSpPr bwMode="auto">
          <a:xfrm>
            <a:off x="6019800" y="2711551"/>
            <a:ext cx="1760538" cy="1085850"/>
            <a:chOff x="3885" y="1385"/>
            <a:chExt cx="1109" cy="684"/>
          </a:xfrm>
        </p:grpSpPr>
        <p:sp>
          <p:nvSpPr>
            <p:cNvPr id="35" name="Freeform 58"/>
            <p:cNvSpPr>
              <a:spLocks/>
            </p:cNvSpPr>
            <p:nvPr/>
          </p:nvSpPr>
          <p:spPr bwMode="auto">
            <a:xfrm>
              <a:off x="3885" y="1385"/>
              <a:ext cx="1109" cy="68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9" y="114"/>
                </a:cxn>
                <a:cxn ang="0">
                  <a:pos x="101" y="227"/>
                </a:cxn>
                <a:cxn ang="0">
                  <a:pos x="156" y="339"/>
                </a:cxn>
                <a:cxn ang="0">
                  <a:pos x="214" y="449"/>
                </a:cxn>
                <a:cxn ang="0">
                  <a:pos x="275" y="557"/>
                </a:cxn>
                <a:cxn ang="0">
                  <a:pos x="339" y="665"/>
                </a:cxn>
                <a:cxn ang="0">
                  <a:pos x="407" y="770"/>
                </a:cxn>
                <a:cxn ang="0">
                  <a:pos x="476" y="874"/>
                </a:cxn>
                <a:cxn ang="0">
                  <a:pos x="548" y="976"/>
                </a:cxn>
                <a:cxn ang="0">
                  <a:pos x="623" y="1076"/>
                </a:cxn>
                <a:cxn ang="0">
                  <a:pos x="700" y="1174"/>
                </a:cxn>
                <a:cxn ang="0">
                  <a:pos x="781" y="1270"/>
                </a:cxn>
                <a:cxn ang="0">
                  <a:pos x="862" y="1364"/>
                </a:cxn>
                <a:cxn ang="0">
                  <a:pos x="948" y="1457"/>
                </a:cxn>
                <a:cxn ang="0">
                  <a:pos x="1035" y="1546"/>
                </a:cxn>
                <a:cxn ang="0">
                  <a:pos x="1125" y="1634"/>
                </a:cxn>
                <a:cxn ang="0">
                  <a:pos x="1217" y="1719"/>
                </a:cxn>
                <a:cxn ang="0">
                  <a:pos x="1312" y="1802"/>
                </a:cxn>
                <a:cxn ang="0">
                  <a:pos x="1408" y="1882"/>
                </a:cxn>
                <a:cxn ang="0">
                  <a:pos x="1507" y="1961"/>
                </a:cxn>
                <a:cxn ang="0">
                  <a:pos x="1608" y="2037"/>
                </a:cxn>
                <a:cxn ang="0">
                  <a:pos x="1710" y="2110"/>
                </a:cxn>
                <a:cxn ang="0">
                  <a:pos x="1814" y="2180"/>
                </a:cxn>
                <a:cxn ang="0">
                  <a:pos x="1920" y="2249"/>
                </a:cxn>
                <a:cxn ang="0">
                  <a:pos x="2030" y="2314"/>
                </a:cxn>
                <a:cxn ang="0">
                  <a:pos x="2139" y="2378"/>
                </a:cxn>
                <a:cxn ang="0">
                  <a:pos x="2251" y="2437"/>
                </a:cxn>
                <a:cxn ang="0">
                  <a:pos x="2364" y="2494"/>
                </a:cxn>
                <a:cxn ang="0">
                  <a:pos x="2479" y="2549"/>
                </a:cxn>
                <a:cxn ang="0">
                  <a:pos x="2595" y="2600"/>
                </a:cxn>
                <a:cxn ang="0">
                  <a:pos x="2712" y="2648"/>
                </a:cxn>
                <a:cxn ang="0">
                  <a:pos x="2831" y="2694"/>
                </a:cxn>
                <a:cxn ang="0">
                  <a:pos x="2951" y="2738"/>
                </a:cxn>
                <a:cxn ang="0">
                  <a:pos x="3072" y="2777"/>
                </a:cxn>
                <a:cxn ang="0">
                  <a:pos x="3195" y="2814"/>
                </a:cxn>
                <a:cxn ang="0">
                  <a:pos x="3318" y="2848"/>
                </a:cxn>
                <a:cxn ang="0">
                  <a:pos x="3442" y="2878"/>
                </a:cxn>
                <a:cxn ang="0">
                  <a:pos x="3567" y="2906"/>
                </a:cxn>
                <a:cxn ang="0">
                  <a:pos x="3692" y="2930"/>
                </a:cxn>
                <a:cxn ang="0">
                  <a:pos x="3819" y="2952"/>
                </a:cxn>
                <a:cxn ang="0">
                  <a:pos x="3946" y="2971"/>
                </a:cxn>
                <a:cxn ang="0">
                  <a:pos x="4074" y="2985"/>
                </a:cxn>
                <a:cxn ang="0">
                  <a:pos x="4202" y="2998"/>
                </a:cxn>
                <a:cxn ang="0">
                  <a:pos x="4329" y="3007"/>
                </a:cxn>
                <a:cxn ang="0">
                  <a:pos x="4458" y="3013"/>
                </a:cxn>
                <a:cxn ang="0">
                  <a:pos x="4586" y="3016"/>
                </a:cxn>
                <a:cxn ang="0">
                  <a:pos x="4716" y="3015"/>
                </a:cxn>
              </a:cxnLst>
              <a:rect l="0" t="0" r="r" b="b"/>
              <a:pathLst>
                <a:path w="4717" h="3017">
                  <a:moveTo>
                    <a:pt x="0" y="0"/>
                  </a:moveTo>
                  <a:lnTo>
                    <a:pt x="49" y="114"/>
                  </a:lnTo>
                  <a:lnTo>
                    <a:pt x="101" y="227"/>
                  </a:lnTo>
                  <a:lnTo>
                    <a:pt x="156" y="339"/>
                  </a:lnTo>
                  <a:lnTo>
                    <a:pt x="214" y="449"/>
                  </a:lnTo>
                  <a:lnTo>
                    <a:pt x="275" y="557"/>
                  </a:lnTo>
                  <a:lnTo>
                    <a:pt x="339" y="665"/>
                  </a:lnTo>
                  <a:lnTo>
                    <a:pt x="407" y="770"/>
                  </a:lnTo>
                  <a:lnTo>
                    <a:pt x="476" y="874"/>
                  </a:lnTo>
                  <a:lnTo>
                    <a:pt x="548" y="976"/>
                  </a:lnTo>
                  <a:lnTo>
                    <a:pt x="623" y="1076"/>
                  </a:lnTo>
                  <a:lnTo>
                    <a:pt x="700" y="1174"/>
                  </a:lnTo>
                  <a:lnTo>
                    <a:pt x="781" y="1270"/>
                  </a:lnTo>
                  <a:lnTo>
                    <a:pt x="862" y="1364"/>
                  </a:lnTo>
                  <a:lnTo>
                    <a:pt x="948" y="1457"/>
                  </a:lnTo>
                  <a:lnTo>
                    <a:pt x="1035" y="1546"/>
                  </a:lnTo>
                  <a:lnTo>
                    <a:pt x="1125" y="1634"/>
                  </a:lnTo>
                  <a:lnTo>
                    <a:pt x="1217" y="1719"/>
                  </a:lnTo>
                  <a:lnTo>
                    <a:pt x="1312" y="1802"/>
                  </a:lnTo>
                  <a:lnTo>
                    <a:pt x="1408" y="1882"/>
                  </a:lnTo>
                  <a:lnTo>
                    <a:pt x="1507" y="1961"/>
                  </a:lnTo>
                  <a:lnTo>
                    <a:pt x="1608" y="2037"/>
                  </a:lnTo>
                  <a:lnTo>
                    <a:pt x="1710" y="2110"/>
                  </a:lnTo>
                  <a:lnTo>
                    <a:pt x="1814" y="2180"/>
                  </a:lnTo>
                  <a:lnTo>
                    <a:pt x="1920" y="2249"/>
                  </a:lnTo>
                  <a:lnTo>
                    <a:pt x="2030" y="2314"/>
                  </a:lnTo>
                  <a:lnTo>
                    <a:pt x="2139" y="2378"/>
                  </a:lnTo>
                  <a:lnTo>
                    <a:pt x="2251" y="2437"/>
                  </a:lnTo>
                  <a:lnTo>
                    <a:pt x="2364" y="2494"/>
                  </a:lnTo>
                  <a:lnTo>
                    <a:pt x="2479" y="2549"/>
                  </a:lnTo>
                  <a:lnTo>
                    <a:pt x="2595" y="2600"/>
                  </a:lnTo>
                  <a:lnTo>
                    <a:pt x="2712" y="2648"/>
                  </a:lnTo>
                  <a:lnTo>
                    <a:pt x="2831" y="2694"/>
                  </a:lnTo>
                  <a:lnTo>
                    <a:pt x="2951" y="2738"/>
                  </a:lnTo>
                  <a:lnTo>
                    <a:pt x="3072" y="2777"/>
                  </a:lnTo>
                  <a:lnTo>
                    <a:pt x="3195" y="2814"/>
                  </a:lnTo>
                  <a:lnTo>
                    <a:pt x="3318" y="2848"/>
                  </a:lnTo>
                  <a:lnTo>
                    <a:pt x="3442" y="2878"/>
                  </a:lnTo>
                  <a:lnTo>
                    <a:pt x="3567" y="2906"/>
                  </a:lnTo>
                  <a:lnTo>
                    <a:pt x="3692" y="2930"/>
                  </a:lnTo>
                  <a:lnTo>
                    <a:pt x="3819" y="2952"/>
                  </a:lnTo>
                  <a:lnTo>
                    <a:pt x="3946" y="2971"/>
                  </a:lnTo>
                  <a:lnTo>
                    <a:pt x="4074" y="2985"/>
                  </a:lnTo>
                  <a:lnTo>
                    <a:pt x="4202" y="2998"/>
                  </a:lnTo>
                  <a:lnTo>
                    <a:pt x="4329" y="3007"/>
                  </a:lnTo>
                  <a:lnTo>
                    <a:pt x="4458" y="3013"/>
                  </a:lnTo>
                  <a:lnTo>
                    <a:pt x="4586" y="3016"/>
                  </a:lnTo>
                  <a:lnTo>
                    <a:pt x="4716" y="3015"/>
                  </a:lnTo>
                </a:path>
              </a:pathLst>
            </a:custGeom>
            <a:noFill/>
            <a:ln w="57150" cmpd="sng">
              <a:solidFill>
                <a:srgbClr val="99FF33"/>
              </a:solidFill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36" name="Line 59"/>
            <p:cNvSpPr>
              <a:spLocks noChangeShapeType="1"/>
            </p:cNvSpPr>
            <p:nvPr/>
          </p:nvSpPr>
          <p:spPr bwMode="auto">
            <a:xfrm flipH="1" flipV="1">
              <a:off x="4245" y="1833"/>
              <a:ext cx="98" cy="98"/>
            </a:xfrm>
            <a:prstGeom prst="line">
              <a:avLst/>
            </a:prstGeom>
            <a:noFill/>
            <a:ln w="76320">
              <a:solidFill>
                <a:srgbClr val="99FF33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es-CO"/>
            </a:p>
          </p:txBody>
        </p:sp>
      </p:grpSp>
      <p:sp>
        <p:nvSpPr>
          <p:cNvPr id="37" name="Text Box 76"/>
          <p:cNvSpPr txBox="1">
            <a:spLocks noChangeArrowheads="1"/>
          </p:cNvSpPr>
          <p:nvPr/>
        </p:nvSpPr>
        <p:spPr bwMode="auto">
          <a:xfrm>
            <a:off x="4724400" y="5304524"/>
            <a:ext cx="3886200" cy="12486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>
              <a:spcBef>
                <a:spcPts val="1875"/>
              </a:spcBef>
            </a:pPr>
            <a:r>
              <a:rPr lang="es-MX" sz="2500" dirty="0"/>
              <a:t>El gas en expansión realiza trabajo con cero pérdida de calor.   Trabajo = -</a:t>
            </a:r>
            <a:r>
              <a:rPr lang="es-MX" sz="2500" dirty="0">
                <a:latin typeface="Symbol" pitchFamily="18" charset="2"/>
              </a:rPr>
              <a:t>D</a:t>
            </a:r>
            <a:r>
              <a:rPr lang="es-MX" sz="2500" dirty="0"/>
              <a:t>U</a:t>
            </a:r>
          </a:p>
        </p:txBody>
      </p:sp>
      <p:sp>
        <p:nvSpPr>
          <p:cNvPr id="44" name="AutoShape 4" descr="Resultado de imagen para turbin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45" name="AutoShape 6" descr="Resultado de imagen para turbin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46" name="AutoShape 8" descr="Resultado de imagen para turbin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47" name="AutoShape 10" descr="data:image/jpeg;base64,/9j/4AAQSkZJRgABAQAAAQABAAD/2wCEAAkGBxMTEhMUEhMVFBUUFxcYGBgYFxUZGBoZHhgYGhcfGxobHiggHholHxccITEkJSkrMC4uHB8zODMsNygtLisBCgoKDg0OGhAQGywkHCY0LCwsLC8sLCwsNCwsLCwsLCwsLCwsLCwsLCwsLCwsLCwsNSwvLCwsLCwsLCwsLCwsLP/AABEIAK0BIwMBIgACEQEDEQH/xAAbAAEAAwEBAQEAAAAAAAAAAAAABAUGAwIBB//EAEMQAAEDAgQDBQYEAwUIAwEAAAEAAhEDIQQSMUEFUWETInGBkQYyQqGxwVJy0fAjM2IUQ4Lh8RUkU3OSorLCY3TSB//EABkBAQEAAwEAAAAAAAAAAAAAAAABAgMEBf/EACgRAQEAAgEDAwIHAQAAAAAAAAABAhEDEiExBEFREyIyUmFxgZGhM//aAAwDAQACEQMRAD8A+oiICIiAiIgIiICIiAiL6QRqg+IiICKXheF1qhhlMnvAG+k3kxMCOasX+y2KbBFLOTPdD2gdCXHTwAPkro2o0Wsw3DMMaooupVgYMuLXZJiYzEiT+WV74n7Isa0Op1mtnTORlJmwBkEct/BNJtkEXH+1s7TsxcjN3gWFpgbQTZdlFEREBERAREQEXptMkEgWbqdh58+Q1OykNw7SCQ7ugd5/wjoPxHUdCggYquGNLjoI+Zj7rzhcSHmBHS9yNoGvrCrfabEACm1pDg7M42IIiWtkG4vPoo3BMU6SKRu1pcAY192OehmxmyitEi9VBBPiV5VQREQEREBERAREQEREBERAXcUmiMx1E225KFij3Y52289dV1LJABmJFySDbX18ELZPKQcgOhItrM/ay+Meb5Wg/wCGYXGiWNMw0mIvPXp4fPmrvhvEQYDmMIJhsCCdtdCZ2stefXJuTZhycdurdINLC1jpmA8f0UjCcCfeXS07HY82nadwtE7E02iYnpofOVxp8SL3EUoMC+51tfSNdlzTLnz8TTq1w4++0WhwBu4lSDwfDgw5rJMmLT1t5rjxCpXawksq1AZnswHHwgEGNtNlhsf7cOL8lKlJBh3aOgi4nuDfxPJWcGe95Z/0xvLhZqY/22xo4YEmmYLSRLJBBGtxdd6ftWcPZ7zVbcNDrvBH9Q1t+K/VZzAPmnEz2meYAEVMxfoNJn5qv4w8EF3Msqevdf8ANdctk15cv0sZl1Tt+nssOKf/ANDr1YbTaGNcSJ0I8IMh285lSYSu55rmq5zywUsrnEucJcZ7xkz3RvdVTB32jk8qbgnkVK4G9IHzDx+pUbYk8D9+sPE+n+qsFX8E/m1esj7/AGVgrEyERFWIiKThsG5xbYjN7oALnu/K3UjqYbrdBHY0kgAEk6AXJ8lNoYGxc8gNb7xLstNv56nP+lkuPQrhj+K0MMC3+Y/QsY6Widq1Zuv5GQLXMrOcdxtWo/JWe0lshrG92m0SRDGgDlrHjMq9oaW2N9qabTlwuVzhpVeGgM/5VMnu/mMuPRVmCxuQu97+IH5xm99zjLnwY70/ENL3UHD03OJBJs0kD3eQEzBi/wCEg81bYDAhjgKhdRc6Cx8NyE696BpfbS3nPK+A8PpVWlzGucBEvDpjxuXR1iIm6Yn2YcB2jA2qw5C0h2jhVYSJdGUkBwm243hXlKmXvLQBQx1IZmkWZXb9LgfKdiGyMFjwAa7GQ2cmKoR7p0zhp22+R0MXSbQK2Hptux73EkyCZb8/suasOL4AUyHMvSqXYddpifpOxG8qvUBERAREQEREBERAREQEReqbJMc0LdPbKM6+nX9F6qM9VMbTUd95PP6bfvqt/Fh1V53Ny3y4HDktJFgLE/vdSMF3MOI5mOev6qPgKhitOhykfMH7Ke2hNGmB8Ux5uP6qc2Vt06PT4THHfussJQigCdSJ9b/RSuEYTsmF29QyfD4fufNTMRQBcymNPt/oFG49i8oDWjvGAAPQLQ7EjB44vqZBtcnkFS+1/AXVWZ2htSowgtdHfiYcOZEHTmAYsrvhWE7FkTL3XeeZ5eA/eq+Y/iTR3Rd50j96oj8/pYo+DiYPSo27fUWUbH1g4GNDMfleMzfR7SFo/afB9yo57C2oGlwcNSWiRfR0fLosOKdWsYaCOgEm5DvSZjxTQ80bvBkXLTqOX6qZRaO1q/8AJP8A5tXGvgxQGapVaHN73Z5ml7oMwGjTXddH5hUig6dWue0NjX3czgRMi4EwdVBI4fmbUqP2YS53MCCJI1HpsrDgT6mIa57KcUxo99mn8u7vK3VV+F4i3Dtq1nmXCo+m8d6MwdmpgXAgAmI0k7lccf7Xvrdm1pLWCZB7zokRpAIgn3gDYXMrDLHbbhn0d5O/z5XIdL8pqMIMwdBbW/qu7KAIs9s/mb577fPa5hUOGJGUuq9lUJMkyBsPeE6AxEGLabdKfEnsJaHB1Rxzsc54DTtLSQBeIvCyxkxmpGGdyzvVbutM3DNptzuDiBuKbqjieTKQH/dUgcmyqTi3GKzmPDab6DHatJirUM27Wo+CR/SLdBquOP4jiXspPbVfTLpY4ZzJewgENMgNkEW+UKJVFc5XuqEESJqOc33hBymJ0OtiOlis7WGnAQQAHsZYmJOWefzHXrdesPg21peZc6AJ3gaXd4/vVXXCOHuqsJZRotcGAuqODnFzQ4tIbIsRlBta8wVWU8VUa2swsyvphzmzBzAjuutbLYjyItECK68OpU2OINIOa0kEdJykg7GRr9Fb1KbGAMec+Gre486sdexOxF/n/UD+ct4jiaeJa9jg6wzBxsdZknQ9dL8l+i8PqU6rMv8AdYiw/wDjqjSPP7LKMa5ilUdNAn/eMP36Dxq9o+G/ONDoRf3TPf8A2i0dljmjuP8A4WKZtexJH6/0j4iold7+zFT+/wAG/K6/vMmPEiPkHndTsJSY7EVKM/weIUjUZ/TUiXRyOrvHLqqi+weDGWphCZaRnoOPLVpnoTB6OPNZlzSCQRBFiOR3UvhONcMNTe7+Zgqxo1B/QDl57Alo1+LfSV7T4fLWLhpUAf56O9SJ81iqpREQEREBERAREQEREBS8AySTyURWXDm90nr9grGrmusXWsIafT1soGJqhsZvdkA+CsMToOp+xP2VRxRsiBuuzhn2WvMz3c5E2nSu8Dl91bYWl/Dw52Dmz5PUHhQGdk/GzL5wD9QrZgDQaLrF0lnU7jx3XO9TFaYW9d07NJHqB91HNEGsajvgs3xO/kPquvD3l4J0rMEPHOdCOhj1BVNU4kezrTZ1N1/Ajun5H0Wqt3skcQ4g4uFKiM1R2gG3MnkOqs+DcCbT7zznqHVx0HRo2HXU/JReB4cUaQe7+ZUAc8nUA3DfAfWeig8T4/fKHa2AGp9FP2E3jLGjNTfD2nUa/wChWH4h7PdpA7eqWXloIaOksYGtPpstIMJiHDM6mabT+Ox/6dfUKPiqBZBmWkxmGx6jY8ucJCsNxHg5wlFzqbGOY735BdlEkTqI8QLSZhaLG0yGnugFl4Glth0VsJvP+LcdD4beEFRMVSh0jeZ8d0sJWY9oKLGsuwtz1XHNL3SS0RDQ2IcGTrHeVNheH5KjCzOQ6SZHuQNpIcTOkDkVr8bh2PNJhpsuASYILjL6YzQRmAa0e9P0RuEaxuXLNOQYicpI+uV3zhNG2dbgWF1TvFxIeGOhoYSNJuSNbEi8LjJewNHaONId0iTI/DOWMoOhnUla4UGzoDyPP9D1CkUcMCdLfQn7HcfsXpTbJkva2HBlJgyuhx77zmDX5R7pcA1zi0SYIiSuLX0ZFUuqOOQZWmWDNlvfcEiwvrFlucRwllVmVwHiQHQdJ8RpOseCtuDeyOGLO0LG5ySHWl2YG8k3Pir0ptkvZ6s6IJkWiHSBYb+R3sZI0gzONcLLqXcJDgZYZiHwbGPxCR0cOi0fEOCNa4OYAAbO8OflEqM6lIe0m5ZmF9wYPnIafMq9h+UN4NUcC2mABMWa0E3PIxpFp3C03srgHszUDIztLmdHsvbrbRXb+J0acSACdb84Fzt3iFUN9pGHFUnNAgVWm3Iw0+pJUGgcwOr0XkHJi6Rp1B/UBvblLdOflU0y9mFpuN6mAxYHxXaXwQLfE4gRuArLiNYCkDP8nFAieU5ieW/+iiYkjPxJkCHsbUiLS1od4ayoLarhAMbjaQ93FUBUbrGZum0a5jryTHVBVwWFqTJb3CbHYjYn/h891wZiv4vDas97szTOl4pkH5umy90z/ulVl/4dQgTOzmxr0d0RVUiIiCIiAiIgIiICIiArXAjuDxP1VUrXBHuDz+qyx8tHqPwmKd7vn9FWVa8PAOjreB2/RT8Y73fH7H9FS8QvELs4/wDm87v9WVeYYBzI0LTbnzBXV/EmGKWMBaHWZW0aDtP4TMd7TwXOAabXssSNtjuPVZTj3tRVYHUKtNlWW92e65p2JixHS3iua+dvSxrbn2hZhXsOKqBtSk4Mc7/i0XWzADVwgEgbtH4lS4rjeHr1anYVJFVtQZdHd05mkt27s6r8zr4eu/vvJMAASZho0A5AclywjqjCS1zmm4OVxBM63Gyxs34bJlp+01cY/FGlTpHKXsa5zvwNyguMecRzIVthaNDCD+GJedXuu8+ew6CAvz72U4xlJc1r2sp0W08zzmzGW/EAJPck+KtW1cTiO/TaAw6Oe7KD4WJI6wtVns2ytHiuNl2qq6mK13BsRsQuWF4U7+9qt8GyfmY+imuwtIQDpuTJ+46qzSXbnSAc23eyiRzy7gwNRYza3oqvi9V1MEtgzYTABOrLkgAkWkk6WBJVycK2mZGkg3i7SNQD4mDB0XGrRbMPmAY5Hm03vaSNDYlVGH4lxp5awspuFRrBYwWyXuzCRckEkaC4Vth8ZnpseQQKgNiJIM94Abum88ssK4xXGMHTZEMJIIMGZPoL67BZXBccD8zWtblFW0gm5aJ0IOwtPkg0OEoE5LENqAwYcIPmOk+EBTcPYAkRaDpqDymxiR4DqqTDcTJaLt7rjlNpAyiwLu8BtEjlfRfTjWzr8UCLDQ/qmzTUms0bzqN9QfDlGnJTOFcYDS8SAO6Z8o+3zWMHFQOWxnxdA+iz2M4hUe+GVGw7KMlpy5c0yJkwG2tbMpsb7j3tA1zXU2Ol52Gov00UAY2QCT8TvTuFZ+pToBhb/Z3ZzoS4hsxEkSAR0i/nK9UWue3JT7z2WgToZ8hAt5DSbhW8ToueXEOENPmG9JFjccrQbzCo8KGDFUmBvfL2mziZ5kzO08tFqGYXsnPNZwlwEtJZYaFpDSTEGLleqPCKFN7KjDdpOUnaYIvrz1nXxQW3FHTSrdagb5wBpovmKdNbF/8A13g6/hBGvQqM+uHdkwb1M7vIfWPoF4q4kZcVU/ERTbG+xj/DBVFhhXSeHC9y92/Jp+k6/qrfhLWOo187srTVeZ8Cw262Pz11VRTIZWpDbCYcuP5i3LG2tjt8rSsO3LhKYJ94yfE3Hn3vkoqNUiTlmNp1jr1Xld6zGNbTg5nPGaNMrOfOTsuCSpYIiKoIiICIiAiIgKzwTu55n9fuqxTsAe64eB+v6K4+Wnnn2OPEKmnQ/wCX3VW+tBkiQrDHjX19Lqvqs1Xbxd8bHnZXWUpjMc6jTe9riGgFx0INtptJWGp4wvqF1Qy5xknnyHkNlrcVgnYii7DB7aZqQGPcSAHZgWtJ5OIy+e+iwdHDvpveyoIcxzmm9g5riDcdQVzcl1dPS4pubX1fEF1vkmH4ZUfo0rvw7EURGYhavC+0+FpNgZZWP1Phn9NT4PgtVog1DSYbm9ifDSYm/gtCOJ1H92k0OA5OZAHroqTiftjSqd3KXDk0kHyIULhftTQacrKRcXHVwYT6yfstdu+7OTTXYRlaoR3qYn+omPQK5xPAsQwTmpvGUOs4gxf8QA258lm+HcVZ2ga2kGvdoGtbOkn3dFoXcULgWyQcsRf5gornhq5bNGq1zHOb3Zm4uYESDqYjc9VFxdSR+ZrOm46DmveKaCBIbF/dEcvQ6X/RQcQ+zeeVp25tPTkiMvwbDVHua+q7uEimBAInMRm7xdMGPQ2XbiOBLh2jAM7CQ9oHvcnRubX/AMlY8XexlMUphwETrHM2AVFxStVD6jKdQ1Gnsw0huUPIaYs74vevAMtEaBXweXVsgNLiQZLHDUkmTqN+ZPjyXLE4ltOm0ukycoJMghrjBIAjWLAyZjaV84bUo1I7V1SGS45IaItOaxNhPLddKeEL89IU+7TqOGUHQQ03M5vLobSFFcW12SwvaHNc4h7HEkNpmSTe06Ni2ql8RFWllAcMknK7u3A7wJy3jW0WsvL8EwUy0kEMc0ZZa2xGUm4IMRfwJFzCl8HfUa5rS60QyZtM92Y93aD1veFBT4rGw4gy3KQRlHeuZnOG6i/O3Iq64RhS1jmS0udBcO0yv2MguBB1mLKyxuM7MF76VENbEuNKmYG5s0lZvH4ik+qQQ99Rzsw2p3Etc4Ag2bAjYeJRXdvCzAtUeQTLC1rTBIklpJLpEjuk6aLlUrOe+HAgMIETckXIg7g92SYG6kcP9mWnLinve2XQxlv4gaIcSdm2AtqZiIU9/DaZ2j99dfNPJvStbSaZAFsoMMzHMdvX4dzlzGzlIw2EcXQ0yAZ2ylwnM4chn0PIPOy7u4cTPfHoR4yROulgOsqdSowP5hBtdoiIjSRrYeGwCmqu4nngbKNI1cS/vPguEnM4xZsTc9NlT0w97SHd1uYuDdbmxtsAAB1ud11ZRg5nOc934nmT5bDyXVWY/LG5fDxTZE3JJ1JuT4r2iLJiIiICIiAiIgIiIClcPd3o5iPv9lFXuk/KQeSRjnN42J2Joyqp9OPKyvyJUHE0bnqJ8xY/ZdnBfu08nl/Dtn8Uym9jmPsCCDNpB5FY1zxSmmQC24a6IBGxW44nh1QcVwzWsLnAHYDm46emvksefjdnpea2d2extFpu1Vb2wrV2CPZvqZoDSBcak7DyXJ/CKuvd/lCtqZDTl1tr3guWT5dnVvxHPhbj2jSHikQZD3TDSASJgG0wNN1t8BicRSd/vGR++em4T5gtDSPRZ/BcM7Ke1LS0ODajSxrgGuEsc1xuIidBpCv8NLCKDxZtmOGwGx/p5cvoI2HAcW2o7Mas7NkRffw8k4xLDDrg+67xN46gKPgKTcgay1odB96d/HkVX4bijg5+FxV8tw7T8rgfhN9dNQd1FT2Yn4HGMwF5FnatJ6deRK5NxAY4l3vAEMETcWuN9Y2idtVBxgLXNzmBBEgWPVpGkzMbGYOhMOtUpmMxqPgRqKYPjGZx/wCoJtdPld2asXywNhvaNzS6SYHZt5k6Alu/gpHHHCmzQEOAbrGUgy10jkZH+IrxhcTSpCWUaTTNiQXuJ096oXGVL4fgKVQZnsa46EXgHUy2YnfrM7rLG77McppmsTh6j4yMc5rhYNlzRAObSwgj0hS6AxQbmMMaIHetUaOcn4TvJ8gtjQw9MuaKgOSRIaALDQADZZvF8Rbi8Q0BgZSbOVm4guAzEXzHuyJ6KWeyy+6qa11RjmUW5yQy41Fy46C2nz8lY1MBWyw6bNHxCZ21M7yrajSawQxoaOQAA+S9rHS9Spw2DqZ3CpLmVWlryXTEix1mxMeqlO4VSzF0HMdb2/X5qYiuk6q91KhdE7ANA2AGgA2C8IiqCIiAiIgIiICIiAiIgIiICIiAiIgtcDUlscvpsvuIbaeV/wBfkoGDrZXX0NlaFbcMtd3n8+GsrPaqrG0QRz3WS40C86QG6D6nxW2qsiR5jw/y/RUfFMHuu7KTPHqjk4srhl0VkcbSJZSpDcl5/M45W+gaFYYmDiMXHu06HZjwz0x/6qLjO7WJ2aW/KF0w4nE4wfjbUaOpBD/o0+q8/LHVevhlKkUWZnU2H++w1MDq9rGkf+LvVSuHYnP/AAn2qMEA/iaP/YfMX5qrpPL8M1zTD8M+J3AnMw+sj/CrKowVQzEMEH4gPhcNf1HQhYti64S2oyYaXAAugamLmOqmcbw7MVhW4mh3nsbmkfFSNzY3lvveGZfeCcQGZsQH6x4RPlf5qiqcWfgsfVJMUBTD2s+EtLnEiOhzNjkAsVQ8FxQ1GOou+IA0idnwXNb4Ou3xcvnCKTapAc9wzaRH4Q4ag9fRRuOUGU67ux/l/wAOpTj8BJiPC7fFqjYfFFpzbgz5teT9CU0ba5/BmsEgl1tXHb6LzhqhYZFy0abvZ/8Apv71UjAY9tRkE6GPJ3un1so1ek8nuAlwJIgEw8agx8Lh9+ayxSrpjw5oc0yCJBVVU4YG1jVaBDpJ6O09DJPipnCMDiM3dov7OoC4tMTTfvbWD03vuVb0eFPe7IcjZmzniY3sJNlnlqxjFEi742iGPcwHMWmCR7s7gb2t6rgtbIREQEREBERAREQEREBERAREQEREBERAREQFZ4StmbG4+myrF7pVC0yFZdNXLx9eP6rGsJ8RoodZuYfvVSg8ESFwrDcef75rs4eTXa+HlcmFveeYyPEuHkEnWd1Wh+Svm/qBPgQM3ylbHFsDgstjsKczjG/0ssuXi23cHL27o3DTkrVWH3HEsPndp8jHkSu3DMf2DnNd7pdB6HY+W/QlQcQDmM7wflH2Xfh/DnYquGSRmguIEmBY+ZtHUhcdxsehOSXys+LYk08r2GC11j5GfJevaar/AG2hQfSY5z3ZmPa0FxBsdtrTfYrQYz2aoUKLQQ/EfxMozugWa6LNibjLBKmYZtYDJh8OKbRMBrIHmXQ2fGIWn6uHy3TDKqHh/shXq029uRSDWltu87JOYT8IgufudRZWjPZnA0iDUcXmZvUJju8qcWgK1ZwSq8TWrZZMlo7x0AvByzbXb6SqXCMOy5DnnXvO3392Foz9Zxzx3bsfS53yquFdixxZTpNcb9/IGwwe6HakkSG6idYFwp7OLFhc4Q4saYaYgmLTyAhfOKcSpMp5KYa2TctEAHkIu5yzTQSc2cOzgjKwyG7y4nbKNtyY1W/HO3HdndzdO8+17T/W9f7SNDGnUkDaBJA5rO/7ec42zCO80Fvdklw96DMXm+hEahUn9vLu72YvlAnZ0Hqfly6qZTYGtDRtcnmTEn0AA6AKzu2W6ffn+5PzREWTAREQEREBERAREQEREBERAREQEREBERAREQEREHSlVI8OX73XZzpuFFX1roWWOWmnl4Zn3nl4rqvrAFWboPTwXB2DB1J/7f16rpw55I4r6fPfhnMVw0veMvIADeZJ+62HstwXsRcAudcnkQRl8hfXU9AuNCkxu21419dvJSnY8xDRlH18Vyep5s8508c/l3+m4JL1ct/hoDjGsEAwodfi45yqJ1QnUryvOx9D+avSy9Z+WJOJ4+c+QNJcRPIageMSRcAxfkqriXEaxgAZpMQ2YBgHUjvWM6RZdcXhG1BDh4EWI8CvNLAtGrnuMzcgA2AJMRJOUfPmunD02GF3I58+fLOaqEwVSD3b9HGY3EkQL8vJc6OFr3AAY0m8ukkXtIkxdXIEL6t+o1bR8Nhct3HM6ImI9ApCIqgiIgIiICIiAiIgIiICIiAiIgIiICIiAiIgIiICIiAiIgIiICIiAiIgIiICIiAiIgIiICIiAiIgIiICIiAiIgIiICIiD/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49" name="AutoShape 2" descr="Resultado de imagen para sistema termodinamic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Grp="1" noChangeArrowheads="1"/>
          </p:cNvSpPr>
          <p:nvPr>
            <p:ph type="title"/>
          </p:nvPr>
        </p:nvSpPr>
        <p:spPr>
          <a:xfrm>
            <a:off x="381000" y="762000"/>
            <a:ext cx="8382000" cy="1066800"/>
          </a:xfrm>
          <a:ln/>
        </p:spPr>
        <p:txBody>
          <a:bodyPr/>
          <a:lstStyle/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MX" sz="3600" b="1" i="1" dirty="0">
                <a:solidFill>
                  <a:srgbClr val="C00000"/>
                </a:solidFill>
              </a:rPr>
              <a:t>EXPANSIÓN ADIABÁTICA:</a:t>
            </a:r>
            <a:r>
              <a:rPr lang="es-MX" sz="3600" b="1" i="1" dirty="0">
                <a:solidFill>
                  <a:srgbClr val="C00000"/>
                </a:solidFill>
                <a:effectLst/>
              </a:rPr>
              <a:t> </a:t>
            </a:r>
          </a:p>
        </p:txBody>
      </p:sp>
      <p:grpSp>
        <p:nvGrpSpPr>
          <p:cNvPr id="4" name="Group 5"/>
          <p:cNvGrpSpPr>
            <a:grpSpLocks/>
          </p:cNvGrpSpPr>
          <p:nvPr/>
        </p:nvGrpSpPr>
        <p:grpSpPr bwMode="auto">
          <a:xfrm>
            <a:off x="914400" y="1752600"/>
            <a:ext cx="2133600" cy="2705101"/>
            <a:chOff x="576" y="768"/>
            <a:chExt cx="1344" cy="1704"/>
          </a:xfrm>
        </p:grpSpPr>
        <p:sp>
          <p:nvSpPr>
            <p:cNvPr id="5" name="AutoShape 6"/>
            <p:cNvSpPr>
              <a:spLocks noChangeArrowheads="1"/>
            </p:cNvSpPr>
            <p:nvPr/>
          </p:nvSpPr>
          <p:spPr bwMode="auto">
            <a:xfrm>
              <a:off x="960" y="1006"/>
              <a:ext cx="96" cy="1001"/>
            </a:xfrm>
            <a:prstGeom prst="roundRect">
              <a:avLst>
                <a:gd name="adj" fmla="val 1042"/>
              </a:avLst>
            </a:prstGeom>
            <a:solidFill>
              <a:srgbClr val="006666"/>
            </a:solidFill>
            <a:ln w="9360">
              <a:solidFill>
                <a:srgbClr val="FFFF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CO"/>
            </a:p>
          </p:txBody>
        </p:sp>
        <p:sp>
          <p:nvSpPr>
            <p:cNvPr id="6" name="AutoShape 7"/>
            <p:cNvSpPr>
              <a:spLocks noChangeArrowheads="1"/>
            </p:cNvSpPr>
            <p:nvPr/>
          </p:nvSpPr>
          <p:spPr bwMode="auto">
            <a:xfrm>
              <a:off x="576" y="1006"/>
              <a:ext cx="96" cy="1001"/>
            </a:xfrm>
            <a:prstGeom prst="roundRect">
              <a:avLst>
                <a:gd name="adj" fmla="val 1042"/>
              </a:avLst>
            </a:prstGeom>
            <a:solidFill>
              <a:srgbClr val="006666"/>
            </a:solidFill>
            <a:ln w="9360">
              <a:solidFill>
                <a:srgbClr val="FFFF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CO"/>
            </a:p>
          </p:txBody>
        </p:sp>
        <p:sp>
          <p:nvSpPr>
            <p:cNvPr id="7" name="AutoShape 8"/>
            <p:cNvSpPr>
              <a:spLocks noChangeArrowheads="1"/>
            </p:cNvSpPr>
            <p:nvPr/>
          </p:nvSpPr>
          <p:spPr bwMode="auto">
            <a:xfrm>
              <a:off x="672" y="1912"/>
              <a:ext cx="288" cy="95"/>
            </a:xfrm>
            <a:prstGeom prst="roundRect">
              <a:avLst>
                <a:gd name="adj" fmla="val 1060"/>
              </a:avLst>
            </a:prstGeom>
            <a:solidFill>
              <a:srgbClr val="006666"/>
            </a:solidFill>
            <a:ln w="9360">
              <a:solidFill>
                <a:srgbClr val="FFFF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CO"/>
            </a:p>
          </p:txBody>
        </p:sp>
        <p:sp>
          <p:nvSpPr>
            <p:cNvPr id="8" name="AutoShape 9"/>
            <p:cNvSpPr>
              <a:spLocks noChangeArrowheads="1"/>
            </p:cNvSpPr>
            <p:nvPr/>
          </p:nvSpPr>
          <p:spPr bwMode="auto">
            <a:xfrm>
              <a:off x="672" y="1626"/>
              <a:ext cx="288" cy="286"/>
            </a:xfrm>
            <a:prstGeom prst="roundRect">
              <a:avLst>
                <a:gd name="adj" fmla="val 347"/>
              </a:avLst>
            </a:prstGeom>
            <a:solidFill>
              <a:srgbClr val="CC9900"/>
            </a:solidFill>
            <a:ln w="9360">
              <a:solidFill>
                <a:srgbClr val="FFFF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CO"/>
            </a:p>
          </p:txBody>
        </p:sp>
        <p:sp>
          <p:nvSpPr>
            <p:cNvPr id="9" name="AutoShape 10"/>
            <p:cNvSpPr>
              <a:spLocks noChangeArrowheads="1"/>
            </p:cNvSpPr>
            <p:nvPr/>
          </p:nvSpPr>
          <p:spPr bwMode="auto">
            <a:xfrm>
              <a:off x="672" y="1435"/>
              <a:ext cx="288" cy="191"/>
            </a:xfrm>
            <a:prstGeom prst="roundRect">
              <a:avLst>
                <a:gd name="adj" fmla="val 523"/>
              </a:avLst>
            </a:prstGeom>
            <a:solidFill>
              <a:srgbClr val="006666"/>
            </a:solidFill>
            <a:ln w="9360">
              <a:solidFill>
                <a:srgbClr val="FFFF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CO"/>
            </a:p>
          </p:txBody>
        </p:sp>
        <p:sp>
          <p:nvSpPr>
            <p:cNvPr id="10" name="AutoShape 11"/>
            <p:cNvSpPr>
              <a:spLocks noChangeArrowheads="1"/>
            </p:cNvSpPr>
            <p:nvPr/>
          </p:nvSpPr>
          <p:spPr bwMode="auto">
            <a:xfrm>
              <a:off x="1824" y="959"/>
              <a:ext cx="96" cy="1060"/>
            </a:xfrm>
            <a:prstGeom prst="roundRect">
              <a:avLst>
                <a:gd name="adj" fmla="val 1042"/>
              </a:avLst>
            </a:prstGeom>
            <a:solidFill>
              <a:srgbClr val="006666"/>
            </a:solidFill>
            <a:ln w="9360">
              <a:solidFill>
                <a:srgbClr val="FFFF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CO"/>
            </a:p>
          </p:txBody>
        </p:sp>
        <p:sp>
          <p:nvSpPr>
            <p:cNvPr id="11" name="AutoShape 12"/>
            <p:cNvSpPr>
              <a:spLocks noChangeArrowheads="1"/>
            </p:cNvSpPr>
            <p:nvPr/>
          </p:nvSpPr>
          <p:spPr bwMode="auto">
            <a:xfrm>
              <a:off x="1440" y="959"/>
              <a:ext cx="96" cy="1060"/>
            </a:xfrm>
            <a:prstGeom prst="roundRect">
              <a:avLst>
                <a:gd name="adj" fmla="val 1042"/>
              </a:avLst>
            </a:prstGeom>
            <a:solidFill>
              <a:srgbClr val="006666"/>
            </a:solidFill>
            <a:ln w="9360">
              <a:solidFill>
                <a:srgbClr val="FFFF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CO"/>
            </a:p>
          </p:txBody>
        </p:sp>
        <p:sp>
          <p:nvSpPr>
            <p:cNvPr id="12" name="AutoShape 13"/>
            <p:cNvSpPr>
              <a:spLocks noChangeArrowheads="1"/>
            </p:cNvSpPr>
            <p:nvPr/>
          </p:nvSpPr>
          <p:spPr bwMode="auto">
            <a:xfrm>
              <a:off x="1536" y="1917"/>
              <a:ext cx="288" cy="101"/>
            </a:xfrm>
            <a:prstGeom prst="roundRect">
              <a:avLst>
                <a:gd name="adj" fmla="val 1000"/>
              </a:avLst>
            </a:prstGeom>
            <a:solidFill>
              <a:srgbClr val="006666"/>
            </a:solidFill>
            <a:ln w="9360">
              <a:solidFill>
                <a:srgbClr val="FFFF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CO"/>
            </a:p>
          </p:txBody>
        </p:sp>
        <p:sp>
          <p:nvSpPr>
            <p:cNvPr id="13" name="AutoShape 14"/>
            <p:cNvSpPr>
              <a:spLocks noChangeArrowheads="1"/>
            </p:cNvSpPr>
            <p:nvPr/>
          </p:nvSpPr>
          <p:spPr bwMode="auto">
            <a:xfrm>
              <a:off x="1536" y="1399"/>
              <a:ext cx="288" cy="525"/>
            </a:xfrm>
            <a:prstGeom prst="roundRect">
              <a:avLst>
                <a:gd name="adj" fmla="val 347"/>
              </a:avLst>
            </a:prstGeom>
            <a:solidFill>
              <a:srgbClr val="CC9900"/>
            </a:solidFill>
            <a:ln w="9360">
              <a:solidFill>
                <a:srgbClr val="FFFF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CO"/>
            </a:p>
          </p:txBody>
        </p:sp>
        <p:sp>
          <p:nvSpPr>
            <p:cNvPr id="14" name="AutoShape 15"/>
            <p:cNvSpPr>
              <a:spLocks noChangeArrowheads="1"/>
            </p:cNvSpPr>
            <p:nvPr/>
          </p:nvSpPr>
          <p:spPr bwMode="auto">
            <a:xfrm>
              <a:off x="1536" y="1208"/>
              <a:ext cx="288" cy="197"/>
            </a:xfrm>
            <a:prstGeom prst="roundRect">
              <a:avLst>
                <a:gd name="adj" fmla="val 509"/>
              </a:avLst>
            </a:prstGeom>
            <a:solidFill>
              <a:srgbClr val="006666"/>
            </a:solidFill>
            <a:ln w="9360">
              <a:solidFill>
                <a:srgbClr val="FFFF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CO"/>
            </a:p>
          </p:txBody>
        </p:sp>
        <p:sp>
          <p:nvSpPr>
            <p:cNvPr id="15" name="Freeform 16"/>
            <p:cNvSpPr>
              <a:spLocks noChangeArrowheads="1"/>
            </p:cNvSpPr>
            <p:nvPr/>
          </p:nvSpPr>
          <p:spPr bwMode="auto">
            <a:xfrm>
              <a:off x="1632" y="768"/>
              <a:ext cx="144" cy="382"/>
            </a:xfrm>
            <a:custGeom>
              <a:avLst/>
              <a:gdLst/>
              <a:ahLst/>
              <a:cxnLst>
                <a:cxn ang="0">
                  <a:pos x="477" y="1682"/>
                </a:cxn>
                <a:cxn ang="0">
                  <a:pos x="477" y="421"/>
                </a:cxn>
                <a:cxn ang="0">
                  <a:pos x="636" y="421"/>
                </a:cxn>
                <a:cxn ang="0">
                  <a:pos x="318" y="0"/>
                </a:cxn>
                <a:cxn ang="0">
                  <a:pos x="0" y="421"/>
                </a:cxn>
                <a:cxn ang="0">
                  <a:pos x="159" y="421"/>
                </a:cxn>
                <a:cxn ang="0">
                  <a:pos x="159" y="1682"/>
                </a:cxn>
                <a:cxn ang="0">
                  <a:pos x="477" y="1682"/>
                </a:cxn>
              </a:cxnLst>
              <a:rect l="0" t="0" r="r" b="b"/>
              <a:pathLst>
                <a:path w="637" h="1683">
                  <a:moveTo>
                    <a:pt x="477" y="1682"/>
                  </a:moveTo>
                  <a:lnTo>
                    <a:pt x="477" y="421"/>
                  </a:lnTo>
                  <a:lnTo>
                    <a:pt x="636" y="421"/>
                  </a:lnTo>
                  <a:lnTo>
                    <a:pt x="318" y="0"/>
                  </a:lnTo>
                  <a:lnTo>
                    <a:pt x="0" y="421"/>
                  </a:lnTo>
                  <a:lnTo>
                    <a:pt x="159" y="421"/>
                  </a:lnTo>
                  <a:lnTo>
                    <a:pt x="159" y="1682"/>
                  </a:lnTo>
                  <a:lnTo>
                    <a:pt x="477" y="1682"/>
                  </a:lnTo>
                </a:path>
              </a:pathLst>
            </a:custGeom>
            <a:solidFill>
              <a:srgbClr val="FF6600"/>
            </a:solidFill>
            <a:ln w="9360">
              <a:solidFill>
                <a:srgbClr val="FFFF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CO"/>
            </a:p>
          </p:txBody>
        </p:sp>
        <p:sp>
          <p:nvSpPr>
            <p:cNvPr id="16" name="Freeform 17"/>
            <p:cNvSpPr>
              <a:spLocks noChangeArrowheads="1"/>
            </p:cNvSpPr>
            <p:nvPr/>
          </p:nvSpPr>
          <p:spPr bwMode="auto">
            <a:xfrm>
              <a:off x="768" y="1006"/>
              <a:ext cx="144" cy="334"/>
            </a:xfrm>
            <a:custGeom>
              <a:avLst/>
              <a:gdLst/>
              <a:ahLst/>
              <a:cxnLst>
                <a:cxn ang="0">
                  <a:pos x="477" y="1473"/>
                </a:cxn>
                <a:cxn ang="0">
                  <a:pos x="477" y="369"/>
                </a:cxn>
                <a:cxn ang="0">
                  <a:pos x="636" y="369"/>
                </a:cxn>
                <a:cxn ang="0">
                  <a:pos x="318" y="0"/>
                </a:cxn>
                <a:cxn ang="0">
                  <a:pos x="0" y="369"/>
                </a:cxn>
                <a:cxn ang="0">
                  <a:pos x="159" y="369"/>
                </a:cxn>
                <a:cxn ang="0">
                  <a:pos x="159" y="1473"/>
                </a:cxn>
                <a:cxn ang="0">
                  <a:pos x="477" y="1473"/>
                </a:cxn>
              </a:cxnLst>
              <a:rect l="0" t="0" r="r" b="b"/>
              <a:pathLst>
                <a:path w="637" h="1474">
                  <a:moveTo>
                    <a:pt x="477" y="1473"/>
                  </a:moveTo>
                  <a:lnTo>
                    <a:pt x="477" y="369"/>
                  </a:lnTo>
                  <a:lnTo>
                    <a:pt x="636" y="369"/>
                  </a:lnTo>
                  <a:lnTo>
                    <a:pt x="318" y="0"/>
                  </a:lnTo>
                  <a:lnTo>
                    <a:pt x="0" y="369"/>
                  </a:lnTo>
                  <a:lnTo>
                    <a:pt x="159" y="369"/>
                  </a:lnTo>
                  <a:lnTo>
                    <a:pt x="159" y="1473"/>
                  </a:lnTo>
                  <a:lnTo>
                    <a:pt x="477" y="1473"/>
                  </a:lnTo>
                </a:path>
              </a:pathLst>
            </a:custGeom>
            <a:solidFill>
              <a:srgbClr val="FF6600"/>
            </a:solidFill>
            <a:ln w="9360">
              <a:solidFill>
                <a:srgbClr val="FFFF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CO"/>
            </a:p>
          </p:txBody>
        </p:sp>
        <p:sp>
          <p:nvSpPr>
            <p:cNvPr id="17" name="Text Box 18"/>
            <p:cNvSpPr txBox="1">
              <a:spLocks noChangeArrowheads="1"/>
            </p:cNvSpPr>
            <p:nvPr/>
          </p:nvSpPr>
          <p:spPr bwMode="auto">
            <a:xfrm>
              <a:off x="720" y="2102"/>
              <a:ext cx="1008" cy="3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 algn="ctr">
                <a:spcBef>
                  <a:spcPts val="2000"/>
                </a:spcBef>
                <a:buClr>
                  <a:srgbClr val="FFFF00"/>
                </a:buClr>
                <a:buSzPct val="100000"/>
                <a:buFont typeface="Symbol" pitchFamily="18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 sz="3200">
                  <a:latin typeface="Symbol" pitchFamily="18" charset="2"/>
                </a:rPr>
                <a:t></a:t>
              </a:r>
              <a:r>
                <a:rPr lang="es-MX" sz="3200">
                  <a:latin typeface="Times New Roman" pitchFamily="18" charset="0"/>
                </a:rPr>
                <a:t>Q = 0</a:t>
              </a:r>
            </a:p>
          </p:txBody>
        </p:sp>
      </p:grpSp>
      <p:grpSp>
        <p:nvGrpSpPr>
          <p:cNvPr id="18" name="Group 19"/>
          <p:cNvGrpSpPr>
            <a:grpSpLocks/>
          </p:cNvGrpSpPr>
          <p:nvPr/>
        </p:nvGrpSpPr>
        <p:grpSpPr bwMode="auto">
          <a:xfrm>
            <a:off x="3505200" y="1905000"/>
            <a:ext cx="5105400" cy="2743200"/>
            <a:chOff x="2208" y="864"/>
            <a:chExt cx="3216" cy="1728"/>
          </a:xfrm>
        </p:grpSpPr>
        <p:sp>
          <p:nvSpPr>
            <p:cNvPr id="19" name="AutoShape 20"/>
            <p:cNvSpPr>
              <a:spLocks noChangeArrowheads="1"/>
            </p:cNvSpPr>
            <p:nvPr/>
          </p:nvSpPr>
          <p:spPr bwMode="auto">
            <a:xfrm>
              <a:off x="2208" y="864"/>
              <a:ext cx="3168" cy="1728"/>
            </a:xfrm>
            <a:prstGeom prst="roundRect">
              <a:avLst>
                <a:gd name="adj" fmla="val 56"/>
              </a:avLst>
            </a:prstGeom>
            <a:solidFill>
              <a:srgbClr val="800000"/>
            </a:solidFill>
            <a:ln w="38160">
              <a:solidFill>
                <a:srgbClr val="CC9900"/>
              </a:solidFill>
              <a:round/>
              <a:headEnd/>
              <a:tailEnd/>
            </a:ln>
            <a:effectLst>
              <a:outerShdw dist="107933" dir="2700000" algn="ctr" rotWithShape="0">
                <a:srgbClr val="4D4D4D"/>
              </a:outerShdw>
            </a:effectLst>
          </p:spPr>
          <p:txBody>
            <a:bodyPr wrap="none" anchor="ctr"/>
            <a:lstStyle/>
            <a:p>
              <a:endParaRPr lang="es-CO"/>
            </a:p>
          </p:txBody>
        </p:sp>
        <p:sp>
          <p:nvSpPr>
            <p:cNvPr id="20" name="Line 21"/>
            <p:cNvSpPr>
              <a:spLocks noChangeShapeType="1"/>
            </p:cNvSpPr>
            <p:nvPr/>
          </p:nvSpPr>
          <p:spPr bwMode="auto">
            <a:xfrm>
              <a:off x="2688" y="1008"/>
              <a:ext cx="1" cy="1008"/>
            </a:xfrm>
            <a:prstGeom prst="line">
              <a:avLst/>
            </a:prstGeom>
            <a:noFill/>
            <a:ln w="3816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1" name="Line 22"/>
            <p:cNvSpPr>
              <a:spLocks noChangeShapeType="1"/>
            </p:cNvSpPr>
            <p:nvPr/>
          </p:nvSpPr>
          <p:spPr bwMode="auto">
            <a:xfrm>
              <a:off x="2688" y="2016"/>
              <a:ext cx="1008" cy="1"/>
            </a:xfrm>
            <a:prstGeom prst="line">
              <a:avLst/>
            </a:prstGeom>
            <a:noFill/>
            <a:ln w="3816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2" name="Text Box 23"/>
            <p:cNvSpPr txBox="1">
              <a:spLocks noChangeArrowheads="1"/>
            </p:cNvSpPr>
            <p:nvPr/>
          </p:nvSpPr>
          <p:spPr bwMode="auto">
            <a:xfrm>
              <a:off x="3360" y="1296"/>
              <a:ext cx="288" cy="3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ts val="1875"/>
                </a:spcBef>
                <a:buClr>
                  <a:srgbClr val="FFFFFF"/>
                </a:buClr>
                <a:buSzPct val="100000"/>
                <a:buFont typeface="Tahoma" pitchFamily="34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 sz="3000" i="1"/>
                <a:t>B</a:t>
              </a:r>
            </a:p>
          </p:txBody>
        </p:sp>
        <p:sp>
          <p:nvSpPr>
            <p:cNvPr id="23" name="Text Box 24"/>
            <p:cNvSpPr txBox="1">
              <a:spLocks noChangeArrowheads="1"/>
            </p:cNvSpPr>
            <p:nvPr/>
          </p:nvSpPr>
          <p:spPr bwMode="auto">
            <a:xfrm>
              <a:off x="2784" y="864"/>
              <a:ext cx="288" cy="3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ts val="1875"/>
                </a:spcBef>
                <a:buClr>
                  <a:srgbClr val="FFFFFF"/>
                </a:buClr>
                <a:buSzPct val="100000"/>
                <a:buFont typeface="Tahoma" pitchFamily="34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 sz="3000" i="1"/>
                <a:t>A</a:t>
              </a:r>
            </a:p>
          </p:txBody>
        </p:sp>
        <p:sp>
          <p:nvSpPr>
            <p:cNvPr id="24" name="Line 25"/>
            <p:cNvSpPr>
              <a:spLocks noChangeShapeType="1"/>
            </p:cNvSpPr>
            <p:nvPr/>
          </p:nvSpPr>
          <p:spPr bwMode="auto">
            <a:xfrm flipV="1">
              <a:off x="2880" y="1343"/>
              <a:ext cx="1" cy="674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5" name="Line 26"/>
            <p:cNvSpPr>
              <a:spLocks noChangeShapeType="1"/>
            </p:cNvSpPr>
            <p:nvPr/>
          </p:nvSpPr>
          <p:spPr bwMode="auto">
            <a:xfrm>
              <a:off x="2688" y="1296"/>
              <a:ext cx="288" cy="1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6" name="Line 27"/>
            <p:cNvSpPr>
              <a:spLocks noChangeShapeType="1"/>
            </p:cNvSpPr>
            <p:nvPr/>
          </p:nvSpPr>
          <p:spPr bwMode="auto">
            <a:xfrm>
              <a:off x="3504" y="1776"/>
              <a:ext cx="1" cy="240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7" name="Text Box 28"/>
            <p:cNvSpPr txBox="1">
              <a:spLocks noChangeArrowheads="1"/>
            </p:cNvSpPr>
            <p:nvPr/>
          </p:nvSpPr>
          <p:spPr bwMode="auto">
            <a:xfrm>
              <a:off x="2256" y="1104"/>
              <a:ext cx="432" cy="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ts val="1875"/>
                </a:spcBef>
                <a:buClr>
                  <a:srgbClr val="FFFFFF"/>
                </a:buClr>
                <a:buSzPct val="100000"/>
                <a:buFont typeface="Tahoma" pitchFamily="34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 sz="3000" i="1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P</a:t>
              </a:r>
              <a:r>
                <a:rPr lang="es-MX" sz="3000" i="1" baseline="-250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A</a:t>
              </a:r>
            </a:p>
          </p:txBody>
        </p:sp>
        <p:sp>
          <p:nvSpPr>
            <p:cNvPr id="28" name="Text Box 29"/>
            <p:cNvSpPr txBox="1">
              <a:spLocks noChangeArrowheads="1"/>
            </p:cNvSpPr>
            <p:nvPr/>
          </p:nvSpPr>
          <p:spPr bwMode="auto">
            <a:xfrm>
              <a:off x="2784" y="2160"/>
              <a:ext cx="1008" cy="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ts val="750"/>
                </a:spcBef>
                <a:buClr>
                  <a:srgbClr val="FFFFFF"/>
                </a:buClr>
                <a:buSzPct val="100000"/>
                <a:buFont typeface="Tahoma" pitchFamily="34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 sz="3000" i="1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V</a:t>
              </a:r>
              <a:r>
                <a:rPr lang="es-MX" sz="3000" i="1" baseline="-250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A</a:t>
              </a:r>
              <a:r>
                <a:rPr lang="es-MX" sz="3000" i="1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    V</a:t>
              </a:r>
              <a:r>
                <a:rPr lang="es-MX" sz="3000" i="1" baseline="-250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B</a:t>
              </a:r>
            </a:p>
          </p:txBody>
        </p:sp>
        <p:sp>
          <p:nvSpPr>
            <p:cNvPr id="29" name="Text Box 30"/>
            <p:cNvSpPr txBox="1">
              <a:spLocks noChangeArrowheads="1"/>
            </p:cNvSpPr>
            <p:nvPr/>
          </p:nvSpPr>
          <p:spPr bwMode="auto">
            <a:xfrm>
              <a:off x="2256" y="1584"/>
              <a:ext cx="432" cy="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ts val="1875"/>
                </a:spcBef>
                <a:buClr>
                  <a:srgbClr val="FFFFFF"/>
                </a:buClr>
                <a:buSzPct val="100000"/>
                <a:buFont typeface="Tahoma" pitchFamily="34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 sz="3000" i="1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P</a:t>
              </a:r>
              <a:r>
                <a:rPr lang="es-MX" sz="3000" i="1" baseline="-250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B</a:t>
              </a:r>
            </a:p>
          </p:txBody>
        </p:sp>
        <p:sp>
          <p:nvSpPr>
            <p:cNvPr id="30" name="Line 31"/>
            <p:cNvSpPr>
              <a:spLocks noChangeShapeType="1"/>
            </p:cNvSpPr>
            <p:nvPr/>
          </p:nvSpPr>
          <p:spPr bwMode="auto">
            <a:xfrm>
              <a:off x="2688" y="1824"/>
              <a:ext cx="768" cy="1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31" name="Text Box 32"/>
            <p:cNvSpPr txBox="1">
              <a:spLocks noChangeArrowheads="1"/>
            </p:cNvSpPr>
            <p:nvPr/>
          </p:nvSpPr>
          <p:spPr bwMode="auto">
            <a:xfrm>
              <a:off x="3888" y="1200"/>
              <a:ext cx="1488" cy="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ts val="1875"/>
                </a:spcBef>
                <a:buClr>
                  <a:srgbClr val="FFFFFF"/>
                </a:buClr>
                <a:buSzPct val="100000"/>
                <a:buFont typeface="Tahoma" pitchFamily="34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 sz="3000" i="1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P</a:t>
              </a:r>
              <a:r>
                <a:rPr lang="es-MX" sz="3000" i="1" baseline="-250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A</a:t>
              </a:r>
              <a:r>
                <a:rPr lang="es-MX" sz="3000" i="1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V</a:t>
              </a:r>
              <a:r>
                <a:rPr lang="es-MX" sz="3000" i="1" baseline="-250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A       </a:t>
              </a:r>
              <a:r>
                <a:rPr lang="es-MX" sz="3000" i="1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P</a:t>
              </a:r>
              <a:r>
                <a:rPr lang="es-MX" sz="3000" i="1" baseline="-250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B</a:t>
              </a:r>
              <a:r>
                <a:rPr lang="es-MX" sz="3000" i="1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V</a:t>
              </a:r>
              <a:r>
                <a:rPr lang="es-MX" sz="3000" i="1" baseline="-250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B</a:t>
              </a:r>
            </a:p>
          </p:txBody>
        </p:sp>
        <p:sp>
          <p:nvSpPr>
            <p:cNvPr id="32" name="Text Box 33"/>
            <p:cNvSpPr txBox="1">
              <a:spLocks noChangeArrowheads="1"/>
            </p:cNvSpPr>
            <p:nvPr/>
          </p:nvSpPr>
          <p:spPr bwMode="auto">
            <a:xfrm>
              <a:off x="3936" y="1680"/>
              <a:ext cx="1488" cy="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ts val="1875"/>
                </a:spcBef>
                <a:buClr>
                  <a:srgbClr val="FFFFFF"/>
                </a:buClr>
                <a:buSzPct val="100000"/>
                <a:buFont typeface="Tahoma" pitchFamily="34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 sz="3000"/>
                <a:t> </a:t>
              </a:r>
              <a:r>
                <a:rPr lang="es-MX" sz="3000" i="1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T</a:t>
              </a:r>
              <a:r>
                <a:rPr lang="es-MX" sz="3000" i="1" baseline="-250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A            </a:t>
              </a:r>
              <a:r>
                <a:rPr lang="es-MX" sz="3000" i="1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T</a:t>
              </a:r>
              <a:r>
                <a:rPr lang="es-MX" sz="3000" i="1" baseline="-250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B</a:t>
              </a:r>
            </a:p>
          </p:txBody>
        </p:sp>
        <p:sp>
          <p:nvSpPr>
            <p:cNvPr id="33" name="Text Box 34"/>
            <p:cNvSpPr txBox="1">
              <a:spLocks noChangeArrowheads="1"/>
            </p:cNvSpPr>
            <p:nvPr/>
          </p:nvSpPr>
          <p:spPr bwMode="auto">
            <a:xfrm>
              <a:off x="4416" y="1440"/>
              <a:ext cx="380" cy="3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ts val="1875"/>
                </a:spcBef>
                <a:buClr>
                  <a:srgbClr val="FFFFFF"/>
                </a:buClr>
                <a:buSzPct val="100000"/>
                <a:buFont typeface="Tahoma" pitchFamily="34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 sz="3000"/>
                <a:t>=</a:t>
              </a:r>
            </a:p>
          </p:txBody>
        </p:sp>
        <p:sp>
          <p:nvSpPr>
            <p:cNvPr id="34" name="Line 35"/>
            <p:cNvSpPr>
              <a:spLocks noChangeShapeType="1"/>
            </p:cNvSpPr>
            <p:nvPr/>
          </p:nvSpPr>
          <p:spPr bwMode="auto">
            <a:xfrm>
              <a:off x="3936" y="1632"/>
              <a:ext cx="432" cy="1"/>
            </a:xfrm>
            <a:prstGeom prst="line">
              <a:avLst/>
            </a:prstGeom>
            <a:noFill/>
            <a:ln w="3816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35" name="Line 36"/>
            <p:cNvSpPr>
              <a:spLocks noChangeShapeType="1"/>
            </p:cNvSpPr>
            <p:nvPr/>
          </p:nvSpPr>
          <p:spPr bwMode="auto">
            <a:xfrm>
              <a:off x="4777" y="1632"/>
              <a:ext cx="503" cy="1"/>
            </a:xfrm>
            <a:prstGeom prst="line">
              <a:avLst/>
            </a:prstGeom>
            <a:noFill/>
            <a:ln w="3816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grpSp>
          <p:nvGrpSpPr>
            <p:cNvPr id="36" name="Group 37"/>
            <p:cNvGrpSpPr>
              <a:grpSpLocks/>
            </p:cNvGrpSpPr>
            <p:nvPr/>
          </p:nvGrpSpPr>
          <p:grpSpPr bwMode="auto">
            <a:xfrm>
              <a:off x="2891" y="1194"/>
              <a:ext cx="620" cy="695"/>
              <a:chOff x="2891" y="1194"/>
              <a:chExt cx="620" cy="695"/>
            </a:xfrm>
          </p:grpSpPr>
          <p:sp>
            <p:nvSpPr>
              <p:cNvPr id="38" name="AutoShape 38"/>
              <p:cNvSpPr>
                <a:spLocks noChangeArrowheads="1"/>
              </p:cNvSpPr>
              <p:nvPr/>
            </p:nvSpPr>
            <p:spPr bwMode="auto">
              <a:xfrm rot="9720000">
                <a:off x="2992" y="1194"/>
                <a:ext cx="426" cy="695"/>
              </a:xfrm>
              <a:prstGeom prst="roundRect">
                <a:avLst>
                  <a:gd name="adj" fmla="val 231"/>
                </a:avLst>
              </a:prstGeom>
              <a:noFill/>
              <a:ln w="38160">
                <a:noFill/>
                <a:round/>
                <a:headEnd type="triangle" w="med" len="med"/>
                <a:tailEnd type="triangle" w="med" len="med"/>
              </a:ln>
            </p:spPr>
            <p:txBody>
              <a:bodyPr wrap="none" anchor="ctr"/>
              <a:lstStyle/>
              <a:p>
                <a:endParaRPr lang="es-CO"/>
              </a:p>
            </p:txBody>
          </p:sp>
          <p:sp>
            <p:nvSpPr>
              <p:cNvPr id="39" name="Freeform 39"/>
              <p:cNvSpPr>
                <a:spLocks/>
              </p:cNvSpPr>
              <p:nvPr/>
            </p:nvSpPr>
            <p:spPr bwMode="auto">
              <a:xfrm>
                <a:off x="2891" y="1261"/>
                <a:ext cx="620" cy="54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71" y="175"/>
                  </a:cxn>
                  <a:cxn ang="0">
                    <a:pos x="149" y="347"/>
                  </a:cxn>
                  <a:cxn ang="0">
                    <a:pos x="235" y="515"/>
                  </a:cxn>
                  <a:cxn ang="0">
                    <a:pos x="326" y="678"/>
                  </a:cxn>
                  <a:cxn ang="0">
                    <a:pos x="424" y="837"/>
                  </a:cxn>
                  <a:cxn ang="0">
                    <a:pos x="528" y="990"/>
                  </a:cxn>
                  <a:cxn ang="0">
                    <a:pos x="638" y="1137"/>
                  </a:cxn>
                  <a:cxn ang="0">
                    <a:pos x="754" y="1277"/>
                  </a:cxn>
                  <a:cxn ang="0">
                    <a:pos x="873" y="1412"/>
                  </a:cxn>
                  <a:cxn ang="0">
                    <a:pos x="998" y="1539"/>
                  </a:cxn>
                  <a:cxn ang="0">
                    <a:pos x="1128" y="1658"/>
                  </a:cxn>
                  <a:cxn ang="0">
                    <a:pos x="1261" y="1769"/>
                  </a:cxn>
                  <a:cxn ang="0">
                    <a:pos x="1399" y="1873"/>
                  </a:cxn>
                  <a:cxn ang="0">
                    <a:pos x="1540" y="1969"/>
                  </a:cxn>
                  <a:cxn ang="0">
                    <a:pos x="1683" y="2055"/>
                  </a:cxn>
                  <a:cxn ang="0">
                    <a:pos x="1828" y="2132"/>
                  </a:cxn>
                  <a:cxn ang="0">
                    <a:pos x="1977" y="2201"/>
                  </a:cxn>
                  <a:cxn ang="0">
                    <a:pos x="2126" y="2261"/>
                  </a:cxn>
                  <a:cxn ang="0">
                    <a:pos x="2276" y="2310"/>
                  </a:cxn>
                  <a:cxn ang="0">
                    <a:pos x="2428" y="2351"/>
                  </a:cxn>
                  <a:cxn ang="0">
                    <a:pos x="2579" y="2381"/>
                  </a:cxn>
                  <a:cxn ang="0">
                    <a:pos x="2731" y="2401"/>
                  </a:cxn>
                </a:cxnLst>
                <a:rect l="0" t="0" r="r" b="b"/>
                <a:pathLst>
                  <a:path w="2732" h="2402">
                    <a:moveTo>
                      <a:pt x="0" y="0"/>
                    </a:moveTo>
                    <a:lnTo>
                      <a:pt x="71" y="175"/>
                    </a:lnTo>
                    <a:lnTo>
                      <a:pt x="149" y="347"/>
                    </a:lnTo>
                    <a:lnTo>
                      <a:pt x="235" y="515"/>
                    </a:lnTo>
                    <a:lnTo>
                      <a:pt x="326" y="678"/>
                    </a:lnTo>
                    <a:lnTo>
                      <a:pt x="424" y="837"/>
                    </a:lnTo>
                    <a:lnTo>
                      <a:pt x="528" y="990"/>
                    </a:lnTo>
                    <a:lnTo>
                      <a:pt x="638" y="1137"/>
                    </a:lnTo>
                    <a:lnTo>
                      <a:pt x="754" y="1277"/>
                    </a:lnTo>
                    <a:lnTo>
                      <a:pt x="873" y="1412"/>
                    </a:lnTo>
                    <a:lnTo>
                      <a:pt x="998" y="1539"/>
                    </a:lnTo>
                    <a:lnTo>
                      <a:pt x="1128" y="1658"/>
                    </a:lnTo>
                    <a:lnTo>
                      <a:pt x="1261" y="1769"/>
                    </a:lnTo>
                    <a:lnTo>
                      <a:pt x="1399" y="1873"/>
                    </a:lnTo>
                    <a:lnTo>
                      <a:pt x="1540" y="1969"/>
                    </a:lnTo>
                    <a:lnTo>
                      <a:pt x="1683" y="2055"/>
                    </a:lnTo>
                    <a:lnTo>
                      <a:pt x="1828" y="2132"/>
                    </a:lnTo>
                    <a:lnTo>
                      <a:pt x="1977" y="2201"/>
                    </a:lnTo>
                    <a:lnTo>
                      <a:pt x="2126" y="2261"/>
                    </a:lnTo>
                    <a:lnTo>
                      <a:pt x="2276" y="2310"/>
                    </a:lnTo>
                    <a:lnTo>
                      <a:pt x="2428" y="2351"/>
                    </a:lnTo>
                    <a:lnTo>
                      <a:pt x="2579" y="2381"/>
                    </a:lnTo>
                    <a:lnTo>
                      <a:pt x="2731" y="2401"/>
                    </a:lnTo>
                  </a:path>
                </a:pathLst>
              </a:custGeom>
              <a:noFill/>
              <a:ln w="38160">
                <a:solidFill>
                  <a:srgbClr val="FFFF00"/>
                </a:solidFill>
                <a:round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es-CO"/>
              </a:p>
            </p:txBody>
          </p:sp>
        </p:grpSp>
        <p:sp>
          <p:nvSpPr>
            <p:cNvPr id="37" name="Line 40"/>
            <p:cNvSpPr>
              <a:spLocks noChangeShapeType="1"/>
            </p:cNvSpPr>
            <p:nvPr/>
          </p:nvSpPr>
          <p:spPr bwMode="auto">
            <a:xfrm flipH="1" flipV="1">
              <a:off x="3119" y="1583"/>
              <a:ext cx="98" cy="98"/>
            </a:xfrm>
            <a:prstGeom prst="line">
              <a:avLst/>
            </a:prstGeom>
            <a:noFill/>
            <a:ln w="57240">
              <a:solidFill>
                <a:srgbClr val="FFFF00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44" name="Group 2"/>
          <p:cNvGrpSpPr>
            <a:grpSpLocks/>
          </p:cNvGrpSpPr>
          <p:nvPr/>
        </p:nvGrpSpPr>
        <p:grpSpPr bwMode="auto">
          <a:xfrm>
            <a:off x="990600" y="5029200"/>
            <a:ext cx="7467600" cy="1828800"/>
            <a:chOff x="384" y="2736"/>
            <a:chExt cx="3168" cy="1410"/>
          </a:xfrm>
        </p:grpSpPr>
        <p:sp>
          <p:nvSpPr>
            <p:cNvPr id="45" name="AutoShape 3"/>
            <p:cNvSpPr>
              <a:spLocks noChangeArrowheads="1"/>
            </p:cNvSpPr>
            <p:nvPr/>
          </p:nvSpPr>
          <p:spPr bwMode="auto">
            <a:xfrm>
              <a:off x="384" y="2736"/>
              <a:ext cx="3168" cy="1310"/>
            </a:xfrm>
            <a:prstGeom prst="roundRect">
              <a:avLst>
                <a:gd name="adj" fmla="val 74"/>
              </a:avLst>
            </a:prstGeom>
            <a:solidFill>
              <a:srgbClr val="FFFFCC"/>
            </a:solidFill>
            <a:ln w="38160">
              <a:solidFill>
                <a:srgbClr val="000000"/>
              </a:solidFill>
              <a:round/>
              <a:headEnd/>
              <a:tailEnd/>
            </a:ln>
            <a:effectLst>
              <a:outerShdw dist="107933" dir="2700000" algn="ctr" rotWithShape="0">
                <a:srgbClr val="4D4D4D"/>
              </a:outerShdw>
            </a:effectLst>
          </p:spPr>
          <p:txBody>
            <a:bodyPr wrap="none" anchor="ctr"/>
            <a:lstStyle/>
            <a:p>
              <a:endParaRPr lang="es-CO"/>
            </a:p>
          </p:txBody>
        </p:sp>
        <p:sp>
          <p:nvSpPr>
            <p:cNvPr id="46" name="Text Box 4"/>
            <p:cNvSpPr txBox="1">
              <a:spLocks noChangeArrowheads="1"/>
            </p:cNvSpPr>
            <p:nvPr/>
          </p:nvSpPr>
          <p:spPr bwMode="auto">
            <a:xfrm>
              <a:off x="384" y="2736"/>
              <a:ext cx="3168" cy="14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182880" tIns="46800" rIns="182880" bIns="137160">
              <a:spAutoFit/>
            </a:bodyPr>
            <a:lstStyle/>
            <a:p>
              <a:pPr>
                <a:spcBef>
                  <a:spcPts val="2000"/>
                </a:spcBef>
                <a:buClr>
                  <a:srgbClr val="4D4D4D"/>
                </a:buClr>
                <a:buSzPct val="100000"/>
                <a:buFont typeface="Tahoma" pitchFamily="34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s-MX" sz="2700" dirty="0">
                  <a:solidFill>
                    <a:srgbClr val="4D4D4D"/>
                  </a:solidFill>
                </a:rPr>
                <a:t>Se realizan </a:t>
              </a:r>
              <a:r>
                <a:rPr lang="es-MX" sz="2700" u="sng" dirty="0">
                  <a:solidFill>
                    <a:srgbClr val="4D4D4D"/>
                  </a:solidFill>
                </a:rPr>
                <a:t>400 J</a:t>
              </a:r>
              <a:r>
                <a:rPr lang="es-MX" sz="2700" dirty="0">
                  <a:solidFill>
                    <a:srgbClr val="4D4D4D"/>
                  </a:solidFill>
                </a:rPr>
                <a:t> de TRABAJO, lo que DISMINUYE la energía interna en </a:t>
              </a:r>
              <a:r>
                <a:rPr lang="es-MX" sz="2700" u="sng" dirty="0">
                  <a:solidFill>
                    <a:srgbClr val="4D4D4D"/>
                  </a:solidFill>
                </a:rPr>
                <a:t>400 J:</a:t>
              </a:r>
              <a:r>
                <a:rPr lang="es-MX" sz="2700" dirty="0">
                  <a:solidFill>
                    <a:srgbClr val="4D4D4D"/>
                  </a:solidFill>
                </a:rPr>
                <a:t> el intercambio neto de calor es CERO.  </a:t>
              </a:r>
              <a:r>
                <a:rPr lang="es-MX" sz="2700" dirty="0">
                  <a:solidFill>
                    <a:srgbClr val="4D4D4D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Symbol" pitchFamily="18" charset="2"/>
                </a:rPr>
                <a:t></a:t>
              </a:r>
              <a:r>
                <a:rPr lang="es-MX" sz="2700" dirty="0">
                  <a:solidFill>
                    <a:srgbClr val="4D4D4D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</a:rPr>
                <a:t>Q = 0</a:t>
              </a:r>
            </a:p>
          </p:txBody>
        </p:sp>
      </p:grpSp>
      <p:sp>
        <p:nvSpPr>
          <p:cNvPr id="49" name="Text Box 6"/>
          <p:cNvSpPr txBox="1">
            <a:spLocks noChangeArrowheads="1"/>
          </p:cNvSpPr>
          <p:nvPr/>
        </p:nvSpPr>
        <p:spPr bwMode="auto">
          <a:xfrm>
            <a:off x="1524000" y="71439"/>
            <a:ext cx="2819399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s-CO" sz="2000" dirty="0">
                <a:solidFill>
                  <a:schemeClr val="bg1"/>
                </a:solidFill>
              </a:rPr>
              <a:t>Termodinámica</a:t>
            </a:r>
          </a:p>
          <a:p>
            <a:r>
              <a:rPr lang="es-ES" sz="2000" dirty="0">
                <a:solidFill>
                  <a:schemeClr val="bg1"/>
                </a:solidFill>
              </a:rPr>
              <a:t>Definiciones Básicas</a:t>
            </a:r>
          </a:p>
        </p:txBody>
      </p:sp>
      <p:sp>
        <p:nvSpPr>
          <p:cNvPr id="52" name="AutoShape 4" descr="Resultado de imagen para turbin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53" name="AutoShape 6" descr="Resultado de imagen para turbin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54" name="AutoShape 8" descr="Resultado de imagen para turbin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55" name="AutoShape 10" descr="data:image/jpeg;base64,/9j/4AAQSkZJRgABAQAAAQABAAD/2wCEAAkGBxMTEhMUEhMVFBUUFxcYGBgYFxUZGBoZHhgYGhcfGxobHiggHholHxccITEkJSkrMC4uHB8zODMsNygtLisBCgoKDg0OGhAQGywkHCY0LCwsLC8sLCwsNCwsLCwsLCwsLCwsLCwsLCwsLCwsLCwsNSwvLCwsLCwsLCwsLCwsLP/AABEIAK0BIwMBIgACEQEDEQH/xAAbAAEAAwEBAQEAAAAAAAAAAAAABAUGAwIBB//EAEMQAAEDAgQDBQYEAwUIAwEAAAEAAhEDIQQSMUEFUWETInGBkQYyQqGxwVJy0fAjM2IUQ4Lh8RUkU3OSorLCY3TSB//EABkBAQEAAwEAAAAAAAAAAAAAAAABAgMEBf/EACgRAQEAAgEDAwIHAQAAAAAAAAABAhEDEiExBEFREyIyUmFxgZGhM//aAAwDAQACEQMRAD8A+oiICIiAiIgIiICIiAiL6QRqg+IiICKXheF1qhhlMnvAG+k3kxMCOasX+y2KbBFLOTPdD2gdCXHTwAPkro2o0Wsw3DMMaooupVgYMuLXZJiYzEiT+WV74n7Isa0Op1mtnTORlJmwBkEct/BNJtkEXH+1s7TsxcjN3gWFpgbQTZdlFEREBERAREQEXptMkEgWbqdh58+Q1OykNw7SCQ7ugd5/wjoPxHUdCggYquGNLjoI+Zj7rzhcSHmBHS9yNoGvrCrfabEACm1pDg7M42IIiWtkG4vPoo3BMU6SKRu1pcAY192OehmxmyitEi9VBBPiV5VQREQEREBERAREQEREBERAXcUmiMx1E225KFij3Y52289dV1LJABmJFySDbX18ELZPKQcgOhItrM/ay+Meb5Wg/wCGYXGiWNMw0mIvPXp4fPmrvhvEQYDmMIJhsCCdtdCZ2stefXJuTZhycdurdINLC1jpmA8f0UjCcCfeXS07HY82nadwtE7E02iYnpofOVxp8SL3EUoMC+51tfSNdlzTLnz8TTq1w4++0WhwBu4lSDwfDgw5rJMmLT1t5rjxCpXawksq1AZnswHHwgEGNtNlhsf7cOL8lKlJBh3aOgi4nuDfxPJWcGe95Z/0xvLhZqY/22xo4YEmmYLSRLJBBGtxdd6ftWcPZ7zVbcNDrvBH9Q1t+K/VZzAPmnEz2meYAEVMxfoNJn5qv4w8EF3Msqevdf8ANdctk15cv0sZl1Tt+nssOKf/ANDr1YbTaGNcSJ0I8IMh285lSYSu55rmq5zywUsrnEucJcZ7xkz3RvdVTB32jk8qbgnkVK4G9IHzDx+pUbYk8D9+sPE+n+qsFX8E/m1esj7/AGVgrEyERFWIiKThsG5xbYjN7oALnu/K3UjqYbrdBHY0kgAEk6AXJ8lNoYGxc8gNb7xLstNv56nP+lkuPQrhj+K0MMC3+Y/QsY6Widq1Zuv5GQLXMrOcdxtWo/JWe0lshrG92m0SRDGgDlrHjMq9oaW2N9qabTlwuVzhpVeGgM/5VMnu/mMuPRVmCxuQu97+IH5xm99zjLnwY70/ENL3UHD03OJBJs0kD3eQEzBi/wCEg81bYDAhjgKhdRc6Cx8NyE696BpfbS3nPK+A8PpVWlzGucBEvDpjxuXR1iIm6Yn2YcB2jA2qw5C0h2jhVYSJdGUkBwm243hXlKmXvLQBQx1IZmkWZXb9LgfKdiGyMFjwAa7GQ2cmKoR7p0zhp22+R0MXSbQK2Hptux73EkyCZb8/suasOL4AUyHMvSqXYddpifpOxG8qvUBERAREQEREBERAREQEReqbJMc0LdPbKM6+nX9F6qM9VMbTUd95PP6bfvqt/Fh1V53Ny3y4HDktJFgLE/vdSMF3MOI5mOev6qPgKhitOhykfMH7Ke2hNGmB8Ux5uP6qc2Vt06PT4THHfussJQigCdSJ9b/RSuEYTsmF29QyfD4fufNTMRQBcymNPt/oFG49i8oDWjvGAAPQLQ7EjB44vqZBtcnkFS+1/AXVWZ2htSowgtdHfiYcOZEHTmAYsrvhWE7FkTL3XeeZ5eA/eq+Y/iTR3Rd50j96oj8/pYo+DiYPSo27fUWUbH1g4GNDMfleMzfR7SFo/afB9yo57C2oGlwcNSWiRfR0fLosOKdWsYaCOgEm5DvSZjxTQ80bvBkXLTqOX6qZRaO1q/8AJP8A5tXGvgxQGapVaHN73Z5ml7oMwGjTXddH5hUig6dWue0NjX3czgRMi4EwdVBI4fmbUqP2YS53MCCJI1HpsrDgT6mIa57KcUxo99mn8u7vK3VV+F4i3Dtq1nmXCo+m8d6MwdmpgXAgAmI0k7lccf7Xvrdm1pLWCZB7zokRpAIgn3gDYXMrDLHbbhn0d5O/z5XIdL8pqMIMwdBbW/qu7KAIs9s/mb577fPa5hUOGJGUuq9lUJMkyBsPeE6AxEGLabdKfEnsJaHB1Rxzsc54DTtLSQBeIvCyxkxmpGGdyzvVbutM3DNptzuDiBuKbqjieTKQH/dUgcmyqTi3GKzmPDab6DHatJirUM27Wo+CR/SLdBquOP4jiXspPbVfTLpY4ZzJewgENMgNkEW+UKJVFc5XuqEESJqOc33hBymJ0OtiOlis7WGnAQQAHsZYmJOWefzHXrdesPg21peZc6AJ3gaXd4/vVXXCOHuqsJZRotcGAuqODnFzQ4tIbIsRlBta8wVWU8VUa2swsyvphzmzBzAjuutbLYjyItECK68OpU2OINIOa0kEdJykg7GRr9Fb1KbGAMec+Gre486sdexOxF/n/UD+ct4jiaeJa9jg6wzBxsdZknQ9dL8l+i8PqU6rMv8AdYiw/wDjqjSPP7LKMa5ilUdNAn/eMP36Dxq9o+G/ONDoRf3TPf8A2i0dljmjuP8A4WKZtexJH6/0j4iold7+zFT+/wAG/K6/vMmPEiPkHndTsJSY7EVKM/weIUjUZ/TUiXRyOrvHLqqi+weDGWphCZaRnoOPLVpnoTB6OPNZlzSCQRBFiOR3UvhONcMNTe7+Zgqxo1B/QDl57Alo1+LfSV7T4fLWLhpUAf56O9SJ81iqpREQEREBERAREQEREBS8AySTyURWXDm90nr9grGrmusXWsIafT1soGJqhsZvdkA+CsMToOp+xP2VRxRsiBuuzhn2WvMz3c5E2nSu8Dl91bYWl/Dw52Dmz5PUHhQGdk/GzL5wD9QrZgDQaLrF0lnU7jx3XO9TFaYW9d07NJHqB91HNEGsajvgs3xO/kPquvD3l4J0rMEPHOdCOhj1BVNU4kezrTZ1N1/Ajun5H0Wqt3skcQ4g4uFKiM1R2gG3MnkOqs+DcCbT7zznqHVx0HRo2HXU/JReB4cUaQe7+ZUAc8nUA3DfAfWeig8T4/fKHa2AGp9FP2E3jLGjNTfD2nUa/wChWH4h7PdpA7eqWXloIaOksYGtPpstIMJiHDM6mabT+Ox/6dfUKPiqBZBmWkxmGx6jY8ucJCsNxHg5wlFzqbGOY735BdlEkTqI8QLSZhaLG0yGnugFl4Glth0VsJvP+LcdD4beEFRMVSh0jeZ8d0sJWY9oKLGsuwtz1XHNL3SS0RDQ2IcGTrHeVNheH5KjCzOQ6SZHuQNpIcTOkDkVr8bh2PNJhpsuASYILjL6YzQRmAa0e9P0RuEaxuXLNOQYicpI+uV3zhNG2dbgWF1TvFxIeGOhoYSNJuSNbEi8LjJewNHaONId0iTI/DOWMoOhnUla4UGzoDyPP9D1CkUcMCdLfQn7HcfsXpTbJkva2HBlJgyuhx77zmDX5R7pcA1zi0SYIiSuLX0ZFUuqOOQZWmWDNlvfcEiwvrFlucRwllVmVwHiQHQdJ8RpOseCtuDeyOGLO0LG5ySHWl2YG8k3Pir0ptkvZ6s6IJkWiHSBYb+R3sZI0gzONcLLqXcJDgZYZiHwbGPxCR0cOi0fEOCNa4OYAAbO8OflEqM6lIe0m5ZmF9wYPnIafMq9h+UN4NUcC2mABMWa0E3PIxpFp3C03srgHszUDIztLmdHsvbrbRXb+J0acSACdb84Fzt3iFUN9pGHFUnNAgVWm3Iw0+pJUGgcwOr0XkHJi6Rp1B/UBvblLdOflU0y9mFpuN6mAxYHxXaXwQLfE4gRuArLiNYCkDP8nFAieU5ieW/+iiYkjPxJkCHsbUiLS1od4ayoLarhAMbjaQ93FUBUbrGZum0a5jryTHVBVwWFqTJb3CbHYjYn/h891wZiv4vDas97szTOl4pkH5umy90z/ulVl/4dQgTOzmxr0d0RVUiIiCIiAiIgIiICIiArXAjuDxP1VUrXBHuDz+qyx8tHqPwmKd7vn9FWVa8PAOjreB2/RT8Y73fH7H9FS8QvELs4/wDm87v9WVeYYBzI0LTbnzBXV/EmGKWMBaHWZW0aDtP4TMd7TwXOAabXssSNtjuPVZTj3tRVYHUKtNlWW92e65p2JixHS3iua+dvSxrbn2hZhXsOKqBtSk4Mc7/i0XWzADVwgEgbtH4lS4rjeHr1anYVJFVtQZdHd05mkt27s6r8zr4eu/vvJMAASZho0A5AclywjqjCS1zmm4OVxBM63Gyxs34bJlp+01cY/FGlTpHKXsa5zvwNyguMecRzIVthaNDCD+GJedXuu8+ew6CAvz72U4xlJc1r2sp0W08zzmzGW/EAJPck+KtW1cTiO/TaAw6Oe7KD4WJI6wtVns2ytHiuNl2qq6mK13BsRsQuWF4U7+9qt8GyfmY+imuwtIQDpuTJ+46qzSXbnSAc23eyiRzy7gwNRYza3oqvi9V1MEtgzYTABOrLkgAkWkk6WBJVycK2mZGkg3i7SNQD4mDB0XGrRbMPmAY5Hm03vaSNDYlVGH4lxp5awspuFRrBYwWyXuzCRckEkaC4Vth8ZnpseQQKgNiJIM94Abum88ssK4xXGMHTZEMJIIMGZPoL67BZXBccD8zWtblFW0gm5aJ0IOwtPkg0OEoE5LENqAwYcIPmOk+EBTcPYAkRaDpqDymxiR4DqqTDcTJaLt7rjlNpAyiwLu8BtEjlfRfTjWzr8UCLDQ/qmzTUms0bzqN9QfDlGnJTOFcYDS8SAO6Z8o+3zWMHFQOWxnxdA+iz2M4hUe+GVGw7KMlpy5c0yJkwG2tbMpsb7j3tA1zXU2Ol52Gov00UAY2QCT8TvTuFZ+pToBhb/Z3ZzoS4hsxEkSAR0i/nK9UWue3JT7z2WgToZ8hAt5DSbhW8ToueXEOENPmG9JFjccrQbzCo8KGDFUmBvfL2mziZ5kzO08tFqGYXsnPNZwlwEtJZYaFpDSTEGLleqPCKFN7KjDdpOUnaYIvrz1nXxQW3FHTSrdagb5wBpovmKdNbF/8A13g6/hBGvQqM+uHdkwb1M7vIfWPoF4q4kZcVU/ERTbG+xj/DBVFhhXSeHC9y92/Jp+k6/qrfhLWOo187srTVeZ8Cw262Pz11VRTIZWpDbCYcuP5i3LG2tjt8rSsO3LhKYJ94yfE3Hn3vkoqNUiTlmNp1jr1Xld6zGNbTg5nPGaNMrOfOTsuCSpYIiKoIiICIiAiIgKzwTu55n9fuqxTsAe64eB+v6K4+Wnnn2OPEKmnQ/wCX3VW+tBkiQrDHjX19Lqvqs1Xbxd8bHnZXWUpjMc6jTe9riGgFx0INtptJWGp4wvqF1Qy5xknnyHkNlrcVgnYii7DB7aZqQGPcSAHZgWtJ5OIy+e+iwdHDvpveyoIcxzmm9g5riDcdQVzcl1dPS4pubX1fEF1vkmH4ZUfo0rvw7EURGYhavC+0+FpNgZZWP1Phn9NT4PgtVog1DSYbm9ifDSYm/gtCOJ1H92k0OA5OZAHroqTiftjSqd3KXDk0kHyIULhftTQacrKRcXHVwYT6yfstdu+7OTTXYRlaoR3qYn+omPQK5xPAsQwTmpvGUOs4gxf8QA258lm+HcVZ2ga2kGvdoGtbOkn3dFoXcULgWyQcsRf5gornhq5bNGq1zHOb3Zm4uYESDqYjc9VFxdSR+ZrOm46DmveKaCBIbF/dEcvQ6X/RQcQ+zeeVp25tPTkiMvwbDVHua+q7uEimBAInMRm7xdMGPQ2XbiOBLh2jAM7CQ9oHvcnRubX/AMlY8XexlMUphwETrHM2AVFxStVD6jKdQ1Gnsw0huUPIaYs74vevAMtEaBXweXVsgNLiQZLHDUkmTqN+ZPjyXLE4ltOm0ukycoJMghrjBIAjWLAyZjaV84bUo1I7V1SGS45IaItOaxNhPLddKeEL89IU+7TqOGUHQQ03M5vLobSFFcW12SwvaHNc4h7HEkNpmSTe06Ni2ql8RFWllAcMknK7u3A7wJy3jW0WsvL8EwUy0kEMc0ZZa2xGUm4IMRfwJFzCl8HfUa5rS60QyZtM92Y93aD1veFBT4rGw4gy3KQRlHeuZnOG6i/O3Iq64RhS1jmS0udBcO0yv2MguBB1mLKyxuM7MF76VENbEuNKmYG5s0lZvH4ik+qQQ99Rzsw2p3Etc4Ag2bAjYeJRXdvCzAtUeQTLC1rTBIklpJLpEjuk6aLlUrOe+HAgMIETckXIg7g92SYG6kcP9mWnLinve2XQxlv4gaIcSdm2AtqZiIU9/DaZ2j99dfNPJvStbSaZAFsoMMzHMdvX4dzlzGzlIw2EcXQ0yAZ2ylwnM4chn0PIPOy7u4cTPfHoR4yROulgOsqdSowP5hBtdoiIjSRrYeGwCmqu4nngbKNI1cS/vPguEnM4xZsTc9NlT0w97SHd1uYuDdbmxtsAAB1ud11ZRg5nOc934nmT5bDyXVWY/LG5fDxTZE3JJ1JuT4r2iLJiIiICIiAiIgIiIClcPd3o5iPv9lFXuk/KQeSRjnN42J2Joyqp9OPKyvyJUHE0bnqJ8xY/ZdnBfu08nl/Dtn8Uym9jmPsCCDNpB5FY1zxSmmQC24a6IBGxW44nh1QcVwzWsLnAHYDm46emvksefjdnpea2d2extFpu1Vb2wrV2CPZvqZoDSBcak7DyXJ/CKuvd/lCtqZDTl1tr3guWT5dnVvxHPhbj2jSHikQZD3TDSASJgG0wNN1t8BicRSd/vGR++em4T5gtDSPRZ/BcM7Ke1LS0ODajSxrgGuEsc1xuIidBpCv8NLCKDxZtmOGwGx/p5cvoI2HAcW2o7Mas7NkRffw8k4xLDDrg+67xN46gKPgKTcgay1odB96d/HkVX4bijg5+FxV8tw7T8rgfhN9dNQd1FT2Yn4HGMwF5FnatJ6deRK5NxAY4l3vAEMETcWuN9Y2idtVBxgLXNzmBBEgWPVpGkzMbGYOhMOtUpmMxqPgRqKYPjGZx/wCoJtdPld2asXywNhvaNzS6SYHZt5k6Alu/gpHHHCmzQEOAbrGUgy10jkZH+IrxhcTSpCWUaTTNiQXuJ096oXGVL4fgKVQZnsa46EXgHUy2YnfrM7rLG77McppmsTh6j4yMc5rhYNlzRAObSwgj0hS6AxQbmMMaIHetUaOcn4TvJ8gtjQw9MuaKgOSRIaALDQADZZvF8Rbi8Q0BgZSbOVm4guAzEXzHuyJ6KWeyy+6qa11RjmUW5yQy41Fy46C2nz8lY1MBWyw6bNHxCZ21M7yrajSawQxoaOQAA+S9rHS9Spw2DqZ3CpLmVWlryXTEix1mxMeqlO4VSzF0HMdb2/X5qYiuk6q91KhdE7ANA2AGgA2C8IiqCIiAiIgIiICIiAiIgIiICIiAiIgtcDUlscvpsvuIbaeV/wBfkoGDrZXX0NlaFbcMtd3n8+GsrPaqrG0QRz3WS40C86QG6D6nxW2qsiR5jw/y/RUfFMHuu7KTPHqjk4srhl0VkcbSJZSpDcl5/M45W+gaFYYmDiMXHu06HZjwz0x/6qLjO7WJ2aW/KF0w4nE4wfjbUaOpBD/o0+q8/LHVevhlKkUWZnU2H++w1MDq9rGkf+LvVSuHYnP/AAn2qMEA/iaP/YfMX5qrpPL8M1zTD8M+J3AnMw+sj/CrKowVQzEMEH4gPhcNf1HQhYti64S2oyYaXAAugamLmOqmcbw7MVhW4mh3nsbmkfFSNzY3lvveGZfeCcQGZsQH6x4RPlf5qiqcWfgsfVJMUBTD2s+EtLnEiOhzNjkAsVQ8FxQ1GOou+IA0idnwXNb4Ou3xcvnCKTapAc9wzaRH4Q4ag9fRRuOUGU67ux/l/wAOpTj8BJiPC7fFqjYfFFpzbgz5teT9CU0ba5/BmsEgl1tXHb6LzhqhYZFy0abvZ/8Apv71UjAY9tRkE6GPJ3un1so1ek8nuAlwJIgEw8agx8Lh9+ayxSrpjw5oc0yCJBVVU4YG1jVaBDpJ6O09DJPipnCMDiM3dov7OoC4tMTTfvbWD03vuVb0eFPe7IcjZmzniY3sJNlnlqxjFEi742iGPcwHMWmCR7s7gb2t6rgtbIREQEREBERAREQEREBERAREQEREBERAREQFZ4StmbG4+myrF7pVC0yFZdNXLx9eP6rGsJ8RoodZuYfvVSg8ESFwrDcef75rs4eTXa+HlcmFveeYyPEuHkEnWd1Wh+Svm/qBPgQM3ylbHFsDgstjsKczjG/0ssuXi23cHL27o3DTkrVWH3HEsPndp8jHkSu3DMf2DnNd7pdB6HY+W/QlQcQDmM7wflH2Xfh/DnYquGSRmguIEmBY+ZtHUhcdxsehOSXys+LYk08r2GC11j5GfJevaar/AG2hQfSY5z3ZmPa0FxBsdtrTfYrQYz2aoUKLQQ/EfxMozugWa6LNibjLBKmYZtYDJh8OKbRMBrIHmXQ2fGIWn6uHy3TDKqHh/shXq029uRSDWltu87JOYT8IgufudRZWjPZnA0iDUcXmZvUJju8qcWgK1ZwSq8TWrZZMlo7x0AvByzbXb6SqXCMOy5DnnXvO3392Foz9Zxzx3bsfS53yquFdixxZTpNcb9/IGwwe6HakkSG6idYFwp7OLFhc4Q4saYaYgmLTyAhfOKcSpMp5KYa2TctEAHkIu5yzTQSc2cOzgjKwyG7y4nbKNtyY1W/HO3HdndzdO8+17T/W9f7SNDGnUkDaBJA5rO/7ec42zCO80Fvdklw96DMXm+hEahUn9vLu72YvlAnZ0Hqfly6qZTYGtDRtcnmTEn0AA6AKzu2W6ffn+5PzREWTAREQEREBERAREQEREBERAREQEREBERAREQEREHSlVI8OX73XZzpuFFX1roWWOWmnl4Zn3nl4rqvrAFWboPTwXB2DB1J/7f16rpw55I4r6fPfhnMVw0veMvIADeZJ+62HstwXsRcAudcnkQRl8hfXU9AuNCkxu21419dvJSnY8xDRlH18Vyep5s8508c/l3+m4JL1ct/hoDjGsEAwodfi45yqJ1QnUryvOx9D+avSy9Z+WJOJ4+c+QNJcRPIageMSRcAxfkqriXEaxgAZpMQ2YBgHUjvWM6RZdcXhG1BDh4EWI8CvNLAtGrnuMzcgA2AJMRJOUfPmunD02GF3I58+fLOaqEwVSD3b9HGY3EkQL8vJc6OFr3AAY0m8ukkXtIkxdXIEL6t+o1bR8Nhct3HM6ImI9ApCIqgiIgIiICIiAiIgIiICIiAiIgIiICIiAiIgIiICIiAiIgIiICIiAiIgIiICIiAiIgIiICIiAiIgIiICIiAiIgIiICIiD/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57" name="AutoShape 2" descr="Resultado de imagen para sistema termodinamic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2F01FF-34EE-2829-BF3D-67EA9F26A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Ejercicios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3FB6907-3B27-E150-E89E-E000EE4980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1676400"/>
            <a:ext cx="4501383" cy="3814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0753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947E10-33F7-5B90-736D-378C9ECDD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CE7FA67-78B0-EDE2-28DC-AF4644474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031" y="1435223"/>
            <a:ext cx="8340969" cy="2163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5647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834CB5-4C60-B83D-4D6A-16491672F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511CA16-540A-96A5-BBFC-0C245A1179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20328"/>
            <a:ext cx="6400800" cy="5017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70980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18ED6E75D3B4A4FBBC3A5648F888170" ma:contentTypeVersion="3" ma:contentTypeDescription="Create a new document." ma:contentTypeScope="" ma:versionID="75817f4eb2d8aeb5ecef6fc9a1fe28ca">
  <xsd:schema xmlns:xsd="http://www.w3.org/2001/XMLSchema" xmlns:xs="http://www.w3.org/2001/XMLSchema" xmlns:p="http://schemas.microsoft.com/office/2006/metadata/properties" xmlns:ns2="630cf6ae-bad7-4d46-9e60-2de4026c69cf" targetNamespace="http://schemas.microsoft.com/office/2006/metadata/properties" ma:root="true" ma:fieldsID="214d54b897f8221def51b671f5b1b576" ns2:_="">
    <xsd:import namespace="630cf6ae-bad7-4d46-9e60-2de4026c69c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0cf6ae-bad7-4d46-9e60-2de4026c69c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6B97408-368B-4FC8-AC2D-6E5555B3750C}">
  <ds:schemaRefs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4a89a87a-00e0-4ed6-a892-48c4f8b4e80a"/>
    <ds:schemaRef ds:uri="http://schemas.microsoft.com/office/2006/documentManagement/types"/>
    <ds:schemaRef ds:uri="a454126d-7578-4b34-95f7-a9cb21d30b42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12DC771F-A137-419B-A18A-3675079ADC4A}"/>
</file>

<file path=customXml/itemProps3.xml><?xml version="1.0" encoding="utf-8"?>
<ds:datastoreItem xmlns:ds="http://schemas.openxmlformats.org/officeDocument/2006/customXml" ds:itemID="{551D32E9-6CF8-4347-84A9-605521732F1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5974</TotalTime>
  <Words>832</Words>
  <Application>Microsoft Office PowerPoint</Application>
  <PresentationFormat>Presentación en pantalla (4:3)</PresentationFormat>
  <Paragraphs>148</Paragraphs>
  <Slides>19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0" baseType="lpstr">
      <vt:lpstr>Tema de Office</vt:lpstr>
      <vt:lpstr>Termodinámica</vt:lpstr>
      <vt:lpstr>Presentación de PowerPoint</vt:lpstr>
      <vt:lpstr>Presentación de PowerPoint</vt:lpstr>
      <vt:lpstr>LA PRIMERA LEY DE LA TERMODINÁMICA:</vt:lpstr>
      <vt:lpstr>Aplicación de la primera ley de la termodinámica</vt:lpstr>
      <vt:lpstr>CUATRO PROCESOS TERMODINÁMICOS:</vt:lpstr>
      <vt:lpstr>PROCESO ISOCÓRICO:  VOLUMEN CONSTANTE, V = 0, W = 0</vt:lpstr>
      <vt:lpstr>EJEMPLO ISOCÓRICO: </vt:lpstr>
      <vt:lpstr>PROCESO ISOBÁRICO:  PRESIÓN CONSTANTE,  P = 0</vt:lpstr>
      <vt:lpstr>EJEMPLO ISOBÁRICO (Presión constante):</vt:lpstr>
      <vt:lpstr>Presentación de PowerPoint</vt:lpstr>
      <vt:lpstr>Presentación de PowerPoint</vt:lpstr>
      <vt:lpstr>EJEMPLO ISOTÉRMICO (T constante): </vt:lpstr>
      <vt:lpstr>PROCESO ADIABÁTICO:  NO HAY INTERCAMBIO DE CALOR, Q = 0 </vt:lpstr>
      <vt:lpstr>Presentación de PowerPoint</vt:lpstr>
      <vt:lpstr>EXPANSIÓN ADIABÁTICA: </vt:lpstr>
      <vt:lpstr>Ejercicios</vt:lpstr>
      <vt:lpstr>Presentación de PowerPoint</vt:lpstr>
      <vt:lpstr>Presentación de PowerPoint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Termodinámica</dc:title>
  <dc:creator>Pedro Nel</dc:creator>
  <cp:lastModifiedBy>Docente ITM</cp:lastModifiedBy>
  <cp:revision>54</cp:revision>
  <dcterms:created xsi:type="dcterms:W3CDTF">2015-02-12T21:32:42Z</dcterms:created>
  <dcterms:modified xsi:type="dcterms:W3CDTF">2026-09-28T15:59:39Z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0x010100218ED6E75D3B4A4FBBC3A5648F888170</vt:lpwstr>
  </property>
</Properties>
</file>